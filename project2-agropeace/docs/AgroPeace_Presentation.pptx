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645A"/>
                </a:solidFill>
                <a:latin typeface="Arial"/>
              </a:defRPr>
            </a:pPr>
            <a:r>
              <a:rPr sz="1300" b="0" i="0" u="none" strike="noStrike">
                <a:solidFill>
                  <a:srgbClr val="6B645A"/>
                </a:solidFill>
                <a:latin typeface="Arial"/>
              </a:rPr>
              <a:t>Weight in risk score</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7A4A1F"/>
            </a:solidFill>
            <a:effectLst/>
          </c:spPr>
          <c:invertIfNegative val="0"/>
          <c:dLbls>
            <c:numFmt formatCode="0.00" sourceLinked="0"/>
            <c:txPr>
              <a:bodyPr/>
              <a:lstStyle/>
              <a:p>
                <a:pPr>
                  <a:defRPr b="0" i="0" strike="noStrike" sz="1400" u="none">
                    <a:solidFill>
                      <a:srgbClr val="22201C"/>
                    </a:solidFill>
                    <a:latin typeface="Arial"/>
                  </a:defRPr>
                </a:pPr>
              </a:p>
            </c:txPr>
            <c:showLegendKey val="0"/>
            <c:showVal val="1"/>
            <c:showCatName val="0"/>
            <c:showSerName val="0"/>
            <c:showPercent val="0"/>
            <c:showBubbleSize val="0"/>
            <c:showLeaderLines val="0"/>
          </c:dLbls>
          <c:cat>
            <c:multiLvlStrRef>
              <c:f>Sheet1!$A$2:$A$6</c:f>
              <c:multiLvlStrCache>
                <c:ptCount val="5"/>
                <c:lvl>
                  <c:pt idx="0">
                    <c:v>Past incidents (kernel density)</c:v>
                  </c:pt>
                  <c:pt idx="1">
                    <c:v>Herds near crops (live + forecast)</c:v>
                  </c:pt>
                  <c:pt idx="2">
                    <c:v>Crops in the field (season)</c:v>
                  </c:pt>
                  <c:pt idx="3">
                    <c:v>Community reports (by trust)</c:v>
                  </c:pt>
                  <c:pt idx="4">
                    <c:v>Dry-season water competition</c:v>
                  </c:pt>
                </c:lvl>
              </c:multiLvlStrCache>
            </c:multiLvlStrRef>
          </c:cat>
          <c:val>
            <c:numRef>
              <c:f>Sheet1!$B$2:$B$6</c:f>
              <c:numCache>
                <c:formatCode>General</c:formatCode>
                <c:ptCount val="5"/>
                <c:pt idx="0">
                  <c:v>0.3</c:v>
                </c:pt>
                <c:pt idx="1">
                  <c:v>0.3</c:v>
                </c:pt>
                <c:pt idx="2">
                  <c:v>0.15</c:v>
                </c:pt>
                <c:pt idx="3">
                  <c:v>0.15</c:v>
                </c:pt>
                <c:pt idx="4">
                  <c:v>0.1</c:v>
                </c:pt>
              </c:numCache>
            </c:numRef>
          </c:val>
        </c:ser>
        <c:dLbls>
          <c:numFmt formatCode="0.00" sourceLinked="0"/>
          <c:txPr>
            <a:bodyPr/>
            <a:lstStyle/>
            <a:p>
              <a:pPr>
                <a:defRPr b="0" i="0" strike="noStrike" sz="1400" u="none">
                  <a:solidFill>
                    <a:srgbClr val="2220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2201C"/>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second project answers the question: develop a GIS-based early warning and real-time framework for farmer/herder conflict resolution. I built AgroPeace and used Benue State as the case study, because Benue has suffered some of the worst of this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Crisis Group estimated about 2,500 deaths in 2016 alone. Benue banned open grazing in 2017, but clashes continue. My key observation: most incidents take hours to escalate. That gap is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chain. AgroPeace intervenes at four points: it warns the herder before the herd reaches the farm, it opens a case for the peace committee when damage starts, it holds back unverified rumours, and it escalates to the Agro Rangers when nobody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all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inputs on the left: signed GPS collars, USSD from any phone, web reports and map layers. Everything passes a security gate first. The tracker and report store feed the risk model and case book. Outputs go to herders by SMS, to peace committees and associations, to the Agro Rangers, and to a role-filtered dashboard. Every step is written to a hash-chained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grid cell gets a score from five factors. The two biggest are past incidents, using kernel density with age decay, and herds close to crops. Explainability matters: a peace committee will not act on a black box, so every score names its drivers. The weights are starting values; a real deployment would calibrate them with ACLED conflict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signed GPS fix updates the herd's speed and heading. The dashed red line is the three-hour forecast. When a forecast point falls inside a farm during crop season, the herder is warned while there is still time to turn. The state machine only raises an event when the herd's zone changes, so responders are not spammed.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message the system sent in my demo. It is in Hausa because the herder registered Hausa. It does not just say 'stay away'; it tells the herder where to go and which route to take. The Hausa must be checked by a native speaker before field use, and I say so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USSD works on the cheapest phone without data, and rural Nigerians already use it for banking. Ushahidi in Kenya showed crowdsourcing works, but anyone can report anything. So every report gets a trust score. The key rule: unverified reports are never broadcast. That is how the system avoids becoming a rumour amplifier.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puts herders and associations first, then peace committees and farmers, and only then the Agro Rangers and LGA security. Responders acknowledge by plain SMS. If nobody acknowledges in time, the case escalates by itself. Recorded outcomes build evidence of what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course comes in. A forged GPS message could place a herd in a farm and start a reprisal, so every collar signs its messages. Old messages are rejected by timestamp and nonce. Phone numbers of informants are encrypted; records carry only a keyed pseudonym. The public never sees herd positions. Trust scoring and rate limits stop flooding. And every action is in a hash-chained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Least privilege, applied. A Guma mediator cannot see Logo cases. Even the coordinator cannot unmask an informant; only the protection officer can, with a reason, and it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with Leaflet, bundled locally so it works without internet during this presentation. It updates live through server-sent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prove the security properties, not only that the code runs. In the demo, the herder got the warning 90 minutes before the herd reached the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1: python -m agropeace -c demo/demo_config.json run. Browser: 127.0.0.1:8090. Show public view, sign in as coordinator. Terminal 2: python demo/simulator.py. Use the USSD panel: dial, 1, choose Guma, Yelwata, 1 to send. If anything fails, run demo/run_demo.py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risk is misuse: the same data that warns a herder could be used to find one. That is why governance must be shared and why the public never sees herds.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time between a stray herd and a killing is often hours. AgroPeace uses those hours.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D12"/>
        </a:solidFill>
      </p:bgPr>
    </p:bg>
    <p:spTree>
      <p:nvGrpSpPr>
        <p:cNvPr id="1" name=""/>
        <p:cNvGrpSpPr/>
        <p:nvPr/>
      </p:nvGrpSpPr>
      <p:grpSpPr>
        <a:xfrm>
          <a:off x="0" y="0"/>
          <a:ext cx="0" cy="0"/>
          <a:chOff x="0" y="0"/>
          <a:chExt cx="0" cy="0"/>
        </a:xfrm>
      </p:grpSpPr>
      <p:sp>
        <p:nvSpPr>
          <p:cNvPr id="2" name="Shape 0"/>
          <p:cNvSpPr/>
          <p:nvPr/>
        </p:nvSpPr>
        <p:spPr>
          <a:xfrm>
            <a:off x="548640" y="1005840"/>
            <a:ext cx="1005840" cy="1005840"/>
          </a:xfrm>
          <a:prstGeom prst="ellipse">
            <a:avLst/>
          </a:prstGeom>
          <a:solidFill>
            <a:srgbClr val="3F7F45"/>
          </a:solidFill>
          <a:ln/>
        </p:spPr>
      </p:sp>
      <p:pic>
        <p:nvPicPr>
          <p:cNvPr id="3" name="Image 0" descr="preencoded.png">    </p:cNvPr>
          <p:cNvPicPr>
            <a:picLocks noChangeAspect="1"/>
          </p:cNvPicPr>
          <p:nvPr/>
        </p:nvPicPr>
        <p:blipFill>
          <a:blip r:embed="rId1"/>
          <a:stretch>
            <a:fillRect/>
          </a:stretch>
        </p:blipFill>
        <p:spPr>
          <a:xfrm>
            <a:off x="769925" y="1227125"/>
            <a:ext cx="563270" cy="563270"/>
          </a:xfrm>
          <a:prstGeom prst="rect">
            <a:avLst/>
          </a:prstGeom>
        </p:spPr>
      </p:pic>
      <p:sp>
        <p:nvSpPr>
          <p:cNvPr id="4" name="Text 1"/>
          <p:cNvSpPr txBox="1"/>
          <p:nvPr/>
        </p:nvSpPr>
        <p:spPr>
          <a:xfrm>
            <a:off x="548640" y="2194560"/>
            <a:ext cx="10058400" cy="100584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AgroPeace</a:t>
            </a:r>
            <a:endParaRPr lang="en-US" sz="6000" dirty="0"/>
          </a:p>
        </p:txBody>
      </p:sp>
      <p:sp>
        <p:nvSpPr>
          <p:cNvPr id="5" name="Text 2"/>
          <p:cNvSpPr txBox="1"/>
          <p:nvPr/>
        </p:nvSpPr>
        <p:spPr>
          <a:xfrm>
            <a:off x="548640" y="3200400"/>
            <a:ext cx="10515600" cy="914400"/>
          </a:xfrm>
          <a:prstGeom prst="rect">
            <a:avLst/>
          </a:prstGeom>
          <a:noFill/>
          <a:ln/>
        </p:spPr>
        <p:txBody>
          <a:bodyPr wrap="square" lIns="0" tIns="0" rIns="0" bIns="0" rtlCol="0" anchor="t"/>
          <a:lstStyle/>
          <a:p>
            <a:pPr indent="0" marL="0">
              <a:buNone/>
            </a:pPr>
            <a:r>
              <a:rPr lang="en-US" sz="2400" dirty="0">
                <a:solidFill>
                  <a:srgbClr val="EADBC8"/>
                </a:solidFill>
                <a:latin typeface="Calibri" pitchFamily="34" charset="0"/>
                <a:ea typeface="Calibri" pitchFamily="34" charset="-122"/>
                <a:cs typeface="Calibri" pitchFamily="34" charset="-120"/>
              </a:rPr>
              <a:t>A GIS-based early warning and real-time response framework for farmer/herder conflict resolution</a:t>
            </a:r>
            <a:endParaRPr lang="en-US" sz="2400" dirty="0"/>
          </a:p>
        </p:txBody>
      </p:sp>
      <p:sp>
        <p:nvSpPr>
          <p:cNvPr id="6" name="Text 3"/>
          <p:cNvSpPr txBox="1"/>
          <p:nvPr/>
        </p:nvSpPr>
        <p:spPr>
          <a:xfrm>
            <a:off x="548640" y="4160520"/>
            <a:ext cx="10058400" cy="457200"/>
          </a:xfrm>
          <a:prstGeom prst="rect">
            <a:avLst/>
          </a:prstGeom>
          <a:noFill/>
          <a:ln/>
        </p:spPr>
        <p:txBody>
          <a:bodyPr wrap="square" lIns="0" tIns="0" rIns="0" bIns="0" rtlCol="0" anchor="t"/>
          <a:lstStyle/>
          <a:p>
            <a:pPr indent="0" marL="0">
              <a:buNone/>
            </a:pPr>
            <a:r>
              <a:rPr lang="en-US" sz="1600" i="1" dirty="0">
                <a:solidFill>
                  <a:srgbClr val="C9B59C"/>
                </a:solidFill>
                <a:latin typeface="Calibri" pitchFamily="34" charset="0"/>
                <a:ea typeface="Calibri" pitchFamily="34" charset="-122"/>
                <a:cs typeface="Calibri" pitchFamily="34" charset="-120"/>
              </a:rPr>
              <a:t>Case study: Guma, Agatu, Logo and Gwer West LGAs, Benue State</a:t>
            </a:r>
            <a:endParaRPr lang="en-US" sz="1600" dirty="0"/>
          </a:p>
        </p:txBody>
      </p:sp>
      <p:sp>
        <p:nvSpPr>
          <p:cNvPr id="7" name="Text 4"/>
          <p:cNvSpPr txBox="1"/>
          <p:nvPr/>
        </p:nvSpPr>
        <p:spPr>
          <a:xfrm>
            <a:off x="548640" y="5760720"/>
            <a:ext cx="10972800" cy="365760"/>
          </a:xfrm>
          <a:prstGeom prst="rect">
            <a:avLst/>
          </a:prstGeom>
          <a:noFill/>
          <a:ln/>
        </p:spPr>
        <p:txBody>
          <a:bodyPr wrap="square" lIns="0" tIns="0" rIns="0" bIns="0" rtlCol="0" anchor="t"/>
          <a:lstStyle/>
          <a:p>
            <a:pPr indent="0" marL="0">
              <a:buNone/>
            </a:pPr>
            <a:r>
              <a:rPr lang="en-US" sz="1400" dirty="0">
                <a:solidFill>
                  <a:srgbClr val="EADBC8"/>
                </a:solidFill>
                <a:latin typeface="Calibri" pitchFamily="34" charset="0"/>
                <a:ea typeface="Calibri" pitchFamily="34" charset="-122"/>
                <a:cs typeface="Calibri" pitchFamily="34" charset="-120"/>
              </a:rPr>
              <a:t>[Your Name]  ·  [Matric No]  ·  CMP 468: Computer Security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Hours separate a stray herd from a killing</a:t>
            </a:r>
            <a:endParaRPr lang="en-US" sz="3400" dirty="0"/>
          </a:p>
        </p:txBody>
      </p:sp>
      <p:sp>
        <p:nvSpPr>
          <p:cNvPr id="4" name="Shape 2"/>
          <p:cNvSpPr/>
          <p:nvPr/>
        </p:nvSpPr>
        <p:spPr>
          <a:xfrm>
            <a:off x="548640" y="1600200"/>
            <a:ext cx="3474720" cy="2743200"/>
          </a:xfrm>
          <a:prstGeom prst="roundRect">
            <a:avLst>
              <a:gd name="adj" fmla="val 4000"/>
            </a:avLst>
          </a:prstGeom>
          <a:solidFill>
            <a:srgbClr val="F4EEE4"/>
          </a:solidFill>
          <a:ln/>
        </p:spPr>
      </p:sp>
      <p:sp>
        <p:nvSpPr>
          <p:cNvPr id="5" name="Text 3"/>
          <p:cNvSpPr txBox="1"/>
          <p:nvPr/>
        </p:nvSpPr>
        <p:spPr>
          <a:xfrm>
            <a:off x="868680" y="1783080"/>
            <a:ext cx="2834640" cy="868680"/>
          </a:xfrm>
          <a:prstGeom prst="rect">
            <a:avLst/>
          </a:prstGeom>
          <a:noFill/>
          <a:ln/>
        </p:spPr>
        <p:txBody>
          <a:bodyPr wrap="square" lIns="0" tIns="0" rIns="0" bIns="0" rtlCol="0" anchor="b"/>
          <a:lstStyle/>
          <a:p>
            <a:pPr indent="0" marL="0">
              <a:buNone/>
            </a:pPr>
            <a:r>
              <a:rPr lang="en-US" sz="4400" b="1" dirty="0">
                <a:solidFill>
                  <a:srgbClr val="C0262D"/>
                </a:solidFill>
                <a:latin typeface="Cambria" pitchFamily="34" charset="0"/>
                <a:ea typeface="Cambria" pitchFamily="34" charset="-122"/>
                <a:cs typeface="Cambria" pitchFamily="34" charset="-120"/>
              </a:rPr>
              <a:t>~2,500</a:t>
            </a:r>
            <a:endParaRPr lang="en-US" sz="4400" dirty="0"/>
          </a:p>
        </p:txBody>
      </p:sp>
      <p:sp>
        <p:nvSpPr>
          <p:cNvPr id="6" name="Text 4"/>
          <p:cNvSpPr txBox="1"/>
          <p:nvPr/>
        </p:nvSpPr>
        <p:spPr>
          <a:xfrm>
            <a:off x="868680" y="2697480"/>
            <a:ext cx="283464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people killed in farmer/herder violence in 2016 (International Crisis Group, 2017)</a:t>
            </a:r>
            <a:endParaRPr lang="en-US" sz="1400" dirty="0"/>
          </a:p>
        </p:txBody>
      </p:sp>
      <p:sp>
        <p:nvSpPr>
          <p:cNvPr id="7" name="Shape 5"/>
          <p:cNvSpPr/>
          <p:nvPr/>
        </p:nvSpPr>
        <p:spPr>
          <a:xfrm>
            <a:off x="4297680" y="1600200"/>
            <a:ext cx="3474720" cy="2743200"/>
          </a:xfrm>
          <a:prstGeom prst="roundRect">
            <a:avLst>
              <a:gd name="adj" fmla="val 4000"/>
            </a:avLst>
          </a:prstGeom>
          <a:solidFill>
            <a:srgbClr val="F4EEE4"/>
          </a:solidFill>
          <a:ln/>
        </p:spPr>
      </p:sp>
      <p:sp>
        <p:nvSpPr>
          <p:cNvPr id="8" name="Text 6"/>
          <p:cNvSpPr txBox="1"/>
          <p:nvPr/>
        </p:nvSpPr>
        <p:spPr>
          <a:xfrm>
            <a:off x="4617720" y="1783080"/>
            <a:ext cx="2834640" cy="868680"/>
          </a:xfrm>
          <a:prstGeom prst="rect">
            <a:avLst/>
          </a:prstGeom>
          <a:noFill/>
          <a:ln/>
        </p:spPr>
        <p:txBody>
          <a:bodyPr wrap="square" lIns="0" tIns="0" rIns="0" bIns="0" rtlCol="0" anchor="b"/>
          <a:lstStyle/>
          <a:p>
            <a:pPr indent="0" marL="0">
              <a:buNone/>
            </a:pPr>
            <a:r>
              <a:rPr lang="en-US" sz="4400" b="1" dirty="0">
                <a:solidFill>
                  <a:srgbClr val="7A4A1F"/>
                </a:solidFill>
                <a:latin typeface="Cambria" pitchFamily="34" charset="0"/>
                <a:ea typeface="Cambria" pitchFamily="34" charset="-122"/>
                <a:cs typeface="Cambria" pitchFamily="34" charset="-120"/>
              </a:rPr>
              <a:t>2017</a:t>
            </a:r>
            <a:endParaRPr lang="en-US" sz="4400" dirty="0"/>
          </a:p>
        </p:txBody>
      </p:sp>
      <p:sp>
        <p:nvSpPr>
          <p:cNvPr id="9" name="Text 7"/>
          <p:cNvSpPr txBox="1"/>
          <p:nvPr/>
        </p:nvSpPr>
        <p:spPr>
          <a:xfrm>
            <a:off x="4617720" y="2697480"/>
            <a:ext cx="283464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Benue bans open grazing, yet clashes over farms, water and routes continue</a:t>
            </a:r>
            <a:endParaRPr lang="en-US" sz="1400" dirty="0"/>
          </a:p>
        </p:txBody>
      </p:sp>
      <p:sp>
        <p:nvSpPr>
          <p:cNvPr id="10" name="Shape 8"/>
          <p:cNvSpPr/>
          <p:nvPr/>
        </p:nvSpPr>
        <p:spPr>
          <a:xfrm>
            <a:off x="8046720" y="1600200"/>
            <a:ext cx="3474720" cy="2743200"/>
          </a:xfrm>
          <a:prstGeom prst="roundRect">
            <a:avLst>
              <a:gd name="adj" fmla="val 4000"/>
            </a:avLst>
          </a:prstGeom>
          <a:solidFill>
            <a:srgbClr val="F4EEE4"/>
          </a:solidFill>
          <a:ln/>
        </p:spPr>
      </p:sp>
      <p:sp>
        <p:nvSpPr>
          <p:cNvPr id="11" name="Text 9"/>
          <p:cNvSpPr txBox="1"/>
          <p:nvPr/>
        </p:nvSpPr>
        <p:spPr>
          <a:xfrm>
            <a:off x="8366760" y="1783080"/>
            <a:ext cx="2834640" cy="868680"/>
          </a:xfrm>
          <a:prstGeom prst="rect">
            <a:avLst/>
          </a:prstGeom>
          <a:noFill/>
          <a:ln/>
        </p:spPr>
        <p:txBody>
          <a:bodyPr wrap="square" lIns="0" tIns="0" rIns="0" bIns="0" rtlCol="0" anchor="b"/>
          <a:lstStyle/>
          <a:p>
            <a:pPr indent="0" marL="0">
              <a:buNone/>
            </a:pPr>
            <a:r>
              <a:rPr lang="en-US" sz="4400" b="1" dirty="0">
                <a:solidFill>
                  <a:srgbClr val="3F7F45"/>
                </a:solidFill>
                <a:latin typeface="Cambria" pitchFamily="34" charset="0"/>
                <a:ea typeface="Cambria" pitchFamily="34" charset="-122"/>
                <a:cs typeface="Cambria" pitchFamily="34" charset="-120"/>
              </a:rPr>
              <a:t>Hours</a:t>
            </a:r>
            <a:endParaRPr lang="en-US" sz="4400" dirty="0"/>
          </a:p>
        </p:txBody>
      </p:sp>
      <p:sp>
        <p:nvSpPr>
          <p:cNvPr id="12" name="Text 10"/>
          <p:cNvSpPr txBox="1"/>
          <p:nvPr/>
        </p:nvSpPr>
        <p:spPr>
          <a:xfrm>
            <a:off x="8366760" y="2697480"/>
            <a:ext cx="283464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between crops being destroyed and a reprisal: long enough to act, if the right people know</a:t>
            </a:r>
            <a:endParaRPr lang="en-US" sz="1400" dirty="0"/>
          </a:p>
        </p:txBody>
      </p:sp>
      <p:sp>
        <p:nvSpPr>
          <p:cNvPr id="13" name="Text 11"/>
          <p:cNvSpPr txBox="1"/>
          <p:nvPr/>
        </p:nvSpPr>
        <p:spPr>
          <a:xfrm>
            <a:off x="548640" y="4663440"/>
            <a:ext cx="11094415" cy="914400"/>
          </a:xfrm>
          <a:prstGeom prst="rect">
            <a:avLst/>
          </a:prstGeom>
          <a:noFill/>
          <a:ln/>
        </p:spPr>
        <p:txBody>
          <a:bodyPr wrap="square" lIns="0" tIns="0" rIns="0" bIns="0" rtlCol="0" anchor="t"/>
          <a:lstStyle/>
          <a:p>
            <a:pPr indent="0" marL="0">
              <a:buNone/>
            </a:pPr>
            <a:r>
              <a:rPr lang="en-US" sz="1800" dirty="0">
                <a:solidFill>
                  <a:srgbClr val="22201C"/>
                </a:solidFill>
                <a:latin typeface="Calibri" pitchFamily="34" charset="0"/>
                <a:ea typeface="Calibri" pitchFamily="34" charset="-122"/>
                <a:cs typeface="Calibri" pitchFamily="34" charset="-120"/>
              </a:rPr>
              <a:t>The information to act early exists: herd movements, crop seasons, past incidents, community warnings. It is scattered, unverified and slow.</a:t>
            </a:r>
            <a:endParaRPr lang="en-US" sz="1800" dirty="0"/>
          </a:p>
        </p:txBody>
      </p:sp>
      <p:sp>
        <p:nvSpPr>
          <p:cNvPr id="14" name="Text 12"/>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HOW A DISPUTE BECOMES A MASSACRE</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Break the chain early</a:t>
            </a:r>
            <a:endParaRPr lang="en-US" sz="3400" dirty="0"/>
          </a:p>
        </p:txBody>
      </p:sp>
      <p:sp>
        <p:nvSpPr>
          <p:cNvPr id="4" name="Shape 2"/>
          <p:cNvSpPr/>
          <p:nvPr/>
        </p:nvSpPr>
        <p:spPr>
          <a:xfrm>
            <a:off x="1143000" y="1737360"/>
            <a:ext cx="1005840" cy="1005840"/>
          </a:xfrm>
          <a:prstGeom prst="ellipse">
            <a:avLst/>
          </a:prstGeom>
          <a:solidFill>
            <a:srgbClr val="7A4A1F"/>
          </a:solidFill>
          <a:ln/>
        </p:spPr>
      </p:sp>
      <p:pic>
        <p:nvPicPr>
          <p:cNvPr id="5" name="Image 0" descr="preencoded.png">    </p:cNvPr>
          <p:cNvPicPr>
            <a:picLocks noChangeAspect="1"/>
          </p:cNvPicPr>
          <p:nvPr/>
        </p:nvPicPr>
        <p:blipFill>
          <a:blip r:embed="rId1"/>
          <a:stretch>
            <a:fillRect/>
          </a:stretch>
        </p:blipFill>
        <p:spPr>
          <a:xfrm>
            <a:off x="1364285" y="1958645"/>
            <a:ext cx="563270" cy="563270"/>
          </a:xfrm>
          <a:prstGeom prst="rect">
            <a:avLst/>
          </a:prstGeom>
        </p:spPr>
      </p:pic>
      <p:sp>
        <p:nvSpPr>
          <p:cNvPr id="6" name="Text 3"/>
          <p:cNvSpPr txBox="1"/>
          <p:nvPr/>
        </p:nvSpPr>
        <p:spPr>
          <a:xfrm>
            <a:off x="731520" y="2880360"/>
            <a:ext cx="1828800" cy="822960"/>
          </a:xfrm>
          <a:prstGeom prst="rect">
            <a:avLst/>
          </a:prstGeom>
          <a:noFill/>
          <a:ln/>
        </p:spPr>
        <p:txBody>
          <a:bodyPr wrap="square" lIns="0" tIns="0" rIns="0" bIns="0" rtlCol="0" anchor="t"/>
          <a:lstStyle/>
          <a:p>
            <a:pPr algn="ctr" indent="0" marL="0">
              <a:buNone/>
            </a:pPr>
            <a:r>
              <a:rPr lang="en-US" sz="1700" b="1" dirty="0">
                <a:solidFill>
                  <a:srgbClr val="22201C"/>
                </a:solidFill>
                <a:latin typeface="Calibri" pitchFamily="34" charset="0"/>
                <a:ea typeface="Calibri" pitchFamily="34" charset="-122"/>
                <a:cs typeface="Calibri" pitchFamily="34" charset="-120"/>
              </a:rPr>
              <a:t>Herd heads</a:t>
            </a:r>
            <a:endParaRPr lang="en-US" sz="1700" dirty="0"/>
          </a:p>
          <a:p>
            <a:pPr algn="ctr" indent="0" marL="0">
              <a:buNone/>
            </a:pPr>
            <a:r>
              <a:rPr lang="en-US" sz="1700" b="1" dirty="0">
                <a:solidFill>
                  <a:srgbClr val="22201C"/>
                </a:solidFill>
                <a:latin typeface="Calibri" pitchFamily="34" charset="0"/>
                <a:ea typeface="Calibri" pitchFamily="34" charset="-122"/>
                <a:cs typeface="Calibri" pitchFamily="34" charset="-120"/>
              </a:rPr>
              <a:t>for farms</a:t>
            </a:r>
            <a:endParaRPr lang="en-US" sz="1700" dirty="0"/>
          </a:p>
        </p:txBody>
      </p:sp>
      <p:sp>
        <p:nvSpPr>
          <p:cNvPr id="7" name="Text 4"/>
          <p:cNvSpPr txBox="1"/>
          <p:nvPr/>
        </p:nvSpPr>
        <p:spPr>
          <a:xfrm>
            <a:off x="2423160" y="1965960"/>
            <a:ext cx="548640" cy="548640"/>
          </a:xfrm>
          <a:prstGeom prst="rect">
            <a:avLst/>
          </a:prstGeom>
          <a:noFill/>
          <a:ln/>
        </p:spPr>
        <p:txBody>
          <a:bodyPr wrap="square" lIns="0" tIns="0" rIns="0" bIns="0" rtlCol="0" anchor="t"/>
          <a:lstStyle/>
          <a:p>
            <a:pPr algn="ctr" indent="0" marL="0">
              <a:buNone/>
            </a:pPr>
            <a:r>
              <a:rPr lang="en-US" sz="3000" dirty="0">
                <a:solidFill>
                  <a:srgbClr val="6B645A"/>
                </a:solidFill>
                <a:latin typeface="Calibri" pitchFamily="34" charset="0"/>
                <a:ea typeface="Calibri" pitchFamily="34" charset="-122"/>
                <a:cs typeface="Calibri" pitchFamily="34" charset="-120"/>
              </a:rPr>
              <a:t>→</a:t>
            </a:r>
            <a:endParaRPr lang="en-US" sz="3000" dirty="0"/>
          </a:p>
        </p:txBody>
      </p:sp>
      <p:sp>
        <p:nvSpPr>
          <p:cNvPr id="8" name="Shape 5"/>
          <p:cNvSpPr/>
          <p:nvPr/>
        </p:nvSpPr>
        <p:spPr>
          <a:xfrm>
            <a:off x="3429000" y="1737360"/>
            <a:ext cx="1005840" cy="1005840"/>
          </a:xfrm>
          <a:prstGeom prst="ellipse">
            <a:avLst/>
          </a:prstGeom>
          <a:solidFill>
            <a:srgbClr val="D7A526"/>
          </a:solidFill>
          <a:ln/>
        </p:spPr>
      </p:sp>
      <p:pic>
        <p:nvPicPr>
          <p:cNvPr id="9" name="Image 1" descr="preencoded.png">    </p:cNvPr>
          <p:cNvPicPr>
            <a:picLocks noChangeAspect="1"/>
          </p:cNvPicPr>
          <p:nvPr/>
        </p:nvPicPr>
        <p:blipFill>
          <a:blip r:embed="rId2"/>
          <a:stretch>
            <a:fillRect/>
          </a:stretch>
        </p:blipFill>
        <p:spPr>
          <a:xfrm>
            <a:off x="3650285" y="1958645"/>
            <a:ext cx="563270" cy="563270"/>
          </a:xfrm>
          <a:prstGeom prst="rect">
            <a:avLst/>
          </a:prstGeom>
        </p:spPr>
      </p:pic>
      <p:sp>
        <p:nvSpPr>
          <p:cNvPr id="10" name="Text 6"/>
          <p:cNvSpPr txBox="1"/>
          <p:nvPr/>
        </p:nvSpPr>
        <p:spPr>
          <a:xfrm>
            <a:off x="3017520" y="2880360"/>
            <a:ext cx="1828800" cy="822960"/>
          </a:xfrm>
          <a:prstGeom prst="rect">
            <a:avLst/>
          </a:prstGeom>
          <a:noFill/>
          <a:ln/>
        </p:spPr>
        <p:txBody>
          <a:bodyPr wrap="square" lIns="0" tIns="0" rIns="0" bIns="0" rtlCol="0" anchor="t"/>
          <a:lstStyle/>
          <a:p>
            <a:pPr algn="ctr" indent="0" marL="0">
              <a:buNone/>
            </a:pPr>
            <a:r>
              <a:rPr lang="en-US" sz="1700" b="1" dirty="0">
                <a:solidFill>
                  <a:srgbClr val="22201C"/>
                </a:solidFill>
                <a:latin typeface="Calibri" pitchFamily="34" charset="0"/>
                <a:ea typeface="Calibri" pitchFamily="34" charset="-122"/>
                <a:cs typeface="Calibri" pitchFamily="34" charset="-120"/>
              </a:rPr>
              <a:t>Crops</a:t>
            </a:r>
            <a:endParaRPr lang="en-US" sz="1700" dirty="0"/>
          </a:p>
          <a:p>
            <a:pPr algn="ctr" indent="0" marL="0">
              <a:buNone/>
            </a:pPr>
            <a:r>
              <a:rPr lang="en-US" sz="1700" b="1" dirty="0">
                <a:solidFill>
                  <a:srgbClr val="22201C"/>
                </a:solidFill>
                <a:latin typeface="Calibri" pitchFamily="34" charset="0"/>
                <a:ea typeface="Calibri" pitchFamily="34" charset="-122"/>
                <a:cs typeface="Calibri" pitchFamily="34" charset="-120"/>
              </a:rPr>
              <a:t>destroyed</a:t>
            </a:r>
            <a:endParaRPr lang="en-US" sz="1700" dirty="0"/>
          </a:p>
        </p:txBody>
      </p:sp>
      <p:sp>
        <p:nvSpPr>
          <p:cNvPr id="11" name="Text 7"/>
          <p:cNvSpPr txBox="1"/>
          <p:nvPr/>
        </p:nvSpPr>
        <p:spPr>
          <a:xfrm>
            <a:off x="4709160" y="1965960"/>
            <a:ext cx="548640" cy="548640"/>
          </a:xfrm>
          <a:prstGeom prst="rect">
            <a:avLst/>
          </a:prstGeom>
          <a:noFill/>
          <a:ln/>
        </p:spPr>
        <p:txBody>
          <a:bodyPr wrap="square" lIns="0" tIns="0" rIns="0" bIns="0" rtlCol="0" anchor="t"/>
          <a:lstStyle/>
          <a:p>
            <a:pPr algn="ctr" indent="0" marL="0">
              <a:buNone/>
            </a:pPr>
            <a:r>
              <a:rPr lang="en-US" sz="3000" dirty="0">
                <a:solidFill>
                  <a:srgbClr val="6B645A"/>
                </a:solidFill>
                <a:latin typeface="Calibri" pitchFamily="34" charset="0"/>
                <a:ea typeface="Calibri" pitchFamily="34" charset="-122"/>
                <a:cs typeface="Calibri" pitchFamily="34" charset="-120"/>
              </a:rPr>
              <a:t>→</a:t>
            </a:r>
            <a:endParaRPr lang="en-US" sz="3000" dirty="0"/>
          </a:p>
        </p:txBody>
      </p:sp>
      <p:sp>
        <p:nvSpPr>
          <p:cNvPr id="12" name="Shape 8"/>
          <p:cNvSpPr/>
          <p:nvPr/>
        </p:nvSpPr>
        <p:spPr>
          <a:xfrm>
            <a:off x="5715000" y="1737360"/>
            <a:ext cx="1005840" cy="1005840"/>
          </a:xfrm>
          <a:prstGeom prst="ellipse">
            <a:avLst/>
          </a:prstGeom>
          <a:solidFill>
            <a:srgbClr val="E0701E"/>
          </a:solidFill>
          <a:ln/>
        </p:spPr>
      </p:sp>
      <p:pic>
        <p:nvPicPr>
          <p:cNvPr id="13" name="Image 2" descr="preencoded.png">    </p:cNvPr>
          <p:cNvPicPr>
            <a:picLocks noChangeAspect="1"/>
          </p:cNvPicPr>
          <p:nvPr/>
        </p:nvPicPr>
        <p:blipFill>
          <a:blip r:embed="rId3"/>
          <a:stretch>
            <a:fillRect/>
          </a:stretch>
        </p:blipFill>
        <p:spPr>
          <a:xfrm>
            <a:off x="5936285" y="1958645"/>
            <a:ext cx="563270" cy="563270"/>
          </a:xfrm>
          <a:prstGeom prst="rect">
            <a:avLst/>
          </a:prstGeom>
        </p:spPr>
      </p:pic>
      <p:sp>
        <p:nvSpPr>
          <p:cNvPr id="14" name="Text 9"/>
          <p:cNvSpPr txBox="1"/>
          <p:nvPr/>
        </p:nvSpPr>
        <p:spPr>
          <a:xfrm>
            <a:off x="5303520" y="2880360"/>
            <a:ext cx="1828800" cy="822960"/>
          </a:xfrm>
          <a:prstGeom prst="rect">
            <a:avLst/>
          </a:prstGeom>
          <a:noFill/>
          <a:ln/>
        </p:spPr>
        <p:txBody>
          <a:bodyPr wrap="square" lIns="0" tIns="0" rIns="0" bIns="0" rtlCol="0" anchor="t"/>
          <a:lstStyle/>
          <a:p>
            <a:pPr algn="ctr" indent="0" marL="0">
              <a:buNone/>
            </a:pPr>
            <a:r>
              <a:rPr lang="en-US" sz="1700" b="1" dirty="0">
                <a:solidFill>
                  <a:srgbClr val="22201C"/>
                </a:solidFill>
                <a:latin typeface="Calibri" pitchFamily="34" charset="0"/>
                <a:ea typeface="Calibri" pitchFamily="34" charset="-122"/>
                <a:cs typeface="Calibri" pitchFamily="34" charset="-120"/>
              </a:rPr>
              <a:t>Rumour</a:t>
            </a:r>
            <a:endParaRPr lang="en-US" sz="1700" dirty="0"/>
          </a:p>
          <a:p>
            <a:pPr algn="ctr" indent="0" marL="0">
              <a:buNone/>
            </a:pPr>
            <a:r>
              <a:rPr lang="en-US" sz="1700" b="1" dirty="0">
                <a:solidFill>
                  <a:srgbClr val="22201C"/>
                </a:solidFill>
                <a:latin typeface="Calibri" pitchFamily="34" charset="0"/>
                <a:ea typeface="Calibri" pitchFamily="34" charset="-122"/>
                <a:cs typeface="Calibri" pitchFamily="34" charset="-120"/>
              </a:rPr>
              <a:t>spreads</a:t>
            </a:r>
            <a:endParaRPr lang="en-US" sz="1700" dirty="0"/>
          </a:p>
        </p:txBody>
      </p:sp>
      <p:sp>
        <p:nvSpPr>
          <p:cNvPr id="15" name="Text 10"/>
          <p:cNvSpPr txBox="1"/>
          <p:nvPr/>
        </p:nvSpPr>
        <p:spPr>
          <a:xfrm>
            <a:off x="6995160" y="1965960"/>
            <a:ext cx="548640" cy="548640"/>
          </a:xfrm>
          <a:prstGeom prst="rect">
            <a:avLst/>
          </a:prstGeom>
          <a:noFill/>
          <a:ln/>
        </p:spPr>
        <p:txBody>
          <a:bodyPr wrap="square" lIns="0" tIns="0" rIns="0" bIns="0" rtlCol="0" anchor="t"/>
          <a:lstStyle/>
          <a:p>
            <a:pPr algn="ctr" indent="0" marL="0">
              <a:buNone/>
            </a:pPr>
            <a:r>
              <a:rPr lang="en-US" sz="3000" dirty="0">
                <a:solidFill>
                  <a:srgbClr val="6B645A"/>
                </a:solidFill>
                <a:latin typeface="Calibri" pitchFamily="34" charset="0"/>
                <a:ea typeface="Calibri" pitchFamily="34" charset="-122"/>
                <a:cs typeface="Calibri" pitchFamily="34" charset="-120"/>
              </a:rPr>
              <a:t>→</a:t>
            </a:r>
            <a:endParaRPr lang="en-US" sz="3000" dirty="0"/>
          </a:p>
        </p:txBody>
      </p:sp>
      <p:sp>
        <p:nvSpPr>
          <p:cNvPr id="16" name="Shape 11"/>
          <p:cNvSpPr/>
          <p:nvPr/>
        </p:nvSpPr>
        <p:spPr>
          <a:xfrm>
            <a:off x="8001000" y="1737360"/>
            <a:ext cx="1005840" cy="1005840"/>
          </a:xfrm>
          <a:prstGeom prst="ellipse">
            <a:avLst/>
          </a:prstGeom>
          <a:solidFill>
            <a:srgbClr val="E0701E"/>
          </a:solidFill>
          <a:ln/>
        </p:spPr>
      </p:sp>
      <p:pic>
        <p:nvPicPr>
          <p:cNvPr id="17" name="Image 3" descr="preencoded.png">    </p:cNvPr>
          <p:cNvPicPr>
            <a:picLocks noChangeAspect="1"/>
          </p:cNvPicPr>
          <p:nvPr/>
        </p:nvPicPr>
        <p:blipFill>
          <a:blip r:embed="rId4"/>
          <a:stretch>
            <a:fillRect/>
          </a:stretch>
        </p:blipFill>
        <p:spPr>
          <a:xfrm>
            <a:off x="8222285" y="1958645"/>
            <a:ext cx="563270" cy="563270"/>
          </a:xfrm>
          <a:prstGeom prst="rect">
            <a:avLst/>
          </a:prstGeom>
        </p:spPr>
      </p:pic>
      <p:sp>
        <p:nvSpPr>
          <p:cNvPr id="18" name="Text 12"/>
          <p:cNvSpPr txBox="1"/>
          <p:nvPr/>
        </p:nvSpPr>
        <p:spPr>
          <a:xfrm>
            <a:off x="7589520" y="2880360"/>
            <a:ext cx="1828800" cy="822960"/>
          </a:xfrm>
          <a:prstGeom prst="rect">
            <a:avLst/>
          </a:prstGeom>
          <a:noFill/>
          <a:ln/>
        </p:spPr>
        <p:txBody>
          <a:bodyPr wrap="square" lIns="0" tIns="0" rIns="0" bIns="0" rtlCol="0" anchor="t"/>
          <a:lstStyle/>
          <a:p>
            <a:pPr algn="ctr" indent="0" marL="0">
              <a:buNone/>
            </a:pPr>
            <a:r>
              <a:rPr lang="en-US" sz="1700" b="1" dirty="0">
                <a:solidFill>
                  <a:srgbClr val="22201C"/>
                </a:solidFill>
                <a:latin typeface="Calibri" pitchFamily="34" charset="0"/>
                <a:ea typeface="Calibri" pitchFamily="34" charset="-122"/>
                <a:cs typeface="Calibri" pitchFamily="34" charset="-120"/>
              </a:rPr>
              <a:t>Youths</a:t>
            </a:r>
            <a:endParaRPr lang="en-US" sz="1700" dirty="0"/>
          </a:p>
          <a:p>
            <a:pPr algn="ctr" indent="0" marL="0">
              <a:buNone/>
            </a:pPr>
            <a:r>
              <a:rPr lang="en-US" sz="1700" b="1" dirty="0">
                <a:solidFill>
                  <a:srgbClr val="22201C"/>
                </a:solidFill>
                <a:latin typeface="Calibri" pitchFamily="34" charset="0"/>
                <a:ea typeface="Calibri" pitchFamily="34" charset="-122"/>
                <a:cs typeface="Calibri" pitchFamily="34" charset="-120"/>
              </a:rPr>
              <a:t>mobilise</a:t>
            </a:r>
            <a:endParaRPr lang="en-US" sz="1700" dirty="0"/>
          </a:p>
        </p:txBody>
      </p:sp>
      <p:sp>
        <p:nvSpPr>
          <p:cNvPr id="19" name="Text 13"/>
          <p:cNvSpPr txBox="1"/>
          <p:nvPr/>
        </p:nvSpPr>
        <p:spPr>
          <a:xfrm>
            <a:off x="9281160" y="1965960"/>
            <a:ext cx="548640" cy="548640"/>
          </a:xfrm>
          <a:prstGeom prst="rect">
            <a:avLst/>
          </a:prstGeom>
          <a:noFill/>
          <a:ln/>
        </p:spPr>
        <p:txBody>
          <a:bodyPr wrap="square" lIns="0" tIns="0" rIns="0" bIns="0" rtlCol="0" anchor="t"/>
          <a:lstStyle/>
          <a:p>
            <a:pPr algn="ctr" indent="0" marL="0">
              <a:buNone/>
            </a:pPr>
            <a:r>
              <a:rPr lang="en-US" sz="3000" dirty="0">
                <a:solidFill>
                  <a:srgbClr val="6B645A"/>
                </a:solidFill>
                <a:latin typeface="Calibri" pitchFamily="34" charset="0"/>
                <a:ea typeface="Calibri" pitchFamily="34" charset="-122"/>
                <a:cs typeface="Calibri" pitchFamily="34" charset="-120"/>
              </a:rPr>
              <a:t>→</a:t>
            </a:r>
            <a:endParaRPr lang="en-US" sz="3000" dirty="0"/>
          </a:p>
        </p:txBody>
      </p:sp>
      <p:sp>
        <p:nvSpPr>
          <p:cNvPr id="20" name="Shape 14"/>
          <p:cNvSpPr/>
          <p:nvPr/>
        </p:nvSpPr>
        <p:spPr>
          <a:xfrm>
            <a:off x="10287000" y="1737360"/>
            <a:ext cx="1005840" cy="1005840"/>
          </a:xfrm>
          <a:prstGeom prst="ellipse">
            <a:avLst/>
          </a:prstGeom>
          <a:solidFill>
            <a:srgbClr val="C0262D"/>
          </a:solidFill>
          <a:ln/>
        </p:spPr>
      </p:sp>
      <p:pic>
        <p:nvPicPr>
          <p:cNvPr id="21" name="Image 4" descr="preencoded.png">    </p:cNvPr>
          <p:cNvPicPr>
            <a:picLocks noChangeAspect="1"/>
          </p:cNvPicPr>
          <p:nvPr/>
        </p:nvPicPr>
        <p:blipFill>
          <a:blip r:embed="rId5"/>
          <a:stretch>
            <a:fillRect/>
          </a:stretch>
        </p:blipFill>
        <p:spPr>
          <a:xfrm>
            <a:off x="10508285" y="1958645"/>
            <a:ext cx="563270" cy="563270"/>
          </a:xfrm>
          <a:prstGeom prst="rect">
            <a:avLst/>
          </a:prstGeom>
        </p:spPr>
      </p:pic>
      <p:sp>
        <p:nvSpPr>
          <p:cNvPr id="22" name="Text 15"/>
          <p:cNvSpPr txBox="1"/>
          <p:nvPr/>
        </p:nvSpPr>
        <p:spPr>
          <a:xfrm>
            <a:off x="9875520" y="2880360"/>
            <a:ext cx="1828800" cy="822960"/>
          </a:xfrm>
          <a:prstGeom prst="rect">
            <a:avLst/>
          </a:prstGeom>
          <a:noFill/>
          <a:ln/>
        </p:spPr>
        <p:txBody>
          <a:bodyPr wrap="square" lIns="0" tIns="0" rIns="0" bIns="0" rtlCol="0" anchor="t"/>
          <a:lstStyle/>
          <a:p>
            <a:pPr algn="ctr" indent="0" marL="0">
              <a:buNone/>
            </a:pPr>
            <a:r>
              <a:rPr lang="en-US" sz="1700" b="1" dirty="0">
                <a:solidFill>
                  <a:srgbClr val="22201C"/>
                </a:solidFill>
                <a:latin typeface="Calibri" pitchFamily="34" charset="0"/>
                <a:ea typeface="Calibri" pitchFamily="34" charset="-122"/>
                <a:cs typeface="Calibri" pitchFamily="34" charset="-120"/>
              </a:rPr>
              <a:t>Reprisal</a:t>
            </a:r>
            <a:endParaRPr lang="en-US" sz="1700" dirty="0"/>
          </a:p>
        </p:txBody>
      </p:sp>
      <p:sp>
        <p:nvSpPr>
          <p:cNvPr id="23" name="Shape 16"/>
          <p:cNvSpPr/>
          <p:nvPr/>
        </p:nvSpPr>
        <p:spPr>
          <a:xfrm>
            <a:off x="640080" y="3977640"/>
            <a:ext cx="2011680" cy="1188720"/>
          </a:xfrm>
          <a:prstGeom prst="roundRect">
            <a:avLst>
              <a:gd name="adj" fmla="val 9231"/>
            </a:avLst>
          </a:prstGeom>
          <a:solidFill>
            <a:srgbClr val="E8F1E6"/>
          </a:solidFill>
          <a:ln/>
        </p:spPr>
      </p:sp>
      <p:sp>
        <p:nvSpPr>
          <p:cNvPr id="24" name="Text 17"/>
          <p:cNvSpPr txBox="1"/>
          <p:nvPr/>
        </p:nvSpPr>
        <p:spPr>
          <a:xfrm>
            <a:off x="731520" y="4069080"/>
            <a:ext cx="1828800" cy="1005840"/>
          </a:xfrm>
          <a:prstGeom prst="rect">
            <a:avLst/>
          </a:prstGeom>
          <a:noFill/>
          <a:ln/>
        </p:spPr>
        <p:txBody>
          <a:bodyPr wrap="square" lIns="0" tIns="0" rIns="0" bIns="0" rtlCol="0" anchor="ctr"/>
          <a:lstStyle/>
          <a:p>
            <a:pPr algn="ctr" indent="0" marL="0">
              <a:buNone/>
            </a:pPr>
            <a:r>
              <a:rPr lang="en-US" sz="1400" b="1" dirty="0">
                <a:solidFill>
                  <a:srgbClr val="3F7F45"/>
                </a:solidFill>
                <a:latin typeface="Calibri" pitchFamily="34" charset="0"/>
                <a:ea typeface="Calibri" pitchFamily="34" charset="-122"/>
                <a:cs typeface="Calibri" pitchFamily="34" charset="-120"/>
              </a:rPr>
              <a:t>Forecast + SMS to herder</a:t>
            </a:r>
            <a:endParaRPr lang="en-US" sz="1400" dirty="0"/>
          </a:p>
        </p:txBody>
      </p:sp>
      <p:sp>
        <p:nvSpPr>
          <p:cNvPr id="25" name="Shape 18"/>
          <p:cNvSpPr/>
          <p:nvPr/>
        </p:nvSpPr>
        <p:spPr>
          <a:xfrm>
            <a:off x="2926080" y="3977640"/>
            <a:ext cx="2011680" cy="1188720"/>
          </a:xfrm>
          <a:prstGeom prst="roundRect">
            <a:avLst>
              <a:gd name="adj" fmla="val 9231"/>
            </a:avLst>
          </a:prstGeom>
          <a:solidFill>
            <a:srgbClr val="E8F1E6"/>
          </a:solidFill>
          <a:ln/>
        </p:spPr>
      </p:sp>
      <p:sp>
        <p:nvSpPr>
          <p:cNvPr id="26" name="Text 19"/>
          <p:cNvSpPr txBox="1"/>
          <p:nvPr/>
        </p:nvSpPr>
        <p:spPr>
          <a:xfrm>
            <a:off x="3017520" y="4069080"/>
            <a:ext cx="1828800" cy="1005840"/>
          </a:xfrm>
          <a:prstGeom prst="rect">
            <a:avLst/>
          </a:prstGeom>
          <a:noFill/>
          <a:ln/>
        </p:spPr>
        <p:txBody>
          <a:bodyPr wrap="square" lIns="0" tIns="0" rIns="0" bIns="0" rtlCol="0" anchor="ctr"/>
          <a:lstStyle/>
          <a:p>
            <a:pPr algn="ctr" indent="0" marL="0">
              <a:buNone/>
            </a:pPr>
            <a:r>
              <a:rPr lang="en-US" sz="1400" b="1" dirty="0">
                <a:solidFill>
                  <a:srgbClr val="3F7F45"/>
                </a:solidFill>
                <a:latin typeface="Calibri" pitchFamily="34" charset="0"/>
                <a:ea typeface="Calibri" pitchFamily="34" charset="-122"/>
                <a:cs typeface="Calibri" pitchFamily="34" charset="-120"/>
              </a:rPr>
              <a:t>Case to peace committee</a:t>
            </a:r>
            <a:endParaRPr lang="en-US" sz="1400" dirty="0"/>
          </a:p>
        </p:txBody>
      </p:sp>
      <p:sp>
        <p:nvSpPr>
          <p:cNvPr id="27" name="Shape 20"/>
          <p:cNvSpPr/>
          <p:nvPr/>
        </p:nvSpPr>
        <p:spPr>
          <a:xfrm>
            <a:off x="5212080" y="3977640"/>
            <a:ext cx="2011680" cy="1188720"/>
          </a:xfrm>
          <a:prstGeom prst="roundRect">
            <a:avLst>
              <a:gd name="adj" fmla="val 9231"/>
            </a:avLst>
          </a:prstGeom>
          <a:solidFill>
            <a:srgbClr val="E8F1E6"/>
          </a:solidFill>
          <a:ln/>
        </p:spPr>
      </p:sp>
      <p:sp>
        <p:nvSpPr>
          <p:cNvPr id="28" name="Text 21"/>
          <p:cNvSpPr txBox="1"/>
          <p:nvPr/>
        </p:nvSpPr>
        <p:spPr>
          <a:xfrm>
            <a:off x="5303520" y="4069080"/>
            <a:ext cx="1828800" cy="1005840"/>
          </a:xfrm>
          <a:prstGeom prst="rect">
            <a:avLst/>
          </a:prstGeom>
          <a:noFill/>
          <a:ln/>
        </p:spPr>
        <p:txBody>
          <a:bodyPr wrap="square" lIns="0" tIns="0" rIns="0" bIns="0" rtlCol="0" anchor="ctr"/>
          <a:lstStyle/>
          <a:p>
            <a:pPr algn="ctr" indent="0" marL="0">
              <a:buNone/>
            </a:pPr>
            <a:r>
              <a:rPr lang="en-US" sz="1400" b="1" dirty="0">
                <a:solidFill>
                  <a:srgbClr val="3F7F45"/>
                </a:solidFill>
                <a:latin typeface="Calibri" pitchFamily="34" charset="0"/>
                <a:ea typeface="Calibri" pitchFamily="34" charset="-122"/>
                <a:cs typeface="Calibri" pitchFamily="34" charset="-120"/>
              </a:rPr>
              <a:t>Trust scoring holds rumours</a:t>
            </a:r>
            <a:endParaRPr lang="en-US" sz="1400" dirty="0"/>
          </a:p>
        </p:txBody>
      </p:sp>
      <p:sp>
        <p:nvSpPr>
          <p:cNvPr id="29" name="Shape 22"/>
          <p:cNvSpPr/>
          <p:nvPr/>
        </p:nvSpPr>
        <p:spPr>
          <a:xfrm>
            <a:off x="7498080" y="3977640"/>
            <a:ext cx="2011680" cy="1188720"/>
          </a:xfrm>
          <a:prstGeom prst="roundRect">
            <a:avLst>
              <a:gd name="adj" fmla="val 9231"/>
            </a:avLst>
          </a:prstGeom>
          <a:solidFill>
            <a:srgbClr val="E8F1E6"/>
          </a:solidFill>
          <a:ln/>
        </p:spPr>
      </p:sp>
      <p:sp>
        <p:nvSpPr>
          <p:cNvPr id="30" name="Text 23"/>
          <p:cNvSpPr txBox="1"/>
          <p:nvPr/>
        </p:nvSpPr>
        <p:spPr>
          <a:xfrm>
            <a:off x="7589520" y="4069080"/>
            <a:ext cx="1828800" cy="1005840"/>
          </a:xfrm>
          <a:prstGeom prst="rect">
            <a:avLst/>
          </a:prstGeom>
          <a:noFill/>
          <a:ln/>
        </p:spPr>
        <p:txBody>
          <a:bodyPr wrap="square" lIns="0" tIns="0" rIns="0" bIns="0" rtlCol="0" anchor="ctr"/>
          <a:lstStyle/>
          <a:p>
            <a:pPr algn="ctr" indent="0" marL="0">
              <a:buNone/>
            </a:pPr>
            <a:r>
              <a:rPr lang="en-US" sz="1400" b="1" dirty="0">
                <a:solidFill>
                  <a:srgbClr val="3F7F45"/>
                </a:solidFill>
                <a:latin typeface="Calibri" pitchFamily="34" charset="0"/>
                <a:ea typeface="Calibri" pitchFamily="34" charset="-122"/>
                <a:cs typeface="Calibri" pitchFamily="34" charset="-120"/>
              </a:rPr>
              <a:t>Escalate to Agro Rangers</a:t>
            </a:r>
            <a:endParaRPr lang="en-US" sz="1400" dirty="0"/>
          </a:p>
        </p:txBody>
      </p:sp>
      <p:sp>
        <p:nvSpPr>
          <p:cNvPr id="31" name="Text 24"/>
          <p:cNvSpPr txBox="1"/>
          <p:nvPr/>
        </p:nvSpPr>
        <p:spPr>
          <a:xfrm>
            <a:off x="548640" y="5486400"/>
            <a:ext cx="7315200" cy="457200"/>
          </a:xfrm>
          <a:prstGeom prst="rect">
            <a:avLst/>
          </a:prstGeom>
          <a:noFill/>
          <a:ln/>
        </p:spPr>
        <p:txBody>
          <a:bodyPr wrap="square" lIns="0" tIns="0" rIns="0" bIns="0" rtlCol="0" anchor="t"/>
          <a:lstStyle/>
          <a:p>
            <a:pPr indent="0" marL="0">
              <a:buNone/>
            </a:pPr>
            <a:r>
              <a:rPr lang="en-US" sz="1500" i="1" dirty="0">
                <a:solidFill>
                  <a:srgbClr val="6B645A"/>
                </a:solidFill>
                <a:latin typeface="Calibri" pitchFamily="34" charset="0"/>
                <a:ea typeface="Calibri" pitchFamily="34" charset="-122"/>
                <a:cs typeface="Calibri" pitchFamily="34" charset="-120"/>
              </a:rPr>
              <a:t>AgroPeace steps in at four points</a:t>
            </a:r>
            <a:endParaRPr lang="en-US" sz="1500" dirty="0"/>
          </a:p>
        </p:txBody>
      </p:sp>
      <p:sp>
        <p:nvSpPr>
          <p:cNvPr id="32" name="Text 25"/>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AIM AND OBJECTIVES</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Warn early, verify, respond, protect</a:t>
            </a:r>
            <a:endParaRPr lang="en-US" sz="3400" dirty="0"/>
          </a:p>
        </p:txBody>
      </p:sp>
      <p:sp>
        <p:nvSpPr>
          <p:cNvPr id="4" name="Shape 2"/>
          <p:cNvSpPr/>
          <p:nvPr/>
        </p:nvSpPr>
        <p:spPr>
          <a:xfrm>
            <a:off x="548640" y="1554480"/>
            <a:ext cx="5303520" cy="1234440"/>
          </a:xfrm>
          <a:prstGeom prst="roundRect">
            <a:avLst>
              <a:gd name="adj" fmla="val 8889"/>
            </a:avLst>
          </a:prstGeom>
          <a:solidFill>
            <a:srgbClr val="F4EEE4"/>
          </a:solidFill>
          <a:ln/>
        </p:spPr>
      </p:sp>
      <p:sp>
        <p:nvSpPr>
          <p:cNvPr id="5" name="Text 3"/>
          <p:cNvSpPr txBox="1"/>
          <p:nvPr/>
        </p:nvSpPr>
        <p:spPr>
          <a:xfrm>
            <a:off x="777240" y="1737360"/>
            <a:ext cx="822960" cy="868680"/>
          </a:xfrm>
          <a:prstGeom prst="rect">
            <a:avLst/>
          </a:prstGeom>
          <a:noFill/>
          <a:ln/>
        </p:spPr>
        <p:txBody>
          <a:bodyPr wrap="square" lIns="0" tIns="0" rIns="0" bIns="0" rtlCol="0" anchor="ctr"/>
          <a:lstStyle/>
          <a:p>
            <a:pPr indent="0" marL="0">
              <a:buNone/>
            </a:pPr>
            <a:r>
              <a:rPr lang="en-US" sz="4000" b="1" dirty="0">
                <a:solidFill>
                  <a:srgbClr val="7A4A1F"/>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1645920" y="1691640"/>
            <a:ext cx="4023360" cy="960120"/>
          </a:xfrm>
          <a:prstGeom prst="rect">
            <a:avLst/>
          </a:prstGeom>
          <a:noFill/>
          <a:ln/>
        </p:spPr>
        <p:txBody>
          <a:bodyPr wrap="square" lIns="0" tIns="0" rIns="0" bIns="0" rtlCol="0" anchor="ctr"/>
          <a:lstStyle/>
          <a:p>
            <a:pPr indent="0" marL="0">
              <a:buNone/>
            </a:pPr>
            <a:r>
              <a:rPr lang="en-US" sz="1700" dirty="0">
                <a:solidFill>
                  <a:srgbClr val="22201C"/>
                </a:solidFill>
                <a:latin typeface="Calibri" pitchFamily="34" charset="0"/>
                <a:ea typeface="Calibri" pitchFamily="34" charset="-122"/>
                <a:cs typeface="Calibri" pitchFamily="34" charset="-120"/>
              </a:rPr>
              <a:t>GIS engine and explainable risk model</a:t>
            </a:r>
            <a:endParaRPr lang="en-US" sz="1700" dirty="0"/>
          </a:p>
        </p:txBody>
      </p:sp>
      <p:sp>
        <p:nvSpPr>
          <p:cNvPr id="7" name="Shape 5"/>
          <p:cNvSpPr/>
          <p:nvPr/>
        </p:nvSpPr>
        <p:spPr>
          <a:xfrm>
            <a:off x="6126480" y="1554480"/>
            <a:ext cx="5303520" cy="1234440"/>
          </a:xfrm>
          <a:prstGeom prst="roundRect">
            <a:avLst>
              <a:gd name="adj" fmla="val 8889"/>
            </a:avLst>
          </a:prstGeom>
          <a:solidFill>
            <a:srgbClr val="F4EEE4"/>
          </a:solidFill>
          <a:ln/>
        </p:spPr>
      </p:sp>
      <p:sp>
        <p:nvSpPr>
          <p:cNvPr id="8" name="Text 6"/>
          <p:cNvSpPr txBox="1"/>
          <p:nvPr/>
        </p:nvSpPr>
        <p:spPr>
          <a:xfrm>
            <a:off x="6355080" y="1737360"/>
            <a:ext cx="822960" cy="868680"/>
          </a:xfrm>
          <a:prstGeom prst="rect">
            <a:avLst/>
          </a:prstGeom>
          <a:noFill/>
          <a:ln/>
        </p:spPr>
        <p:txBody>
          <a:bodyPr wrap="square" lIns="0" tIns="0" rIns="0" bIns="0" rtlCol="0" anchor="ctr"/>
          <a:lstStyle/>
          <a:p>
            <a:pPr indent="0" marL="0">
              <a:buNone/>
            </a:pPr>
            <a:r>
              <a:rPr lang="en-US" sz="4000" b="1" dirty="0">
                <a:solidFill>
                  <a:srgbClr val="7A4A1F"/>
                </a:solidFill>
                <a:latin typeface="Cambria" pitchFamily="34" charset="0"/>
                <a:ea typeface="Cambria" pitchFamily="34" charset="-122"/>
                <a:cs typeface="Cambria" pitchFamily="34" charset="-120"/>
              </a:rPr>
              <a:t>2</a:t>
            </a:r>
            <a:endParaRPr lang="en-US" sz="4000" dirty="0"/>
          </a:p>
        </p:txBody>
      </p:sp>
      <p:sp>
        <p:nvSpPr>
          <p:cNvPr id="9" name="Text 7"/>
          <p:cNvSpPr txBox="1"/>
          <p:nvPr/>
        </p:nvSpPr>
        <p:spPr>
          <a:xfrm>
            <a:off x="7223760" y="1691640"/>
            <a:ext cx="4023360" cy="960120"/>
          </a:xfrm>
          <a:prstGeom prst="rect">
            <a:avLst/>
          </a:prstGeom>
          <a:noFill/>
          <a:ln/>
        </p:spPr>
        <p:txBody>
          <a:bodyPr wrap="square" lIns="0" tIns="0" rIns="0" bIns="0" rtlCol="0" anchor="ctr"/>
          <a:lstStyle/>
          <a:p>
            <a:pPr indent="0" marL="0">
              <a:buNone/>
            </a:pPr>
            <a:r>
              <a:rPr lang="en-US" sz="1700" dirty="0">
                <a:solidFill>
                  <a:srgbClr val="22201C"/>
                </a:solidFill>
                <a:latin typeface="Calibri" pitchFamily="34" charset="0"/>
                <a:ea typeface="Calibri" pitchFamily="34" charset="-122"/>
                <a:cs typeface="Calibri" pitchFamily="34" charset="-120"/>
              </a:rPr>
              <a:t>Signed herd tracking with forecast and geofences</a:t>
            </a:r>
            <a:endParaRPr lang="en-US" sz="1700" dirty="0"/>
          </a:p>
        </p:txBody>
      </p:sp>
      <p:sp>
        <p:nvSpPr>
          <p:cNvPr id="10" name="Shape 8"/>
          <p:cNvSpPr/>
          <p:nvPr/>
        </p:nvSpPr>
        <p:spPr>
          <a:xfrm>
            <a:off x="548640" y="3017520"/>
            <a:ext cx="5303520" cy="1234440"/>
          </a:xfrm>
          <a:prstGeom prst="roundRect">
            <a:avLst>
              <a:gd name="adj" fmla="val 8889"/>
            </a:avLst>
          </a:prstGeom>
          <a:solidFill>
            <a:srgbClr val="F4EEE4"/>
          </a:solidFill>
          <a:ln/>
        </p:spPr>
      </p:sp>
      <p:sp>
        <p:nvSpPr>
          <p:cNvPr id="11" name="Text 9"/>
          <p:cNvSpPr txBox="1"/>
          <p:nvPr/>
        </p:nvSpPr>
        <p:spPr>
          <a:xfrm>
            <a:off x="777240" y="3200400"/>
            <a:ext cx="822960" cy="868680"/>
          </a:xfrm>
          <a:prstGeom prst="rect">
            <a:avLst/>
          </a:prstGeom>
          <a:noFill/>
          <a:ln/>
        </p:spPr>
        <p:txBody>
          <a:bodyPr wrap="square" lIns="0" tIns="0" rIns="0" bIns="0" rtlCol="0" anchor="ctr"/>
          <a:lstStyle/>
          <a:p>
            <a:pPr indent="0" marL="0">
              <a:buNone/>
            </a:pPr>
            <a:r>
              <a:rPr lang="en-US" sz="4000" b="1" dirty="0">
                <a:solidFill>
                  <a:srgbClr val="7A4A1F"/>
                </a:solidFill>
                <a:latin typeface="Cambria" pitchFamily="34" charset="0"/>
                <a:ea typeface="Cambria" pitchFamily="34" charset="-122"/>
                <a:cs typeface="Cambria" pitchFamily="34" charset="-120"/>
              </a:rPr>
              <a:t>3</a:t>
            </a:r>
            <a:endParaRPr lang="en-US" sz="4000" dirty="0"/>
          </a:p>
        </p:txBody>
      </p:sp>
      <p:sp>
        <p:nvSpPr>
          <p:cNvPr id="12" name="Text 10"/>
          <p:cNvSpPr txBox="1"/>
          <p:nvPr/>
        </p:nvSpPr>
        <p:spPr>
          <a:xfrm>
            <a:off x="1645920" y="3154680"/>
            <a:ext cx="4023360" cy="960120"/>
          </a:xfrm>
          <a:prstGeom prst="rect">
            <a:avLst/>
          </a:prstGeom>
          <a:noFill/>
          <a:ln/>
        </p:spPr>
        <p:txBody>
          <a:bodyPr wrap="square" lIns="0" tIns="0" rIns="0" bIns="0" rtlCol="0" anchor="ctr"/>
          <a:lstStyle/>
          <a:p>
            <a:pPr indent="0" marL="0">
              <a:buNone/>
            </a:pPr>
            <a:r>
              <a:rPr lang="en-US" sz="1700" dirty="0">
                <a:solidFill>
                  <a:srgbClr val="22201C"/>
                </a:solidFill>
                <a:latin typeface="Calibri" pitchFamily="34" charset="0"/>
                <a:ea typeface="Calibri" pitchFamily="34" charset="-122"/>
                <a:cs typeface="Calibri" pitchFamily="34" charset="-120"/>
              </a:rPr>
              <a:t>USSD and web reporting with trust scoring</a:t>
            </a:r>
            <a:endParaRPr lang="en-US" sz="1700" dirty="0"/>
          </a:p>
        </p:txBody>
      </p:sp>
      <p:sp>
        <p:nvSpPr>
          <p:cNvPr id="13" name="Shape 11"/>
          <p:cNvSpPr/>
          <p:nvPr/>
        </p:nvSpPr>
        <p:spPr>
          <a:xfrm>
            <a:off x="6126480" y="3017520"/>
            <a:ext cx="5303520" cy="1234440"/>
          </a:xfrm>
          <a:prstGeom prst="roundRect">
            <a:avLst>
              <a:gd name="adj" fmla="val 8889"/>
            </a:avLst>
          </a:prstGeom>
          <a:solidFill>
            <a:srgbClr val="F4EEE4"/>
          </a:solidFill>
          <a:ln/>
        </p:spPr>
      </p:sp>
      <p:sp>
        <p:nvSpPr>
          <p:cNvPr id="14" name="Text 12"/>
          <p:cNvSpPr txBox="1"/>
          <p:nvPr/>
        </p:nvSpPr>
        <p:spPr>
          <a:xfrm>
            <a:off x="6355080" y="3200400"/>
            <a:ext cx="822960" cy="868680"/>
          </a:xfrm>
          <a:prstGeom prst="rect">
            <a:avLst/>
          </a:prstGeom>
          <a:noFill/>
          <a:ln/>
        </p:spPr>
        <p:txBody>
          <a:bodyPr wrap="square" lIns="0" tIns="0" rIns="0" bIns="0" rtlCol="0" anchor="ctr"/>
          <a:lstStyle/>
          <a:p>
            <a:pPr indent="0" marL="0">
              <a:buNone/>
            </a:pPr>
            <a:r>
              <a:rPr lang="en-US" sz="4000" b="1" dirty="0">
                <a:solidFill>
                  <a:srgbClr val="7A4A1F"/>
                </a:solidFill>
                <a:latin typeface="Cambria" pitchFamily="34" charset="0"/>
                <a:ea typeface="Cambria" pitchFamily="34" charset="-122"/>
                <a:cs typeface="Cambria" pitchFamily="34" charset="-120"/>
              </a:rPr>
              <a:t>4</a:t>
            </a:r>
            <a:endParaRPr lang="en-US" sz="4000" dirty="0"/>
          </a:p>
        </p:txBody>
      </p:sp>
      <p:sp>
        <p:nvSpPr>
          <p:cNvPr id="15" name="Text 13"/>
          <p:cNvSpPr txBox="1"/>
          <p:nvPr/>
        </p:nvSpPr>
        <p:spPr>
          <a:xfrm>
            <a:off x="7223760" y="3154680"/>
            <a:ext cx="4023360" cy="960120"/>
          </a:xfrm>
          <a:prstGeom prst="rect">
            <a:avLst/>
          </a:prstGeom>
          <a:noFill/>
          <a:ln/>
        </p:spPr>
        <p:txBody>
          <a:bodyPr wrap="square" lIns="0" tIns="0" rIns="0" bIns="0" rtlCol="0" anchor="ctr"/>
          <a:lstStyle/>
          <a:p>
            <a:pPr indent="0" marL="0">
              <a:buNone/>
            </a:pPr>
            <a:r>
              <a:rPr lang="en-US" sz="1700" dirty="0">
                <a:solidFill>
                  <a:srgbClr val="22201C"/>
                </a:solidFill>
                <a:latin typeface="Calibri" pitchFamily="34" charset="0"/>
                <a:ea typeface="Calibri" pitchFamily="34" charset="-122"/>
                <a:cs typeface="Calibri" pitchFamily="34" charset="-120"/>
              </a:rPr>
              <a:t>LGA-based routing and escalation</a:t>
            </a:r>
            <a:endParaRPr lang="en-US" sz="1700" dirty="0"/>
          </a:p>
        </p:txBody>
      </p:sp>
      <p:sp>
        <p:nvSpPr>
          <p:cNvPr id="16" name="Shape 14"/>
          <p:cNvSpPr/>
          <p:nvPr/>
        </p:nvSpPr>
        <p:spPr>
          <a:xfrm>
            <a:off x="548640" y="4480560"/>
            <a:ext cx="5303520" cy="1234440"/>
          </a:xfrm>
          <a:prstGeom prst="roundRect">
            <a:avLst>
              <a:gd name="adj" fmla="val 8889"/>
            </a:avLst>
          </a:prstGeom>
          <a:solidFill>
            <a:srgbClr val="F4EEE4"/>
          </a:solidFill>
          <a:ln/>
        </p:spPr>
      </p:sp>
      <p:sp>
        <p:nvSpPr>
          <p:cNvPr id="17" name="Text 15"/>
          <p:cNvSpPr txBox="1"/>
          <p:nvPr/>
        </p:nvSpPr>
        <p:spPr>
          <a:xfrm>
            <a:off x="777240" y="4663440"/>
            <a:ext cx="822960" cy="868680"/>
          </a:xfrm>
          <a:prstGeom prst="rect">
            <a:avLst/>
          </a:prstGeom>
          <a:noFill/>
          <a:ln/>
        </p:spPr>
        <p:txBody>
          <a:bodyPr wrap="square" lIns="0" tIns="0" rIns="0" bIns="0" rtlCol="0" anchor="ctr"/>
          <a:lstStyle/>
          <a:p>
            <a:pPr indent="0" marL="0">
              <a:buNone/>
            </a:pPr>
            <a:r>
              <a:rPr lang="en-US" sz="4000" b="1" dirty="0">
                <a:solidFill>
                  <a:srgbClr val="7A4A1F"/>
                </a:solidFill>
                <a:latin typeface="Cambria" pitchFamily="34" charset="0"/>
                <a:ea typeface="Cambria" pitchFamily="34" charset="-122"/>
                <a:cs typeface="Cambria" pitchFamily="34" charset="-120"/>
              </a:rPr>
              <a:t>5</a:t>
            </a:r>
            <a:endParaRPr lang="en-US" sz="4000" dirty="0"/>
          </a:p>
        </p:txBody>
      </p:sp>
      <p:sp>
        <p:nvSpPr>
          <p:cNvPr id="18" name="Text 16"/>
          <p:cNvSpPr txBox="1"/>
          <p:nvPr/>
        </p:nvSpPr>
        <p:spPr>
          <a:xfrm>
            <a:off x="1645920" y="4617720"/>
            <a:ext cx="4023360" cy="960120"/>
          </a:xfrm>
          <a:prstGeom prst="rect">
            <a:avLst/>
          </a:prstGeom>
          <a:noFill/>
          <a:ln/>
        </p:spPr>
        <p:txBody>
          <a:bodyPr wrap="square" lIns="0" tIns="0" rIns="0" bIns="0" rtlCol="0" anchor="ctr"/>
          <a:lstStyle/>
          <a:p>
            <a:pPr indent="0" marL="0">
              <a:buNone/>
            </a:pPr>
            <a:r>
              <a:rPr lang="en-US" sz="1700" dirty="0">
                <a:solidFill>
                  <a:srgbClr val="22201C"/>
                </a:solidFill>
                <a:latin typeface="Calibri" pitchFamily="34" charset="0"/>
                <a:ea typeface="Calibri" pitchFamily="34" charset="-122"/>
                <a:cs typeface="Calibri" pitchFamily="34" charset="-120"/>
              </a:rPr>
              <a:t>Security against forgery, replay, exposure and tampering</a:t>
            </a:r>
            <a:endParaRPr lang="en-US" sz="1700" dirty="0"/>
          </a:p>
        </p:txBody>
      </p:sp>
      <p:sp>
        <p:nvSpPr>
          <p:cNvPr id="19" name="Shape 17"/>
          <p:cNvSpPr/>
          <p:nvPr/>
        </p:nvSpPr>
        <p:spPr>
          <a:xfrm>
            <a:off x="6126480" y="4480560"/>
            <a:ext cx="5303520" cy="1234440"/>
          </a:xfrm>
          <a:prstGeom prst="roundRect">
            <a:avLst>
              <a:gd name="adj" fmla="val 8889"/>
            </a:avLst>
          </a:prstGeom>
          <a:solidFill>
            <a:srgbClr val="F4EEE4"/>
          </a:solidFill>
          <a:ln/>
        </p:spPr>
      </p:sp>
      <p:sp>
        <p:nvSpPr>
          <p:cNvPr id="20" name="Text 18"/>
          <p:cNvSpPr txBox="1"/>
          <p:nvPr/>
        </p:nvSpPr>
        <p:spPr>
          <a:xfrm>
            <a:off x="6355080" y="4663440"/>
            <a:ext cx="822960" cy="868680"/>
          </a:xfrm>
          <a:prstGeom prst="rect">
            <a:avLst/>
          </a:prstGeom>
          <a:noFill/>
          <a:ln/>
        </p:spPr>
        <p:txBody>
          <a:bodyPr wrap="square" lIns="0" tIns="0" rIns="0" bIns="0" rtlCol="0" anchor="ctr"/>
          <a:lstStyle/>
          <a:p>
            <a:pPr indent="0" marL="0">
              <a:buNone/>
            </a:pPr>
            <a:r>
              <a:rPr lang="en-US" sz="4000" b="1" dirty="0">
                <a:solidFill>
                  <a:srgbClr val="7A4A1F"/>
                </a:solidFill>
                <a:latin typeface="Cambria" pitchFamily="34" charset="0"/>
                <a:ea typeface="Cambria" pitchFamily="34" charset="-122"/>
                <a:cs typeface="Cambria" pitchFamily="34" charset="-120"/>
              </a:rPr>
              <a:t>6</a:t>
            </a:r>
            <a:endParaRPr lang="en-US" sz="4000" dirty="0"/>
          </a:p>
        </p:txBody>
      </p:sp>
      <p:sp>
        <p:nvSpPr>
          <p:cNvPr id="21" name="Text 19"/>
          <p:cNvSpPr txBox="1"/>
          <p:nvPr/>
        </p:nvSpPr>
        <p:spPr>
          <a:xfrm>
            <a:off x="7223760" y="4617720"/>
            <a:ext cx="4023360" cy="960120"/>
          </a:xfrm>
          <a:prstGeom prst="rect">
            <a:avLst/>
          </a:prstGeom>
          <a:noFill/>
          <a:ln/>
        </p:spPr>
        <p:txBody>
          <a:bodyPr wrap="square" lIns="0" tIns="0" rIns="0" bIns="0" rtlCol="0" anchor="ctr"/>
          <a:lstStyle/>
          <a:p>
            <a:pPr indent="0" marL="0">
              <a:buNone/>
            </a:pPr>
            <a:r>
              <a:rPr lang="en-US" sz="1700" dirty="0">
                <a:solidFill>
                  <a:srgbClr val="22201C"/>
                </a:solidFill>
                <a:latin typeface="Calibri" pitchFamily="34" charset="0"/>
                <a:ea typeface="Calibri" pitchFamily="34" charset="-122"/>
                <a:cs typeface="Calibri" pitchFamily="34" charset="-120"/>
              </a:rPr>
              <a:t>Evaluation by tests, demo and benchmarks</a:t>
            </a:r>
            <a:endParaRPr lang="en-US" sz="1700" dirty="0"/>
          </a:p>
        </p:txBody>
      </p:sp>
      <p:sp>
        <p:nvSpPr>
          <p:cNvPr id="22" name="Text 20"/>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Architecture</a:t>
            </a:r>
            <a:endParaRPr lang="en-US" sz="3400" dirty="0"/>
          </a:p>
        </p:txBody>
      </p:sp>
      <p:pic>
        <p:nvPicPr>
          <p:cNvPr id="4" name="Image 0" descr="/home/user/CMP-468/project2-agropeace/docs/img/architecture.png">    </p:cNvPr>
          <p:cNvPicPr>
            <a:picLocks noChangeAspect="1"/>
          </p:cNvPicPr>
          <p:nvPr/>
        </p:nvPicPr>
        <p:blipFill>
          <a:blip r:embed="rId1"/>
          <a:stretch>
            <a:fillRect/>
          </a:stretch>
        </p:blipFill>
        <p:spPr>
          <a:xfrm>
            <a:off x="1523848" y="1234440"/>
            <a:ext cx="9144000" cy="5064369"/>
          </a:xfrm>
          <a:prstGeom prst="rect">
            <a:avLst/>
          </a:prstGeom>
        </p:spPr>
      </p:pic>
      <p:sp>
        <p:nvSpPr>
          <p:cNvPr id="5" name="Text 2"/>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GIS RISK MODEL</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Five factors every mediator can understand</a:t>
            </a:r>
            <a:endParaRPr lang="en-US" sz="3400" dirty="0"/>
          </a:p>
        </p:txBody>
      </p:sp>
      <p:graphicFrame>
        <p:nvGraphicFramePr>
          <p:cNvPr id="4" name="Chart 0" descr=""/>
          <p:cNvGraphicFramePr/>
          <p:nvPr/>
        </p:nvGraphicFramePr>
        <p:xfrm>
          <a:off x="548640" y="137160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463040"/>
            <a:ext cx="4023360" cy="4389120"/>
          </a:xfrm>
          <a:prstGeom prst="roundRect">
            <a:avLst>
              <a:gd name="adj" fmla="val 2727"/>
            </a:avLst>
          </a:prstGeom>
          <a:solidFill>
            <a:srgbClr val="F4EEE4"/>
          </a:solidFill>
          <a:ln/>
        </p:spPr>
      </p:sp>
      <p:sp>
        <p:nvSpPr>
          <p:cNvPr id="6" name="Text 3"/>
          <p:cNvSpPr txBox="1"/>
          <p:nvPr/>
        </p:nvSpPr>
        <p:spPr>
          <a:xfrm>
            <a:off x="7863840" y="1645920"/>
            <a:ext cx="3566160" cy="457200"/>
          </a:xfrm>
          <a:prstGeom prst="rect">
            <a:avLst/>
          </a:prstGeom>
          <a:noFill/>
          <a:ln/>
        </p:spPr>
        <p:txBody>
          <a:bodyPr wrap="square" lIns="0" tIns="0" rIns="0" bIns="0" rtlCol="0" anchor="t"/>
          <a:lstStyle/>
          <a:p>
            <a:pPr indent="0" marL="0">
              <a:buNone/>
            </a:pPr>
            <a:r>
              <a:rPr lang="en-US" sz="2000" b="1" dirty="0">
                <a:solidFill>
                  <a:srgbClr val="7A4A1F"/>
                </a:solidFill>
                <a:latin typeface="Cambria" pitchFamily="34" charset="0"/>
                <a:ea typeface="Cambria" pitchFamily="34" charset="-122"/>
                <a:cs typeface="Cambria" pitchFamily="34" charset="-120"/>
              </a:rPr>
              <a:t>2,010 cells of 2.8 km</a:t>
            </a:r>
            <a:endParaRPr lang="en-US" sz="2000" dirty="0"/>
          </a:p>
        </p:txBody>
      </p:sp>
      <p:sp>
        <p:nvSpPr>
          <p:cNvPr id="7" name="Text 4"/>
          <p:cNvSpPr txBox="1"/>
          <p:nvPr/>
        </p:nvSpPr>
        <p:spPr>
          <a:xfrm>
            <a:off x="7863840" y="2240280"/>
            <a:ext cx="356616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Low &lt; 0.20 · elevated · high · severe ≥ 0.50</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Seasons built in: rains April to October, harvest to December, dry-season water stress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Every score names its drivers, e.g. "past incidents nearby, herds close to crops"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Weights to be calibrated with ACLED data</a:t>
            </a:r>
            <a:endParaRPr lang="en-US" sz="1500" dirty="0"/>
          </a:p>
        </p:txBody>
      </p:sp>
      <p:sp>
        <p:nvSpPr>
          <p:cNvPr id="8" name="Text 5"/>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REAL TIME</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See the herd coming, three hours ahead</a:t>
            </a:r>
            <a:endParaRPr lang="en-US" sz="3400" dirty="0"/>
          </a:p>
        </p:txBody>
      </p:sp>
      <p:pic>
        <p:nvPicPr>
          <p:cNvPr id="4" name="Image 0" descr="/home/user/CMP-468/project2-agropeace/docs/img/ap_forecast.png">    </p:cNvPr>
          <p:cNvPicPr>
            <a:picLocks noChangeAspect="1"/>
          </p:cNvPicPr>
          <p:nvPr/>
        </p:nvPicPr>
        <p:blipFill>
          <a:blip r:embed="rId1"/>
          <a:stretch>
            <a:fillRect/>
          </a:stretch>
        </p:blipFill>
        <p:spPr>
          <a:xfrm>
            <a:off x="548640" y="1280160"/>
            <a:ext cx="5870448" cy="4846320"/>
          </a:xfrm>
          <a:prstGeom prst="rect">
            <a:avLst/>
          </a:prstGeom>
        </p:spPr>
      </p:pic>
      <p:sp>
        <p:nvSpPr>
          <p:cNvPr id="5" name="Shape 2"/>
          <p:cNvSpPr/>
          <p:nvPr/>
        </p:nvSpPr>
        <p:spPr>
          <a:xfrm>
            <a:off x="7589520" y="1417320"/>
            <a:ext cx="594360" cy="594360"/>
          </a:xfrm>
          <a:prstGeom prst="ellipse">
            <a:avLst/>
          </a:prstGeom>
          <a:solidFill>
            <a:srgbClr val="7A4A1F"/>
          </a:solidFill>
          <a:ln/>
        </p:spPr>
      </p:sp>
      <p:pic>
        <p:nvPicPr>
          <p:cNvPr id="6" name="Image 1" descr="preencoded.png">    </p:cNvPr>
          <p:cNvPicPr>
            <a:picLocks noChangeAspect="1"/>
          </p:cNvPicPr>
          <p:nvPr/>
        </p:nvPicPr>
        <p:blipFill>
          <a:blip r:embed="rId2"/>
          <a:stretch>
            <a:fillRect/>
          </a:stretch>
        </p:blipFill>
        <p:spPr>
          <a:xfrm>
            <a:off x="7720279" y="1548079"/>
            <a:ext cx="332842" cy="332842"/>
          </a:xfrm>
          <a:prstGeom prst="rect">
            <a:avLst/>
          </a:prstGeom>
        </p:spPr>
      </p:pic>
      <p:sp>
        <p:nvSpPr>
          <p:cNvPr id="7" name="Text 3"/>
          <p:cNvSpPr txBox="1"/>
          <p:nvPr/>
        </p:nvSpPr>
        <p:spPr>
          <a:xfrm>
            <a:off x="8366760" y="1371600"/>
            <a:ext cx="3291840" cy="365760"/>
          </a:xfrm>
          <a:prstGeom prst="rect">
            <a:avLst/>
          </a:prstGeom>
          <a:noFill/>
          <a:ln/>
        </p:spPr>
        <p:txBody>
          <a:bodyPr wrap="square" lIns="0" tIns="0" rIns="0" bIns="0" rtlCol="0" anchor="t"/>
          <a:lstStyle/>
          <a:p>
            <a:pPr indent="0" marL="0">
              <a:buNone/>
            </a:pPr>
            <a:r>
              <a:rPr lang="en-US" sz="1800" b="1" dirty="0">
                <a:solidFill>
                  <a:srgbClr val="22201C"/>
                </a:solidFill>
                <a:latin typeface="Cambria" pitchFamily="34" charset="0"/>
                <a:ea typeface="Cambria" pitchFamily="34" charset="-122"/>
                <a:cs typeface="Cambria" pitchFamily="34" charset="-120"/>
              </a:rPr>
              <a:t>Forecast</a:t>
            </a:r>
            <a:endParaRPr lang="en-US" sz="1800" dirty="0"/>
          </a:p>
        </p:txBody>
      </p:sp>
      <p:sp>
        <p:nvSpPr>
          <p:cNvPr id="8" name="Text 4"/>
          <p:cNvSpPr txBox="1"/>
          <p:nvPr/>
        </p:nvSpPr>
        <p:spPr>
          <a:xfrm>
            <a:off x="8366760" y="1737360"/>
            <a:ext cx="3291840" cy="64008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position at +1, +2, +3 h from speed and heading</a:t>
            </a:r>
            <a:endParaRPr lang="en-US" sz="1400" dirty="0"/>
          </a:p>
        </p:txBody>
      </p:sp>
      <p:sp>
        <p:nvSpPr>
          <p:cNvPr id="9" name="Shape 5"/>
          <p:cNvSpPr/>
          <p:nvPr/>
        </p:nvSpPr>
        <p:spPr>
          <a:xfrm>
            <a:off x="7589520" y="2514600"/>
            <a:ext cx="594360" cy="594360"/>
          </a:xfrm>
          <a:prstGeom prst="ellipse">
            <a:avLst/>
          </a:prstGeom>
          <a:solidFill>
            <a:srgbClr val="7A4A1F"/>
          </a:solidFill>
          <a:ln/>
        </p:spPr>
      </p:sp>
      <p:pic>
        <p:nvPicPr>
          <p:cNvPr id="10" name="Image 2" descr="preencoded.png">    </p:cNvPr>
          <p:cNvPicPr>
            <a:picLocks noChangeAspect="1"/>
          </p:cNvPicPr>
          <p:nvPr/>
        </p:nvPicPr>
        <p:blipFill>
          <a:blip r:embed="rId3"/>
          <a:stretch>
            <a:fillRect/>
          </a:stretch>
        </p:blipFill>
        <p:spPr>
          <a:xfrm>
            <a:off x="7720279" y="2645359"/>
            <a:ext cx="332842" cy="332842"/>
          </a:xfrm>
          <a:prstGeom prst="rect">
            <a:avLst/>
          </a:prstGeom>
        </p:spPr>
      </p:pic>
      <p:sp>
        <p:nvSpPr>
          <p:cNvPr id="11" name="Text 6"/>
          <p:cNvSpPr txBox="1"/>
          <p:nvPr/>
        </p:nvSpPr>
        <p:spPr>
          <a:xfrm>
            <a:off x="8366760" y="2468880"/>
            <a:ext cx="3291840" cy="365760"/>
          </a:xfrm>
          <a:prstGeom prst="rect">
            <a:avLst/>
          </a:prstGeom>
          <a:noFill/>
          <a:ln/>
        </p:spPr>
        <p:txBody>
          <a:bodyPr wrap="square" lIns="0" tIns="0" rIns="0" bIns="0" rtlCol="0" anchor="t"/>
          <a:lstStyle/>
          <a:p>
            <a:pPr indent="0" marL="0">
              <a:buNone/>
            </a:pPr>
            <a:r>
              <a:rPr lang="en-US" sz="1800" b="1" dirty="0">
                <a:solidFill>
                  <a:srgbClr val="22201C"/>
                </a:solidFill>
                <a:latin typeface="Cambria" pitchFamily="34" charset="0"/>
                <a:ea typeface="Cambria" pitchFamily="34" charset="-122"/>
                <a:cs typeface="Cambria" pitchFamily="34" charset="-120"/>
              </a:rPr>
              <a:t>Early warning</a:t>
            </a:r>
            <a:endParaRPr lang="en-US" sz="1800" dirty="0"/>
          </a:p>
        </p:txBody>
      </p:sp>
      <p:sp>
        <p:nvSpPr>
          <p:cNvPr id="12" name="Text 7"/>
          <p:cNvSpPr txBox="1"/>
          <p:nvPr/>
        </p:nvSpPr>
        <p:spPr>
          <a:xfrm>
            <a:off x="8366760" y="2834640"/>
            <a:ext cx="3291840" cy="64008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forecast enters a farm: SMS to herder with safe route</a:t>
            </a:r>
            <a:endParaRPr lang="en-US" sz="1400" dirty="0"/>
          </a:p>
        </p:txBody>
      </p:sp>
      <p:sp>
        <p:nvSpPr>
          <p:cNvPr id="13" name="Shape 8"/>
          <p:cNvSpPr/>
          <p:nvPr/>
        </p:nvSpPr>
        <p:spPr>
          <a:xfrm>
            <a:off x="7589520" y="3611880"/>
            <a:ext cx="594360" cy="594360"/>
          </a:xfrm>
          <a:prstGeom prst="ellipse">
            <a:avLst/>
          </a:prstGeom>
          <a:solidFill>
            <a:srgbClr val="7A4A1F"/>
          </a:solidFill>
          <a:ln/>
        </p:spPr>
      </p:sp>
      <p:pic>
        <p:nvPicPr>
          <p:cNvPr id="14" name="Image 3" descr="preencoded.png">    </p:cNvPr>
          <p:cNvPicPr>
            <a:picLocks noChangeAspect="1"/>
          </p:cNvPicPr>
          <p:nvPr/>
        </p:nvPicPr>
        <p:blipFill>
          <a:blip r:embed="rId4"/>
          <a:stretch>
            <a:fillRect/>
          </a:stretch>
        </p:blipFill>
        <p:spPr>
          <a:xfrm>
            <a:off x="7720279" y="3742639"/>
            <a:ext cx="332842" cy="332842"/>
          </a:xfrm>
          <a:prstGeom prst="rect">
            <a:avLst/>
          </a:prstGeom>
        </p:spPr>
      </p:pic>
      <p:sp>
        <p:nvSpPr>
          <p:cNvPr id="15" name="Text 9"/>
          <p:cNvSpPr txBox="1"/>
          <p:nvPr/>
        </p:nvSpPr>
        <p:spPr>
          <a:xfrm>
            <a:off x="8366760" y="3566160"/>
            <a:ext cx="3291840" cy="365760"/>
          </a:xfrm>
          <a:prstGeom prst="rect">
            <a:avLst/>
          </a:prstGeom>
          <a:noFill/>
          <a:ln/>
        </p:spPr>
        <p:txBody>
          <a:bodyPr wrap="square" lIns="0" tIns="0" rIns="0" bIns="0" rtlCol="0" anchor="t"/>
          <a:lstStyle/>
          <a:p>
            <a:pPr indent="0" marL="0">
              <a:buNone/>
            </a:pPr>
            <a:r>
              <a:rPr lang="en-US" sz="1800" b="1" dirty="0">
                <a:solidFill>
                  <a:srgbClr val="22201C"/>
                </a:solidFill>
                <a:latin typeface="Cambria" pitchFamily="34" charset="0"/>
                <a:ea typeface="Cambria" pitchFamily="34" charset="-122"/>
                <a:cs typeface="Cambria" pitchFamily="34" charset="-120"/>
              </a:rPr>
              <a:t>Incursion</a:t>
            </a:r>
            <a:endParaRPr lang="en-US" sz="1800" dirty="0"/>
          </a:p>
        </p:txBody>
      </p:sp>
      <p:sp>
        <p:nvSpPr>
          <p:cNvPr id="16" name="Text 10"/>
          <p:cNvSpPr txBox="1"/>
          <p:nvPr/>
        </p:nvSpPr>
        <p:spPr>
          <a:xfrm>
            <a:off x="8366760" y="3931920"/>
            <a:ext cx="3291840" cy="64008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herd inside farm: case to peace committee</a:t>
            </a:r>
            <a:endParaRPr lang="en-US" sz="1400" dirty="0"/>
          </a:p>
        </p:txBody>
      </p:sp>
      <p:sp>
        <p:nvSpPr>
          <p:cNvPr id="17" name="Shape 11"/>
          <p:cNvSpPr/>
          <p:nvPr/>
        </p:nvSpPr>
        <p:spPr>
          <a:xfrm>
            <a:off x="7589520" y="4709160"/>
            <a:ext cx="594360" cy="594360"/>
          </a:xfrm>
          <a:prstGeom prst="ellipse">
            <a:avLst/>
          </a:prstGeom>
          <a:solidFill>
            <a:srgbClr val="7A4A1F"/>
          </a:solidFill>
          <a:ln/>
        </p:spPr>
      </p:sp>
      <p:pic>
        <p:nvPicPr>
          <p:cNvPr id="18" name="Image 4" descr="preencoded.png">    </p:cNvPr>
          <p:cNvPicPr>
            <a:picLocks noChangeAspect="1"/>
          </p:cNvPicPr>
          <p:nvPr/>
        </p:nvPicPr>
        <p:blipFill>
          <a:blip r:embed="rId5"/>
          <a:stretch>
            <a:fillRect/>
          </a:stretch>
        </p:blipFill>
        <p:spPr>
          <a:xfrm>
            <a:off x="7720279" y="4839919"/>
            <a:ext cx="332842" cy="332842"/>
          </a:xfrm>
          <a:prstGeom prst="rect">
            <a:avLst/>
          </a:prstGeom>
        </p:spPr>
      </p:pic>
      <p:sp>
        <p:nvSpPr>
          <p:cNvPr id="19" name="Text 12"/>
          <p:cNvSpPr txBox="1"/>
          <p:nvPr/>
        </p:nvSpPr>
        <p:spPr>
          <a:xfrm>
            <a:off x="8366760" y="4663440"/>
            <a:ext cx="3291840" cy="365760"/>
          </a:xfrm>
          <a:prstGeom prst="rect">
            <a:avLst/>
          </a:prstGeom>
          <a:noFill/>
          <a:ln/>
        </p:spPr>
        <p:txBody>
          <a:bodyPr wrap="square" lIns="0" tIns="0" rIns="0" bIns="0" rtlCol="0" anchor="t"/>
          <a:lstStyle/>
          <a:p>
            <a:pPr indent="0" marL="0">
              <a:buNone/>
            </a:pPr>
            <a:r>
              <a:rPr lang="en-US" sz="1800" b="1" dirty="0">
                <a:solidFill>
                  <a:srgbClr val="22201C"/>
                </a:solidFill>
                <a:latin typeface="Cambria" pitchFamily="34" charset="0"/>
                <a:ea typeface="Cambria" pitchFamily="34" charset="-122"/>
                <a:cs typeface="Cambria" pitchFamily="34" charset="-120"/>
              </a:rPr>
              <a:t>No repeats</a:t>
            </a:r>
            <a:endParaRPr lang="en-US" sz="1800" dirty="0"/>
          </a:p>
        </p:txBody>
      </p:sp>
      <p:sp>
        <p:nvSpPr>
          <p:cNvPr id="20" name="Text 13"/>
          <p:cNvSpPr txBox="1"/>
          <p:nvPr/>
        </p:nvSpPr>
        <p:spPr>
          <a:xfrm>
            <a:off x="8366760" y="5029200"/>
            <a:ext cx="3291840" cy="64008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events fire only when the zone changes</a:t>
            </a:r>
            <a:endParaRPr lang="en-US" sz="1400" dirty="0"/>
          </a:p>
        </p:txBody>
      </p:sp>
      <p:sp>
        <p:nvSpPr>
          <p:cNvPr id="21" name="Text 14"/>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EARLY WARNING TO THE HERDER</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Tell them where to go, in their language</a:t>
            </a:r>
            <a:endParaRPr lang="en-US" sz="3400" dirty="0"/>
          </a:p>
        </p:txBody>
      </p:sp>
      <p:sp>
        <p:nvSpPr>
          <p:cNvPr id="4" name="Shape 2"/>
          <p:cNvSpPr/>
          <p:nvPr/>
        </p:nvSpPr>
        <p:spPr>
          <a:xfrm>
            <a:off x="914400" y="1371600"/>
            <a:ext cx="3840480" cy="4754880"/>
          </a:xfrm>
          <a:prstGeom prst="roundRect">
            <a:avLst>
              <a:gd name="adj" fmla="val 8333"/>
            </a:avLst>
          </a:prstGeom>
          <a:solidFill>
            <a:srgbClr val="1B1B1B"/>
          </a:solidFill>
          <a:ln/>
        </p:spPr>
      </p:sp>
      <p:sp>
        <p:nvSpPr>
          <p:cNvPr id="5" name="Shape 3"/>
          <p:cNvSpPr/>
          <p:nvPr/>
        </p:nvSpPr>
        <p:spPr>
          <a:xfrm>
            <a:off x="1143000" y="1783080"/>
            <a:ext cx="3383280" cy="3931920"/>
          </a:xfrm>
          <a:prstGeom prst="roundRect">
            <a:avLst>
              <a:gd name="adj" fmla="val 2703"/>
            </a:avLst>
          </a:prstGeom>
          <a:solidFill>
            <a:srgbClr val="F2EFE8"/>
          </a:solidFill>
          <a:ln/>
        </p:spPr>
      </p:sp>
      <p:sp>
        <p:nvSpPr>
          <p:cNvPr id="6" name="Text 4"/>
          <p:cNvSpPr txBox="1"/>
          <p:nvPr/>
        </p:nvSpPr>
        <p:spPr>
          <a:xfrm>
            <a:off x="1325880" y="1920240"/>
            <a:ext cx="3017520" cy="320040"/>
          </a:xfrm>
          <a:prstGeom prst="rect">
            <a:avLst/>
          </a:prstGeom>
          <a:noFill/>
          <a:ln/>
        </p:spPr>
        <p:txBody>
          <a:bodyPr wrap="square" lIns="0" tIns="0" rIns="0" bIns="0" rtlCol="0" anchor="t"/>
          <a:lstStyle/>
          <a:p>
            <a:pPr indent="0" marL="0">
              <a:buNone/>
            </a:pPr>
            <a:r>
              <a:rPr lang="en-US" sz="1300" b="1" dirty="0">
                <a:solidFill>
                  <a:srgbClr val="7A4A1F"/>
                </a:solidFill>
                <a:latin typeface="Calibri" pitchFamily="34" charset="0"/>
                <a:ea typeface="Calibri" pitchFamily="34" charset="-122"/>
                <a:cs typeface="Calibri" pitchFamily="34" charset="-120"/>
              </a:rPr>
              <a:t>AgroPeace</a:t>
            </a:r>
            <a:endParaRPr lang="en-US" sz="1300" dirty="0"/>
          </a:p>
        </p:txBody>
      </p:sp>
      <p:sp>
        <p:nvSpPr>
          <p:cNvPr id="7" name="Shape 5"/>
          <p:cNvSpPr/>
          <p:nvPr/>
        </p:nvSpPr>
        <p:spPr>
          <a:xfrm>
            <a:off x="1280160" y="2286000"/>
            <a:ext cx="3108960" cy="2468880"/>
          </a:xfrm>
          <a:prstGeom prst="roundRect">
            <a:avLst>
              <a:gd name="adj" fmla="val 4444"/>
            </a:avLst>
          </a:prstGeom>
          <a:solidFill>
            <a:srgbClr val="FFFFFF"/>
          </a:solidFill>
          <a:ln w="12700">
            <a:solidFill>
              <a:srgbClr val="D8D2C6"/>
            </a:solidFill>
            <a:prstDash val="solid"/>
          </a:ln>
        </p:spPr>
      </p:sp>
      <p:sp>
        <p:nvSpPr>
          <p:cNvPr id="8" name="Text 6"/>
          <p:cNvSpPr txBox="1"/>
          <p:nvPr/>
        </p:nvSpPr>
        <p:spPr>
          <a:xfrm>
            <a:off x="1417320" y="2377440"/>
            <a:ext cx="2834640" cy="2286000"/>
          </a:xfrm>
          <a:prstGeom prst="rect">
            <a:avLst/>
          </a:prstGeom>
          <a:noFill/>
          <a:ln/>
        </p:spPr>
        <p:txBody>
          <a:bodyPr wrap="square" lIns="0" tIns="0" rIns="0" bIns="0" rtlCol="0" anchor="t"/>
          <a:lstStyle/>
          <a:p>
            <a:pPr indent="0" marL="0">
              <a:buNone/>
            </a:pPr>
            <a:r>
              <a:rPr lang="en-US" sz="1400" dirty="0">
                <a:solidFill>
                  <a:srgbClr val="22201C"/>
                </a:solidFill>
                <a:latin typeface="Calibri" pitchFamily="34" charset="0"/>
                <a:ea typeface="Calibri" pitchFamily="34" charset="-122"/>
                <a:cs typeface="Calibri" pitchFamily="34" charset="-120"/>
              </a:rPr>
              <a:t>AgroPeace gargadi: garken ku H1 zai kai gonaki kusa da Yelwata cikin awa 3. Ku juya zuwa Guma East Grazing Reserve (NE) ta hanyar Route R2.</a:t>
            </a:r>
            <a:endParaRPr lang="en-US" sz="1400" dirty="0"/>
          </a:p>
        </p:txBody>
      </p:sp>
      <p:sp>
        <p:nvSpPr>
          <p:cNvPr id="9" name="Shape 7"/>
          <p:cNvSpPr/>
          <p:nvPr/>
        </p:nvSpPr>
        <p:spPr>
          <a:xfrm>
            <a:off x="5486400" y="1463040"/>
            <a:ext cx="6126480" cy="1920240"/>
          </a:xfrm>
          <a:prstGeom prst="roundRect">
            <a:avLst>
              <a:gd name="adj" fmla="val 5714"/>
            </a:avLst>
          </a:prstGeom>
          <a:solidFill>
            <a:srgbClr val="F4EEE4"/>
          </a:solidFill>
          <a:ln/>
        </p:spPr>
      </p:sp>
      <p:sp>
        <p:nvSpPr>
          <p:cNvPr id="10" name="Text 8"/>
          <p:cNvSpPr txBox="1"/>
          <p:nvPr/>
        </p:nvSpPr>
        <p:spPr>
          <a:xfrm>
            <a:off x="5760720" y="1600200"/>
            <a:ext cx="5486400" cy="365760"/>
          </a:xfrm>
          <a:prstGeom prst="rect">
            <a:avLst/>
          </a:prstGeom>
          <a:noFill/>
          <a:ln/>
        </p:spPr>
        <p:txBody>
          <a:bodyPr wrap="square" lIns="0" tIns="0" rIns="0" bIns="0" rtlCol="0" anchor="t"/>
          <a:lstStyle/>
          <a:p>
            <a:pPr indent="0" marL="0">
              <a:buNone/>
            </a:pPr>
            <a:r>
              <a:rPr lang="en-US" sz="1800" b="1" dirty="0">
                <a:solidFill>
                  <a:srgbClr val="7A4A1F"/>
                </a:solidFill>
                <a:latin typeface="Cambria" pitchFamily="34" charset="0"/>
                <a:ea typeface="Cambria" pitchFamily="34" charset="-122"/>
                <a:cs typeface="Cambria" pitchFamily="34" charset="-120"/>
              </a:rPr>
              <a:t>English meaning</a:t>
            </a:r>
            <a:endParaRPr lang="en-US" sz="1800" dirty="0"/>
          </a:p>
        </p:txBody>
      </p:sp>
      <p:sp>
        <p:nvSpPr>
          <p:cNvPr id="11" name="Text 9"/>
          <p:cNvSpPr txBox="1"/>
          <p:nvPr/>
        </p:nvSpPr>
        <p:spPr>
          <a:xfrm>
            <a:off x="5760720" y="2011680"/>
            <a:ext cx="5577840" cy="128016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Warning: your herd H1 will reach farms near Yelwata in about 3 hours. Turn toward Guma East Grazing Reserve (north-east) along Route R2.</a:t>
            </a:r>
            <a:endParaRPr lang="en-US" sz="1500" dirty="0"/>
          </a:p>
        </p:txBody>
      </p:sp>
      <p:sp>
        <p:nvSpPr>
          <p:cNvPr id="12" name="Text 10"/>
          <p:cNvSpPr txBox="1"/>
          <p:nvPr/>
        </p:nvSpPr>
        <p:spPr>
          <a:xfrm>
            <a:off x="5486400" y="3657600"/>
            <a:ext cx="612648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Hausa, Nigerian Pidgin and English templates; Tiv, Idoma and Fulfulde to add with native speakers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Nearest reserve, compass direction and stock route come from the GIS layers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Plain SMS: works on any phone, no data</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Outbox never stores phone numbers</a:t>
            </a:r>
            <a:endParaRPr lang="en-US" sz="1500" dirty="0"/>
          </a:p>
        </p:txBody>
      </p:sp>
      <p:sp>
        <p:nvSpPr>
          <p:cNvPr id="13" name="Text 11"/>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COMMUNITY REPORTING</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Every phone can report, rumours stay put</a:t>
            </a:r>
            <a:endParaRPr lang="en-US" sz="3400" dirty="0"/>
          </a:p>
        </p:txBody>
      </p:sp>
      <p:sp>
        <p:nvSpPr>
          <p:cNvPr id="4" name="Shape 2"/>
          <p:cNvSpPr/>
          <p:nvPr/>
        </p:nvSpPr>
        <p:spPr>
          <a:xfrm>
            <a:off x="914400" y="1371600"/>
            <a:ext cx="3840480" cy="4754880"/>
          </a:xfrm>
          <a:prstGeom prst="roundRect">
            <a:avLst>
              <a:gd name="adj" fmla="val 8333"/>
            </a:avLst>
          </a:prstGeom>
          <a:solidFill>
            <a:srgbClr val="1B1B1B"/>
          </a:solidFill>
          <a:ln/>
        </p:spPr>
      </p:sp>
      <p:sp>
        <p:nvSpPr>
          <p:cNvPr id="5" name="Shape 3"/>
          <p:cNvSpPr/>
          <p:nvPr/>
        </p:nvSpPr>
        <p:spPr>
          <a:xfrm>
            <a:off x="1143000" y="1783080"/>
            <a:ext cx="3383280" cy="3108960"/>
          </a:xfrm>
          <a:prstGeom prst="rect">
            <a:avLst/>
          </a:prstGeom>
          <a:solidFill>
            <a:srgbClr val="0E2415"/>
          </a:solidFill>
          <a:ln/>
        </p:spPr>
      </p:sp>
      <p:sp>
        <p:nvSpPr>
          <p:cNvPr id="6" name="Text 4"/>
          <p:cNvSpPr txBox="1"/>
          <p:nvPr/>
        </p:nvSpPr>
        <p:spPr>
          <a:xfrm>
            <a:off x="1325880" y="1920240"/>
            <a:ext cx="3017520" cy="2834640"/>
          </a:xfrm>
          <a:prstGeom prst="rect">
            <a:avLst/>
          </a:prstGeom>
          <a:noFill/>
          <a:ln/>
        </p:spPr>
        <p:txBody>
          <a:bodyPr wrap="square" lIns="0" tIns="0" rIns="0" bIns="0" rtlCol="0" anchor="t"/>
          <a:lstStyle/>
          <a:p>
            <a:pPr indent="0" marL="0">
              <a:buNone/>
            </a:pPr>
            <a:r>
              <a:rPr lang="en-US" sz="1400" dirty="0">
                <a:solidFill>
                  <a:srgbClr val="B7F5C6"/>
                </a:solidFill>
                <a:latin typeface="Courier New" pitchFamily="34" charset="0"/>
                <a:ea typeface="Courier New" pitchFamily="34" charset="-122"/>
                <a:cs typeface="Courier New" pitchFamily="34" charset="-120"/>
              </a:rPr>
              <a:t>*347*468#</a:t>
            </a:r>
            <a:endParaRPr lang="en-US" sz="1400" dirty="0"/>
          </a:p>
          <a:p>
            <a:pPr indent="0" marL="0">
              <a:buNone/>
            </a:pPr>
            <a:endParaRPr lang="en-US" sz="1400" dirty="0"/>
          </a:p>
          <a:p>
            <a:pPr indent="0" marL="0">
              <a:buNone/>
            </a:pPr>
            <a:r>
              <a:rPr lang="en-US" sz="1400" dirty="0">
                <a:solidFill>
                  <a:srgbClr val="B7F5C6"/>
                </a:solidFill>
                <a:latin typeface="Courier New" pitchFamily="34" charset="0"/>
                <a:ea typeface="Courier New" pitchFamily="34" charset="-122"/>
                <a:cs typeface="Courier New" pitchFamily="34" charset="-120"/>
              </a:rPr>
              <a:t>AgroPeace (Benue)</a:t>
            </a:r>
            <a:endParaRPr lang="en-US" sz="1400" dirty="0"/>
          </a:p>
          <a:p>
            <a:pPr indent="0" marL="0">
              <a:buNone/>
            </a:pPr>
            <a:r>
              <a:rPr lang="en-US" sz="1400" dirty="0">
                <a:solidFill>
                  <a:srgbClr val="B7F5C6"/>
                </a:solidFill>
                <a:latin typeface="Courier New" pitchFamily="34" charset="0"/>
                <a:ea typeface="Courier New" pitchFamily="34" charset="-122"/>
                <a:cs typeface="Courier New" pitchFamily="34" charset="-120"/>
              </a:rPr>
              <a:t>1. Cattle on my farm</a:t>
            </a:r>
            <a:endParaRPr lang="en-US" sz="1400" dirty="0"/>
          </a:p>
          <a:p>
            <a:pPr indent="0" marL="0">
              <a:buNone/>
            </a:pPr>
            <a:r>
              <a:rPr lang="en-US" sz="1400" dirty="0">
                <a:solidFill>
                  <a:srgbClr val="B7F5C6"/>
                </a:solidFill>
                <a:latin typeface="Courier New" pitchFamily="34" charset="0"/>
                <a:ea typeface="Courier New" pitchFamily="34" charset="-122"/>
                <a:cs typeface="Courier New" pitchFamily="34" charset="-120"/>
              </a:rPr>
              <a:t>2. Threat or attack</a:t>
            </a:r>
            <a:endParaRPr lang="en-US" sz="1400" dirty="0"/>
          </a:p>
          <a:p>
            <a:pPr indent="0" marL="0">
              <a:buNone/>
            </a:pPr>
            <a:r>
              <a:rPr lang="en-US" sz="1400" dirty="0">
                <a:solidFill>
                  <a:srgbClr val="B7F5C6"/>
                </a:solidFill>
                <a:latin typeface="Courier New" pitchFamily="34" charset="0"/>
                <a:ea typeface="Courier New" pitchFamily="34" charset="-122"/>
                <a:cs typeface="Courier New" pitchFamily="34" charset="-120"/>
              </a:rPr>
              <a:t>3. Cattle stolen</a:t>
            </a:r>
            <a:endParaRPr lang="en-US" sz="1400" dirty="0"/>
          </a:p>
          <a:p>
            <a:pPr indent="0" marL="0">
              <a:buNone/>
            </a:pPr>
            <a:r>
              <a:rPr lang="en-US" sz="1400" dirty="0">
                <a:solidFill>
                  <a:srgbClr val="B7F5C6"/>
                </a:solidFill>
                <a:latin typeface="Courier New" pitchFamily="34" charset="0"/>
                <a:ea typeface="Courier New" pitchFamily="34" charset="-122"/>
                <a:cs typeface="Courier New" pitchFamily="34" charset="-120"/>
              </a:rPr>
              <a:t>4. Check risk in my area</a:t>
            </a:r>
            <a:endParaRPr lang="en-US" sz="1400" dirty="0"/>
          </a:p>
        </p:txBody>
      </p:sp>
      <p:sp>
        <p:nvSpPr>
          <p:cNvPr id="7" name="Text 5"/>
          <p:cNvSpPr txBox="1"/>
          <p:nvPr/>
        </p:nvSpPr>
        <p:spPr>
          <a:xfrm>
            <a:off x="1143000" y="5074920"/>
            <a:ext cx="3383280" cy="731520"/>
          </a:xfrm>
          <a:prstGeom prst="rect">
            <a:avLst/>
          </a:prstGeom>
          <a:noFill/>
          <a:ln/>
        </p:spPr>
        <p:txBody>
          <a:bodyPr wrap="square" lIns="0" tIns="0" rIns="0" bIns="0" rtlCol="0" anchor="t"/>
          <a:lstStyle/>
          <a:p>
            <a:pPr algn="ctr" indent="0" marL="0">
              <a:buNone/>
            </a:pPr>
            <a:r>
              <a:rPr lang="en-US" sz="1300" dirty="0">
                <a:solidFill>
                  <a:srgbClr val="CFE8D5"/>
                </a:solidFill>
                <a:latin typeface="Calibri" pitchFamily="34" charset="0"/>
                <a:ea typeface="Calibri" pitchFamily="34" charset="-122"/>
                <a:cs typeface="Calibri" pitchFamily="34" charset="-120"/>
              </a:rPr>
              <a:t>Type, LGA, community, confirm</a:t>
            </a:r>
            <a:endParaRPr lang="en-US" sz="1300" dirty="0"/>
          </a:p>
        </p:txBody>
      </p:sp>
      <p:sp>
        <p:nvSpPr>
          <p:cNvPr id="8" name="Text 6"/>
          <p:cNvSpPr txBox="1"/>
          <p:nvPr/>
        </p:nvSpPr>
        <p:spPr>
          <a:xfrm>
            <a:off x="5486400" y="1417320"/>
            <a:ext cx="2560320" cy="731520"/>
          </a:xfrm>
          <a:prstGeom prst="rect">
            <a:avLst/>
          </a:prstGeom>
          <a:noFill/>
          <a:ln/>
        </p:spPr>
        <p:txBody>
          <a:bodyPr wrap="square" lIns="0" tIns="0" rIns="0" bIns="0" rtlCol="0" anchor="ctr"/>
          <a:lstStyle/>
          <a:p>
            <a:pPr indent="0" marL="0">
              <a:buNone/>
            </a:pPr>
            <a:r>
              <a:rPr lang="en-US" sz="1700" b="1" dirty="0">
                <a:solidFill>
                  <a:srgbClr val="22201C"/>
                </a:solidFill>
                <a:latin typeface="Cambria" pitchFamily="34" charset="0"/>
                <a:ea typeface="Cambria" pitchFamily="34" charset="-122"/>
                <a:cs typeface="Cambria" pitchFamily="34" charset="-120"/>
              </a:rPr>
              <a:t>Channel base</a:t>
            </a:r>
            <a:endParaRPr lang="en-US" sz="1700" dirty="0"/>
          </a:p>
        </p:txBody>
      </p:sp>
      <p:sp>
        <p:nvSpPr>
          <p:cNvPr id="9" name="Text 7"/>
          <p:cNvSpPr txBox="1"/>
          <p:nvPr/>
        </p:nvSpPr>
        <p:spPr>
          <a:xfrm>
            <a:off x="8046720" y="1417320"/>
            <a:ext cx="3566160" cy="731520"/>
          </a:xfrm>
          <a:prstGeom prst="rect">
            <a:avLst/>
          </a:prstGeom>
          <a:noFill/>
          <a:ln/>
        </p:spPr>
        <p:txBody>
          <a:bodyPr wrap="square" lIns="0" tIns="0" rIns="0" bIns="0" rtlCol="0" anchor="ctr"/>
          <a:lstStyle/>
          <a:p>
            <a:pPr indent="0" marL="0">
              <a:buNone/>
            </a:pPr>
            <a:r>
              <a:rPr lang="en-US" sz="1400" dirty="0">
                <a:solidFill>
                  <a:srgbClr val="6B645A"/>
                </a:solidFill>
                <a:latin typeface="Calibri" pitchFamily="34" charset="0"/>
                <a:ea typeface="Calibri" pitchFamily="34" charset="-122"/>
                <a:cs typeface="Calibri" pitchFamily="34" charset="-120"/>
              </a:rPr>
              <a:t>mediator 0.85 · USSD 0.40 · anonymous web 0.30</a:t>
            </a:r>
            <a:endParaRPr lang="en-US" sz="1400" dirty="0"/>
          </a:p>
        </p:txBody>
      </p:sp>
      <p:sp>
        <p:nvSpPr>
          <p:cNvPr id="10" name="Text 8"/>
          <p:cNvSpPr txBox="1"/>
          <p:nvPr/>
        </p:nvSpPr>
        <p:spPr>
          <a:xfrm>
            <a:off x="5486400" y="2286000"/>
            <a:ext cx="2560320" cy="731520"/>
          </a:xfrm>
          <a:prstGeom prst="rect">
            <a:avLst/>
          </a:prstGeom>
          <a:noFill/>
          <a:ln/>
        </p:spPr>
        <p:txBody>
          <a:bodyPr wrap="square" lIns="0" tIns="0" rIns="0" bIns="0" rtlCol="0" anchor="ctr"/>
          <a:lstStyle/>
          <a:p>
            <a:pPr indent="0" marL="0">
              <a:buNone/>
            </a:pPr>
            <a:r>
              <a:rPr lang="en-US" sz="1700" b="1" dirty="0">
                <a:solidFill>
                  <a:srgbClr val="22201C"/>
                </a:solidFill>
                <a:latin typeface="Cambria" pitchFamily="34" charset="0"/>
                <a:ea typeface="Cambria" pitchFamily="34" charset="-122"/>
                <a:cs typeface="Cambria" pitchFamily="34" charset="-120"/>
              </a:rPr>
              <a:t>+ independent reporters</a:t>
            </a:r>
            <a:endParaRPr lang="en-US" sz="1700" dirty="0"/>
          </a:p>
        </p:txBody>
      </p:sp>
      <p:sp>
        <p:nvSpPr>
          <p:cNvPr id="11" name="Text 9"/>
          <p:cNvSpPr txBox="1"/>
          <p:nvPr/>
        </p:nvSpPr>
        <p:spPr>
          <a:xfrm>
            <a:off x="8046720" y="2286000"/>
            <a:ext cx="3566160" cy="731520"/>
          </a:xfrm>
          <a:prstGeom prst="rect">
            <a:avLst/>
          </a:prstGeom>
          <a:noFill/>
          <a:ln/>
        </p:spPr>
        <p:txBody>
          <a:bodyPr wrap="square" lIns="0" tIns="0" rIns="0" bIns="0" rtlCol="0" anchor="ctr"/>
          <a:lstStyle/>
          <a:p>
            <a:pPr indent="0" marL="0">
              <a:buNone/>
            </a:pPr>
            <a:r>
              <a:rPr lang="en-US" sz="1400" dirty="0">
                <a:solidFill>
                  <a:srgbClr val="6B645A"/>
                </a:solidFill>
                <a:latin typeface="Calibri" pitchFamily="34" charset="0"/>
                <a:ea typeface="Calibri" pitchFamily="34" charset="-122"/>
                <a:cs typeface="Calibri" pitchFamily="34" charset="-120"/>
              </a:rPr>
              <a:t>+0.15 each within 3 km and 6 h (max +0.30)</a:t>
            </a:r>
            <a:endParaRPr lang="en-US" sz="1400" dirty="0"/>
          </a:p>
        </p:txBody>
      </p:sp>
      <p:sp>
        <p:nvSpPr>
          <p:cNvPr id="12" name="Text 10"/>
          <p:cNvSpPr txBox="1"/>
          <p:nvPr/>
        </p:nvSpPr>
        <p:spPr>
          <a:xfrm>
            <a:off x="5486400" y="3154680"/>
            <a:ext cx="2560320" cy="731520"/>
          </a:xfrm>
          <a:prstGeom prst="rect">
            <a:avLst/>
          </a:prstGeom>
          <a:noFill/>
          <a:ln/>
        </p:spPr>
        <p:txBody>
          <a:bodyPr wrap="square" lIns="0" tIns="0" rIns="0" bIns="0" rtlCol="0" anchor="ctr"/>
          <a:lstStyle/>
          <a:p>
            <a:pPr indent="0" marL="0">
              <a:buNone/>
            </a:pPr>
            <a:r>
              <a:rPr lang="en-US" sz="1700" b="1" dirty="0">
                <a:solidFill>
                  <a:srgbClr val="22201C"/>
                </a:solidFill>
                <a:latin typeface="Cambria" pitchFamily="34" charset="0"/>
                <a:ea typeface="Cambria" pitchFamily="34" charset="-122"/>
                <a:cs typeface="Cambria" pitchFamily="34" charset="-120"/>
              </a:rPr>
              <a:t>+ GPS confirmation</a:t>
            </a:r>
            <a:endParaRPr lang="en-US" sz="1700" dirty="0"/>
          </a:p>
        </p:txBody>
      </p:sp>
      <p:sp>
        <p:nvSpPr>
          <p:cNvPr id="13" name="Text 11"/>
          <p:cNvSpPr txBox="1"/>
          <p:nvPr/>
        </p:nvSpPr>
        <p:spPr>
          <a:xfrm>
            <a:off x="8046720" y="3154680"/>
            <a:ext cx="3566160" cy="731520"/>
          </a:xfrm>
          <a:prstGeom prst="rect">
            <a:avLst/>
          </a:prstGeom>
          <a:noFill/>
          <a:ln/>
        </p:spPr>
        <p:txBody>
          <a:bodyPr wrap="square" lIns="0" tIns="0" rIns="0" bIns="0" rtlCol="0" anchor="ctr"/>
          <a:lstStyle/>
          <a:p>
            <a:pPr indent="0" marL="0">
              <a:buNone/>
            </a:pPr>
            <a:r>
              <a:rPr lang="en-US" sz="1400" dirty="0">
                <a:solidFill>
                  <a:srgbClr val="6B645A"/>
                </a:solidFill>
                <a:latin typeface="Calibri" pitchFamily="34" charset="0"/>
                <a:ea typeface="Calibri" pitchFamily="34" charset="-122"/>
                <a:cs typeface="Calibri" pitchFamily="34" charset="-120"/>
              </a:rPr>
              <a:t>+0.25 if a collar shows a herd within 2 km</a:t>
            </a:r>
            <a:endParaRPr lang="en-US" sz="1400" dirty="0"/>
          </a:p>
        </p:txBody>
      </p:sp>
      <p:sp>
        <p:nvSpPr>
          <p:cNvPr id="14" name="Text 12"/>
          <p:cNvSpPr txBox="1"/>
          <p:nvPr/>
        </p:nvSpPr>
        <p:spPr>
          <a:xfrm>
            <a:off x="5486400" y="4023360"/>
            <a:ext cx="2560320" cy="731520"/>
          </a:xfrm>
          <a:prstGeom prst="rect">
            <a:avLst/>
          </a:prstGeom>
          <a:noFill/>
          <a:ln/>
        </p:spPr>
        <p:txBody>
          <a:bodyPr wrap="square" lIns="0" tIns="0" rIns="0" bIns="0" rtlCol="0" anchor="ctr"/>
          <a:lstStyle/>
          <a:p>
            <a:pPr indent="0" marL="0">
              <a:buNone/>
            </a:pPr>
            <a:r>
              <a:rPr lang="en-US" sz="1700" b="1" dirty="0">
                <a:solidFill>
                  <a:srgbClr val="22201C"/>
                </a:solidFill>
                <a:latin typeface="Cambria" pitchFamily="34" charset="0"/>
                <a:ea typeface="Cambria" pitchFamily="34" charset="-122"/>
                <a:cs typeface="Cambria" pitchFamily="34" charset="-120"/>
              </a:rPr>
              <a:t>± reputation</a:t>
            </a:r>
            <a:endParaRPr lang="en-US" sz="1700" dirty="0"/>
          </a:p>
        </p:txBody>
      </p:sp>
      <p:sp>
        <p:nvSpPr>
          <p:cNvPr id="15" name="Text 13"/>
          <p:cNvSpPr txBox="1"/>
          <p:nvPr/>
        </p:nvSpPr>
        <p:spPr>
          <a:xfrm>
            <a:off x="8046720" y="4023360"/>
            <a:ext cx="3566160" cy="731520"/>
          </a:xfrm>
          <a:prstGeom prst="rect">
            <a:avLst/>
          </a:prstGeom>
          <a:noFill/>
          <a:ln/>
        </p:spPr>
        <p:txBody>
          <a:bodyPr wrap="square" lIns="0" tIns="0" rIns="0" bIns="0" rtlCol="0" anchor="ctr"/>
          <a:lstStyle/>
          <a:p>
            <a:pPr indent="0" marL="0">
              <a:buNone/>
            </a:pPr>
            <a:r>
              <a:rPr lang="en-US" sz="1400" dirty="0">
                <a:solidFill>
                  <a:srgbClr val="6B645A"/>
                </a:solidFill>
                <a:latin typeface="Calibri" pitchFamily="34" charset="0"/>
                <a:ea typeface="Calibri" pitchFamily="34" charset="-122"/>
                <a:cs typeface="Calibri" pitchFamily="34" charset="-120"/>
              </a:rPr>
              <a:t>+0.10 per confirmed report, -0.20 per false one</a:t>
            </a:r>
            <a:endParaRPr lang="en-US" sz="1400" dirty="0"/>
          </a:p>
        </p:txBody>
      </p:sp>
      <p:sp>
        <p:nvSpPr>
          <p:cNvPr id="16" name="Shape 14"/>
          <p:cNvSpPr/>
          <p:nvPr/>
        </p:nvSpPr>
        <p:spPr>
          <a:xfrm>
            <a:off x="5486400" y="4983480"/>
            <a:ext cx="6126480" cy="1143000"/>
          </a:xfrm>
          <a:prstGeom prst="roundRect">
            <a:avLst>
              <a:gd name="adj" fmla="val 9600"/>
            </a:avLst>
          </a:prstGeom>
          <a:solidFill>
            <a:srgbClr val="FBEDEE"/>
          </a:solidFill>
          <a:ln/>
        </p:spPr>
      </p:sp>
      <p:sp>
        <p:nvSpPr>
          <p:cNvPr id="17" name="Text 15"/>
          <p:cNvSpPr txBox="1"/>
          <p:nvPr/>
        </p:nvSpPr>
        <p:spPr>
          <a:xfrm>
            <a:off x="5715000" y="5029200"/>
            <a:ext cx="5715000" cy="1051560"/>
          </a:xfrm>
          <a:prstGeom prst="rect">
            <a:avLst/>
          </a:prstGeom>
          <a:noFill/>
          <a:ln/>
        </p:spPr>
        <p:txBody>
          <a:bodyPr wrap="square" lIns="0" tIns="0" rIns="0" bIns="0" rtlCol="0" anchor="ctr"/>
          <a:lstStyle/>
          <a:p>
            <a:pPr indent="0" marL="0">
              <a:buNone/>
            </a:pPr>
            <a:r>
              <a:rPr lang="en-US" sz="1500" dirty="0">
                <a:solidFill>
                  <a:srgbClr val="22201C"/>
                </a:solidFill>
                <a:latin typeface="Calibri" pitchFamily="34" charset="0"/>
                <a:ea typeface="Calibri" pitchFamily="34" charset="-122"/>
                <a:cs typeface="Calibri" pitchFamily="34" charset="-120"/>
              </a:rPr>
              <a:t>Below 0.45 = unverified: never broadcast, never public, never triggers security. A lone "they are coming tonight" stays quiet until someone else confirms it.</a:t>
            </a:r>
            <a:endParaRPr lang="en-US" sz="1500" dirty="0"/>
          </a:p>
        </p:txBody>
      </p:sp>
      <p:sp>
        <p:nvSpPr>
          <p:cNvPr id="18" name="Text 16"/>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CONFLICT RESOLUTION WORKFLOW</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Mediation first, force last</a:t>
            </a:r>
            <a:endParaRPr lang="en-US" sz="3400" dirty="0"/>
          </a:p>
        </p:txBody>
      </p:sp>
      <p:pic>
        <p:nvPicPr>
          <p:cNvPr id="4" name="Image 0" descr="/home/user/CMP-468/project2-agropeace/docs/img/escalation.png">    </p:cNvPr>
          <p:cNvPicPr>
            <a:picLocks noChangeAspect="1"/>
          </p:cNvPicPr>
          <p:nvPr/>
        </p:nvPicPr>
        <p:blipFill>
          <a:blip r:embed="rId1"/>
          <a:stretch>
            <a:fillRect/>
          </a:stretch>
        </p:blipFill>
        <p:spPr>
          <a:xfrm>
            <a:off x="548640" y="1371600"/>
            <a:ext cx="11094415" cy="3072300"/>
          </a:xfrm>
          <a:prstGeom prst="rect">
            <a:avLst/>
          </a:prstGeom>
        </p:spPr>
      </p:pic>
      <p:sp>
        <p:nvSpPr>
          <p:cNvPr id="5" name="Text 2"/>
          <p:cNvSpPr txBox="1"/>
          <p:nvPr/>
        </p:nvSpPr>
        <p:spPr>
          <a:xfrm>
            <a:off x="548640" y="4572000"/>
            <a:ext cx="11094415"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Responders chosen by LGA from the directory</a:t>
            </a:r>
            <a:endParaRPr lang="en-US" sz="1600" dirty="0"/>
          </a:p>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Reply "ACK C-001" by SMS from a registered number to acknowledge</a:t>
            </a:r>
            <a:endParaRPr lang="en-US" sz="1600" dirty="0"/>
          </a:p>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No acknowledgement before the deadline: the case climbs a rung automatically</a:t>
            </a:r>
            <a:endParaRPr lang="en-US" sz="1600" dirty="0"/>
          </a:p>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Cases close with an outcome: herd rerouted, dialogue held, compensation agreed, security deployed, false alarm</a:t>
            </a:r>
            <a:endParaRPr lang="en-US" sz="1600" dirty="0"/>
          </a:p>
        </p:txBody>
      </p:sp>
      <p:sp>
        <p:nvSpPr>
          <p:cNvPr id="6" name="Text 3"/>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COMPUTER SECURITY</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Here, bad data can get people killed</a:t>
            </a:r>
            <a:endParaRPr lang="en-US" sz="3400" dirty="0"/>
          </a:p>
        </p:txBody>
      </p:sp>
      <p:sp>
        <p:nvSpPr>
          <p:cNvPr id="4" name="Shape 2"/>
          <p:cNvSpPr/>
          <p:nvPr/>
        </p:nvSpPr>
        <p:spPr>
          <a:xfrm>
            <a:off x="548640" y="1463040"/>
            <a:ext cx="3520440" cy="2103120"/>
          </a:xfrm>
          <a:prstGeom prst="roundRect">
            <a:avLst>
              <a:gd name="adj" fmla="val 5217"/>
            </a:avLst>
          </a:prstGeom>
          <a:solidFill>
            <a:srgbClr val="F4EEE4"/>
          </a:solidFill>
          <a:ln/>
        </p:spPr>
      </p:sp>
      <p:sp>
        <p:nvSpPr>
          <p:cNvPr id="5" name="Shape 3"/>
          <p:cNvSpPr/>
          <p:nvPr/>
        </p:nvSpPr>
        <p:spPr>
          <a:xfrm>
            <a:off x="777240" y="1691640"/>
            <a:ext cx="594360" cy="594360"/>
          </a:xfrm>
          <a:prstGeom prst="ellipse">
            <a:avLst/>
          </a:prstGeom>
          <a:solidFill>
            <a:srgbClr val="C0262D"/>
          </a:solidFill>
          <a:ln/>
        </p:spPr>
      </p:sp>
      <p:pic>
        <p:nvPicPr>
          <p:cNvPr id="6" name="Image 0" descr="preencoded.png">    </p:cNvPr>
          <p:cNvPicPr>
            <a:picLocks noChangeAspect="1"/>
          </p:cNvPicPr>
          <p:nvPr/>
        </p:nvPicPr>
        <p:blipFill>
          <a:blip r:embed="rId1"/>
          <a:stretch>
            <a:fillRect/>
          </a:stretch>
        </p:blipFill>
        <p:spPr>
          <a:xfrm>
            <a:off x="907999" y="1822399"/>
            <a:ext cx="332842" cy="332842"/>
          </a:xfrm>
          <a:prstGeom prst="rect">
            <a:avLst/>
          </a:prstGeom>
        </p:spPr>
      </p:pic>
      <p:sp>
        <p:nvSpPr>
          <p:cNvPr id="7" name="Text 4"/>
          <p:cNvSpPr txBox="1"/>
          <p:nvPr/>
        </p:nvSpPr>
        <p:spPr>
          <a:xfrm>
            <a:off x="1508760" y="1691640"/>
            <a:ext cx="2423160" cy="594360"/>
          </a:xfrm>
          <a:prstGeom prst="rect">
            <a:avLst/>
          </a:prstGeom>
          <a:noFill/>
          <a:ln/>
        </p:spPr>
        <p:txBody>
          <a:bodyPr wrap="square" lIns="0" tIns="0" rIns="0" bIns="0" rtlCol="0" anchor="ctr"/>
          <a:lstStyle/>
          <a:p>
            <a:pPr indent="0" marL="0">
              <a:buNone/>
            </a:pPr>
            <a:r>
              <a:rPr lang="en-US" sz="1800" b="1" dirty="0">
                <a:solidFill>
                  <a:srgbClr val="22201C"/>
                </a:solidFill>
                <a:latin typeface="Cambria" pitchFamily="34" charset="0"/>
                <a:ea typeface="Cambria" pitchFamily="34" charset="-122"/>
                <a:cs typeface="Cambria" pitchFamily="34" charset="-120"/>
              </a:rPr>
              <a:t>Forged GPS</a:t>
            </a:r>
            <a:endParaRPr lang="en-US" sz="1800" dirty="0"/>
          </a:p>
        </p:txBody>
      </p:sp>
      <p:sp>
        <p:nvSpPr>
          <p:cNvPr id="8" name="Text 5"/>
          <p:cNvSpPr txBox="1"/>
          <p:nvPr/>
        </p:nvSpPr>
        <p:spPr>
          <a:xfrm>
            <a:off x="777240" y="2468880"/>
            <a:ext cx="3108960" cy="91440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HMAC-SHA256 per-device signature</a:t>
            </a:r>
            <a:endParaRPr lang="en-US" sz="1500" dirty="0"/>
          </a:p>
        </p:txBody>
      </p:sp>
      <p:sp>
        <p:nvSpPr>
          <p:cNvPr id="9" name="Shape 6"/>
          <p:cNvSpPr/>
          <p:nvPr/>
        </p:nvSpPr>
        <p:spPr>
          <a:xfrm>
            <a:off x="4297680" y="1463040"/>
            <a:ext cx="3520440" cy="2103120"/>
          </a:xfrm>
          <a:prstGeom prst="roundRect">
            <a:avLst>
              <a:gd name="adj" fmla="val 5217"/>
            </a:avLst>
          </a:prstGeom>
          <a:solidFill>
            <a:srgbClr val="F4EEE4"/>
          </a:solidFill>
          <a:ln/>
        </p:spPr>
      </p:sp>
      <p:sp>
        <p:nvSpPr>
          <p:cNvPr id="10" name="Shape 7"/>
          <p:cNvSpPr/>
          <p:nvPr/>
        </p:nvSpPr>
        <p:spPr>
          <a:xfrm>
            <a:off x="4526280" y="1691640"/>
            <a:ext cx="594360" cy="594360"/>
          </a:xfrm>
          <a:prstGeom prst="ellipse">
            <a:avLst/>
          </a:prstGeom>
          <a:solidFill>
            <a:srgbClr val="C0262D"/>
          </a:solidFill>
          <a:ln/>
        </p:spPr>
      </p:sp>
      <p:pic>
        <p:nvPicPr>
          <p:cNvPr id="11" name="Image 1" descr="preencoded.png">    </p:cNvPr>
          <p:cNvPicPr>
            <a:picLocks noChangeAspect="1"/>
          </p:cNvPicPr>
          <p:nvPr/>
        </p:nvPicPr>
        <p:blipFill>
          <a:blip r:embed="rId2"/>
          <a:stretch>
            <a:fillRect/>
          </a:stretch>
        </p:blipFill>
        <p:spPr>
          <a:xfrm>
            <a:off x="4657039" y="1822399"/>
            <a:ext cx="332842" cy="332842"/>
          </a:xfrm>
          <a:prstGeom prst="rect">
            <a:avLst/>
          </a:prstGeom>
        </p:spPr>
      </p:pic>
      <p:sp>
        <p:nvSpPr>
          <p:cNvPr id="12" name="Text 8"/>
          <p:cNvSpPr txBox="1"/>
          <p:nvPr/>
        </p:nvSpPr>
        <p:spPr>
          <a:xfrm>
            <a:off x="5257800" y="1691640"/>
            <a:ext cx="2423160" cy="594360"/>
          </a:xfrm>
          <a:prstGeom prst="rect">
            <a:avLst/>
          </a:prstGeom>
          <a:noFill/>
          <a:ln/>
        </p:spPr>
        <p:txBody>
          <a:bodyPr wrap="square" lIns="0" tIns="0" rIns="0" bIns="0" rtlCol="0" anchor="ctr"/>
          <a:lstStyle/>
          <a:p>
            <a:pPr indent="0" marL="0">
              <a:buNone/>
            </a:pPr>
            <a:r>
              <a:rPr lang="en-US" sz="1800" b="1" dirty="0">
                <a:solidFill>
                  <a:srgbClr val="22201C"/>
                </a:solidFill>
                <a:latin typeface="Cambria" pitchFamily="34" charset="0"/>
                <a:ea typeface="Cambria" pitchFamily="34" charset="-122"/>
                <a:cs typeface="Cambria" pitchFamily="34" charset="-120"/>
              </a:rPr>
              <a:t>Replayed message</a:t>
            </a:r>
            <a:endParaRPr lang="en-US" sz="1800" dirty="0"/>
          </a:p>
        </p:txBody>
      </p:sp>
      <p:sp>
        <p:nvSpPr>
          <p:cNvPr id="13" name="Text 9"/>
          <p:cNvSpPr txBox="1"/>
          <p:nvPr/>
        </p:nvSpPr>
        <p:spPr>
          <a:xfrm>
            <a:off x="4526280" y="2468880"/>
            <a:ext cx="3108960" cy="91440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120 s window + nonce cache</a:t>
            </a:r>
            <a:endParaRPr lang="en-US" sz="1500" dirty="0"/>
          </a:p>
        </p:txBody>
      </p:sp>
      <p:sp>
        <p:nvSpPr>
          <p:cNvPr id="14" name="Shape 10"/>
          <p:cNvSpPr/>
          <p:nvPr/>
        </p:nvSpPr>
        <p:spPr>
          <a:xfrm>
            <a:off x="8046720" y="1463040"/>
            <a:ext cx="3520440" cy="2103120"/>
          </a:xfrm>
          <a:prstGeom prst="roundRect">
            <a:avLst>
              <a:gd name="adj" fmla="val 5217"/>
            </a:avLst>
          </a:prstGeom>
          <a:solidFill>
            <a:srgbClr val="F4EEE4"/>
          </a:solidFill>
          <a:ln/>
        </p:spPr>
      </p:sp>
      <p:sp>
        <p:nvSpPr>
          <p:cNvPr id="15" name="Shape 11"/>
          <p:cNvSpPr/>
          <p:nvPr/>
        </p:nvSpPr>
        <p:spPr>
          <a:xfrm>
            <a:off x="8275320" y="1691640"/>
            <a:ext cx="594360" cy="594360"/>
          </a:xfrm>
          <a:prstGeom prst="ellipse">
            <a:avLst/>
          </a:prstGeom>
          <a:solidFill>
            <a:srgbClr val="C0262D"/>
          </a:solidFill>
          <a:ln/>
        </p:spPr>
      </p:sp>
      <p:pic>
        <p:nvPicPr>
          <p:cNvPr id="16" name="Image 2" descr="preencoded.png">    </p:cNvPr>
          <p:cNvPicPr>
            <a:picLocks noChangeAspect="1"/>
          </p:cNvPicPr>
          <p:nvPr/>
        </p:nvPicPr>
        <p:blipFill>
          <a:blip r:embed="rId3"/>
          <a:stretch>
            <a:fillRect/>
          </a:stretch>
        </p:blipFill>
        <p:spPr>
          <a:xfrm>
            <a:off x="8406079" y="1822399"/>
            <a:ext cx="332842" cy="332842"/>
          </a:xfrm>
          <a:prstGeom prst="rect">
            <a:avLst/>
          </a:prstGeom>
        </p:spPr>
      </p:pic>
      <p:sp>
        <p:nvSpPr>
          <p:cNvPr id="17" name="Text 12"/>
          <p:cNvSpPr txBox="1"/>
          <p:nvPr/>
        </p:nvSpPr>
        <p:spPr>
          <a:xfrm>
            <a:off x="9006840" y="1691640"/>
            <a:ext cx="2423160" cy="594360"/>
          </a:xfrm>
          <a:prstGeom prst="rect">
            <a:avLst/>
          </a:prstGeom>
          <a:noFill/>
          <a:ln/>
        </p:spPr>
        <p:txBody>
          <a:bodyPr wrap="square" lIns="0" tIns="0" rIns="0" bIns="0" rtlCol="0" anchor="ctr"/>
          <a:lstStyle/>
          <a:p>
            <a:pPr indent="0" marL="0">
              <a:buNone/>
            </a:pPr>
            <a:r>
              <a:rPr lang="en-US" sz="1800" b="1" dirty="0">
                <a:solidFill>
                  <a:srgbClr val="22201C"/>
                </a:solidFill>
                <a:latin typeface="Cambria" pitchFamily="34" charset="0"/>
                <a:ea typeface="Cambria" pitchFamily="34" charset="-122"/>
                <a:cs typeface="Cambria" pitchFamily="34" charset="-120"/>
              </a:rPr>
              <a:t>Informant exposure</a:t>
            </a:r>
            <a:endParaRPr lang="en-US" sz="1800" dirty="0"/>
          </a:p>
        </p:txBody>
      </p:sp>
      <p:sp>
        <p:nvSpPr>
          <p:cNvPr id="18" name="Text 13"/>
          <p:cNvSpPr txBox="1"/>
          <p:nvPr/>
        </p:nvSpPr>
        <p:spPr>
          <a:xfrm>
            <a:off x="8275320" y="2468880"/>
            <a:ext cx="3108960" cy="91440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AES-256-GCM phone numbers, keyed pseudonyms</a:t>
            </a:r>
            <a:endParaRPr lang="en-US" sz="1500" dirty="0"/>
          </a:p>
        </p:txBody>
      </p:sp>
      <p:sp>
        <p:nvSpPr>
          <p:cNvPr id="19" name="Shape 14"/>
          <p:cNvSpPr/>
          <p:nvPr/>
        </p:nvSpPr>
        <p:spPr>
          <a:xfrm>
            <a:off x="548640" y="3794760"/>
            <a:ext cx="3520440" cy="2103120"/>
          </a:xfrm>
          <a:prstGeom prst="roundRect">
            <a:avLst>
              <a:gd name="adj" fmla="val 5217"/>
            </a:avLst>
          </a:prstGeom>
          <a:solidFill>
            <a:srgbClr val="F4EEE4"/>
          </a:solidFill>
          <a:ln/>
        </p:spPr>
      </p:sp>
      <p:sp>
        <p:nvSpPr>
          <p:cNvPr id="20" name="Shape 15"/>
          <p:cNvSpPr/>
          <p:nvPr/>
        </p:nvSpPr>
        <p:spPr>
          <a:xfrm>
            <a:off x="777240" y="4023360"/>
            <a:ext cx="594360" cy="594360"/>
          </a:xfrm>
          <a:prstGeom prst="ellipse">
            <a:avLst/>
          </a:prstGeom>
          <a:solidFill>
            <a:srgbClr val="C0262D"/>
          </a:solidFill>
          <a:ln/>
        </p:spPr>
      </p:sp>
      <p:pic>
        <p:nvPicPr>
          <p:cNvPr id="21" name="Image 3" descr="preencoded.png">    </p:cNvPr>
          <p:cNvPicPr>
            <a:picLocks noChangeAspect="1"/>
          </p:cNvPicPr>
          <p:nvPr/>
        </p:nvPicPr>
        <p:blipFill>
          <a:blip r:embed="rId4"/>
          <a:stretch>
            <a:fillRect/>
          </a:stretch>
        </p:blipFill>
        <p:spPr>
          <a:xfrm>
            <a:off x="907999" y="4154119"/>
            <a:ext cx="332842" cy="332842"/>
          </a:xfrm>
          <a:prstGeom prst="rect">
            <a:avLst/>
          </a:prstGeom>
        </p:spPr>
      </p:pic>
      <p:sp>
        <p:nvSpPr>
          <p:cNvPr id="22" name="Text 16"/>
          <p:cNvSpPr txBox="1"/>
          <p:nvPr/>
        </p:nvSpPr>
        <p:spPr>
          <a:xfrm>
            <a:off x="1508760" y="4023360"/>
            <a:ext cx="2423160" cy="594360"/>
          </a:xfrm>
          <a:prstGeom prst="rect">
            <a:avLst/>
          </a:prstGeom>
          <a:noFill/>
          <a:ln/>
        </p:spPr>
        <p:txBody>
          <a:bodyPr wrap="square" lIns="0" tIns="0" rIns="0" bIns="0" rtlCol="0" anchor="ctr"/>
          <a:lstStyle/>
          <a:p>
            <a:pPr indent="0" marL="0">
              <a:buNone/>
            </a:pPr>
            <a:r>
              <a:rPr lang="en-US" sz="1800" b="1" dirty="0">
                <a:solidFill>
                  <a:srgbClr val="22201C"/>
                </a:solidFill>
                <a:latin typeface="Cambria" pitchFamily="34" charset="0"/>
                <a:ea typeface="Cambria" pitchFamily="34" charset="-122"/>
                <a:cs typeface="Cambria" pitchFamily="34" charset="-120"/>
              </a:rPr>
              <a:t>Herds targeted</a:t>
            </a:r>
            <a:endParaRPr lang="en-US" sz="1800" dirty="0"/>
          </a:p>
        </p:txBody>
      </p:sp>
      <p:sp>
        <p:nvSpPr>
          <p:cNvPr id="23" name="Text 17"/>
          <p:cNvSpPr txBox="1"/>
          <p:nvPr/>
        </p:nvSpPr>
        <p:spPr>
          <a:xfrm>
            <a:off x="777240" y="4800600"/>
            <a:ext cx="3108960" cy="91440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public never sees herd positions</a:t>
            </a:r>
            <a:endParaRPr lang="en-US" sz="1500" dirty="0"/>
          </a:p>
        </p:txBody>
      </p:sp>
      <p:sp>
        <p:nvSpPr>
          <p:cNvPr id="24" name="Shape 18"/>
          <p:cNvSpPr/>
          <p:nvPr/>
        </p:nvSpPr>
        <p:spPr>
          <a:xfrm>
            <a:off x="4297680" y="3794760"/>
            <a:ext cx="3520440" cy="2103120"/>
          </a:xfrm>
          <a:prstGeom prst="roundRect">
            <a:avLst>
              <a:gd name="adj" fmla="val 5217"/>
            </a:avLst>
          </a:prstGeom>
          <a:solidFill>
            <a:srgbClr val="F4EEE4"/>
          </a:solidFill>
          <a:ln/>
        </p:spPr>
      </p:sp>
      <p:sp>
        <p:nvSpPr>
          <p:cNvPr id="25" name="Shape 19"/>
          <p:cNvSpPr/>
          <p:nvPr/>
        </p:nvSpPr>
        <p:spPr>
          <a:xfrm>
            <a:off x="4526280" y="4023360"/>
            <a:ext cx="594360" cy="594360"/>
          </a:xfrm>
          <a:prstGeom prst="ellipse">
            <a:avLst/>
          </a:prstGeom>
          <a:solidFill>
            <a:srgbClr val="C0262D"/>
          </a:solidFill>
          <a:ln/>
        </p:spPr>
      </p:sp>
      <p:pic>
        <p:nvPicPr>
          <p:cNvPr id="26" name="Image 4" descr="preencoded.png">    </p:cNvPr>
          <p:cNvPicPr>
            <a:picLocks noChangeAspect="1"/>
          </p:cNvPicPr>
          <p:nvPr/>
        </p:nvPicPr>
        <p:blipFill>
          <a:blip r:embed="rId5"/>
          <a:stretch>
            <a:fillRect/>
          </a:stretch>
        </p:blipFill>
        <p:spPr>
          <a:xfrm>
            <a:off x="4657039" y="4154119"/>
            <a:ext cx="332842" cy="332842"/>
          </a:xfrm>
          <a:prstGeom prst="rect">
            <a:avLst/>
          </a:prstGeom>
        </p:spPr>
      </p:pic>
      <p:sp>
        <p:nvSpPr>
          <p:cNvPr id="27" name="Text 20"/>
          <p:cNvSpPr txBox="1"/>
          <p:nvPr/>
        </p:nvSpPr>
        <p:spPr>
          <a:xfrm>
            <a:off x="5257800" y="4023360"/>
            <a:ext cx="2423160" cy="594360"/>
          </a:xfrm>
          <a:prstGeom prst="rect">
            <a:avLst/>
          </a:prstGeom>
          <a:noFill/>
          <a:ln/>
        </p:spPr>
        <p:txBody>
          <a:bodyPr wrap="square" lIns="0" tIns="0" rIns="0" bIns="0" rtlCol="0" anchor="ctr"/>
          <a:lstStyle/>
          <a:p>
            <a:pPr indent="0" marL="0">
              <a:buNone/>
            </a:pPr>
            <a:r>
              <a:rPr lang="en-US" sz="1800" b="1" dirty="0">
                <a:solidFill>
                  <a:srgbClr val="22201C"/>
                </a:solidFill>
                <a:latin typeface="Cambria" pitchFamily="34" charset="0"/>
                <a:ea typeface="Cambria" pitchFamily="34" charset="-122"/>
                <a:cs typeface="Cambria" pitchFamily="34" charset="-120"/>
              </a:rPr>
              <a:t>Rumour flooding</a:t>
            </a:r>
            <a:endParaRPr lang="en-US" sz="1800" dirty="0"/>
          </a:p>
        </p:txBody>
      </p:sp>
      <p:sp>
        <p:nvSpPr>
          <p:cNvPr id="28" name="Text 21"/>
          <p:cNvSpPr txBox="1"/>
          <p:nvPr/>
        </p:nvSpPr>
        <p:spPr>
          <a:xfrm>
            <a:off x="4526280" y="4800600"/>
            <a:ext cx="3108960" cy="91440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trust scoring + 3 reports/hour limit</a:t>
            </a:r>
            <a:endParaRPr lang="en-US" sz="1500" dirty="0"/>
          </a:p>
        </p:txBody>
      </p:sp>
      <p:sp>
        <p:nvSpPr>
          <p:cNvPr id="29" name="Shape 22"/>
          <p:cNvSpPr/>
          <p:nvPr/>
        </p:nvSpPr>
        <p:spPr>
          <a:xfrm>
            <a:off x="8046720" y="3794760"/>
            <a:ext cx="3520440" cy="2103120"/>
          </a:xfrm>
          <a:prstGeom prst="roundRect">
            <a:avLst>
              <a:gd name="adj" fmla="val 5217"/>
            </a:avLst>
          </a:prstGeom>
          <a:solidFill>
            <a:srgbClr val="F4EEE4"/>
          </a:solidFill>
          <a:ln/>
        </p:spPr>
      </p:sp>
      <p:sp>
        <p:nvSpPr>
          <p:cNvPr id="30" name="Shape 23"/>
          <p:cNvSpPr/>
          <p:nvPr/>
        </p:nvSpPr>
        <p:spPr>
          <a:xfrm>
            <a:off x="8275320" y="4023360"/>
            <a:ext cx="594360" cy="594360"/>
          </a:xfrm>
          <a:prstGeom prst="ellipse">
            <a:avLst/>
          </a:prstGeom>
          <a:solidFill>
            <a:srgbClr val="C0262D"/>
          </a:solidFill>
          <a:ln/>
        </p:spPr>
      </p:sp>
      <p:pic>
        <p:nvPicPr>
          <p:cNvPr id="31" name="Image 5" descr="preencoded.png">    </p:cNvPr>
          <p:cNvPicPr>
            <a:picLocks noChangeAspect="1"/>
          </p:cNvPicPr>
          <p:nvPr/>
        </p:nvPicPr>
        <p:blipFill>
          <a:blip r:embed="rId6"/>
          <a:stretch>
            <a:fillRect/>
          </a:stretch>
        </p:blipFill>
        <p:spPr>
          <a:xfrm>
            <a:off x="8406079" y="4154119"/>
            <a:ext cx="332842" cy="332842"/>
          </a:xfrm>
          <a:prstGeom prst="rect">
            <a:avLst/>
          </a:prstGeom>
        </p:spPr>
      </p:pic>
      <p:sp>
        <p:nvSpPr>
          <p:cNvPr id="32" name="Text 24"/>
          <p:cNvSpPr txBox="1"/>
          <p:nvPr/>
        </p:nvSpPr>
        <p:spPr>
          <a:xfrm>
            <a:off x="9006840" y="4023360"/>
            <a:ext cx="2423160" cy="594360"/>
          </a:xfrm>
          <a:prstGeom prst="rect">
            <a:avLst/>
          </a:prstGeom>
          <a:noFill/>
          <a:ln/>
        </p:spPr>
        <p:txBody>
          <a:bodyPr wrap="square" lIns="0" tIns="0" rIns="0" bIns="0" rtlCol="0" anchor="ctr"/>
          <a:lstStyle/>
          <a:p>
            <a:pPr indent="0" marL="0">
              <a:buNone/>
            </a:pPr>
            <a:r>
              <a:rPr lang="en-US" sz="1800" b="1" dirty="0">
                <a:solidFill>
                  <a:srgbClr val="22201C"/>
                </a:solidFill>
                <a:latin typeface="Cambria" pitchFamily="34" charset="0"/>
                <a:ea typeface="Cambria" pitchFamily="34" charset="-122"/>
                <a:cs typeface="Cambria" pitchFamily="34" charset="-120"/>
              </a:rPr>
              <a:t>Covering tracks</a:t>
            </a:r>
            <a:endParaRPr lang="en-US" sz="1800" dirty="0"/>
          </a:p>
        </p:txBody>
      </p:sp>
      <p:sp>
        <p:nvSpPr>
          <p:cNvPr id="33" name="Text 25"/>
          <p:cNvSpPr txBox="1"/>
          <p:nvPr/>
        </p:nvSpPr>
        <p:spPr>
          <a:xfrm>
            <a:off x="8275320" y="4800600"/>
            <a:ext cx="3108960" cy="914400"/>
          </a:xfrm>
          <a:prstGeom prst="rect">
            <a:avLst/>
          </a:prstGeom>
          <a:noFill/>
          <a:ln/>
        </p:spPr>
        <p:txBody>
          <a:bodyPr wrap="square" lIns="0" tIns="0" rIns="0" bIns="0" rtlCol="0" anchor="t"/>
          <a:lstStyle/>
          <a:p>
            <a:pPr indent="0" marL="0">
              <a:buNone/>
            </a:pPr>
            <a:r>
              <a:rPr lang="en-US" sz="1500" dirty="0">
                <a:solidFill>
                  <a:srgbClr val="22201C"/>
                </a:solidFill>
                <a:latin typeface="Calibri" pitchFamily="34" charset="0"/>
                <a:ea typeface="Calibri" pitchFamily="34" charset="-122"/>
                <a:cs typeface="Calibri" pitchFamily="34" charset="-120"/>
              </a:rPr>
              <a:t>hash-chained audit log</a:t>
            </a:r>
            <a:endParaRPr lang="en-US" sz="1500" dirty="0"/>
          </a:p>
        </p:txBody>
      </p:sp>
      <p:sp>
        <p:nvSpPr>
          <p:cNvPr id="34" name="Text 26"/>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LEAST PRIVILEGE</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Each role sees only what it needs</a:t>
            </a:r>
            <a:endParaRPr lang="en-US" sz="3400" dirty="0"/>
          </a:p>
        </p:txBody>
      </p:sp>
      <p:sp>
        <p:nvSpPr>
          <p:cNvPr id="4" name="Shape 2"/>
          <p:cNvSpPr/>
          <p:nvPr/>
        </p:nvSpPr>
        <p:spPr>
          <a:xfrm>
            <a:off x="548640" y="1463040"/>
            <a:ext cx="2651760" cy="960120"/>
          </a:xfrm>
          <a:prstGeom prst="roundRect">
            <a:avLst>
              <a:gd name="adj" fmla="val 9524"/>
            </a:avLst>
          </a:prstGeom>
          <a:solidFill>
            <a:srgbClr val="8A8378"/>
          </a:solidFill>
          <a:ln/>
        </p:spPr>
      </p:sp>
      <p:sp>
        <p:nvSpPr>
          <p:cNvPr id="5" name="Text 3"/>
          <p:cNvSpPr txBox="1"/>
          <p:nvPr/>
        </p:nvSpPr>
        <p:spPr>
          <a:xfrm>
            <a:off x="731520" y="1463040"/>
            <a:ext cx="2286000" cy="9601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Public</a:t>
            </a:r>
            <a:endParaRPr lang="en-US" sz="1800" dirty="0"/>
          </a:p>
        </p:txBody>
      </p:sp>
      <p:sp>
        <p:nvSpPr>
          <p:cNvPr id="6" name="Text 4"/>
          <p:cNvSpPr txBox="1"/>
          <p:nvPr/>
        </p:nvSpPr>
        <p:spPr>
          <a:xfrm>
            <a:off x="3474720" y="1463040"/>
            <a:ext cx="8138160" cy="960120"/>
          </a:xfrm>
          <a:prstGeom prst="rect">
            <a:avLst/>
          </a:prstGeom>
          <a:noFill/>
          <a:ln/>
        </p:spPr>
        <p:txBody>
          <a:bodyPr wrap="square" lIns="0" tIns="0" rIns="0" bIns="0" rtlCol="0" anchor="ctr"/>
          <a:lstStyle/>
          <a:p>
            <a:pPr indent="0" marL="0">
              <a:buNone/>
            </a:pPr>
            <a:r>
              <a:rPr lang="en-US" sz="1600" dirty="0">
                <a:solidFill>
                  <a:srgbClr val="22201C"/>
                </a:solidFill>
                <a:latin typeface="Calibri" pitchFamily="34" charset="0"/>
                <a:ea typeface="Calibri" pitchFamily="34" charset="-122"/>
                <a:cs typeface="Calibri" pitchFamily="34" charset="-120"/>
              </a:rPr>
              <a:t>Community risk levels only. No herds, no cases, no unverified reports.</a:t>
            </a:r>
            <a:endParaRPr lang="en-US" sz="1600" dirty="0"/>
          </a:p>
        </p:txBody>
      </p:sp>
      <p:sp>
        <p:nvSpPr>
          <p:cNvPr id="7" name="Shape 5"/>
          <p:cNvSpPr/>
          <p:nvPr/>
        </p:nvSpPr>
        <p:spPr>
          <a:xfrm>
            <a:off x="548640" y="2606040"/>
            <a:ext cx="2651760" cy="960120"/>
          </a:xfrm>
          <a:prstGeom prst="roundRect">
            <a:avLst>
              <a:gd name="adj" fmla="val 9524"/>
            </a:avLst>
          </a:prstGeom>
          <a:solidFill>
            <a:srgbClr val="3F7F45"/>
          </a:solidFill>
          <a:ln/>
        </p:spPr>
      </p:sp>
      <p:sp>
        <p:nvSpPr>
          <p:cNvPr id="8" name="Text 6"/>
          <p:cNvSpPr txBox="1"/>
          <p:nvPr/>
        </p:nvSpPr>
        <p:spPr>
          <a:xfrm>
            <a:off x="731520" y="2606040"/>
            <a:ext cx="2286000" cy="9601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Mediator</a:t>
            </a:r>
            <a:endParaRPr lang="en-US" sz="1800" dirty="0"/>
          </a:p>
        </p:txBody>
      </p:sp>
      <p:sp>
        <p:nvSpPr>
          <p:cNvPr id="9" name="Text 7"/>
          <p:cNvSpPr txBox="1"/>
          <p:nvPr/>
        </p:nvSpPr>
        <p:spPr>
          <a:xfrm>
            <a:off x="3474720" y="2606040"/>
            <a:ext cx="8138160" cy="960120"/>
          </a:xfrm>
          <a:prstGeom prst="rect">
            <a:avLst/>
          </a:prstGeom>
          <a:noFill/>
          <a:ln/>
        </p:spPr>
        <p:txBody>
          <a:bodyPr wrap="square" lIns="0" tIns="0" rIns="0" bIns="0" rtlCol="0" anchor="ctr"/>
          <a:lstStyle/>
          <a:p>
            <a:pPr indent="0" marL="0">
              <a:buNone/>
            </a:pPr>
            <a:r>
              <a:rPr lang="en-US" sz="1600" dirty="0">
                <a:solidFill>
                  <a:srgbClr val="22201C"/>
                </a:solidFill>
                <a:latin typeface="Calibri" pitchFamily="34" charset="0"/>
                <a:ea typeface="Calibri" pitchFamily="34" charset="-122"/>
                <a:cs typeface="Calibri" pitchFamily="34" charset="-120"/>
              </a:rPr>
              <a:t>Precise herds, cases and reports in their own LGA. Acknowledge, resolve, confirm or reject reports.</a:t>
            </a:r>
            <a:endParaRPr lang="en-US" sz="1600" dirty="0"/>
          </a:p>
        </p:txBody>
      </p:sp>
      <p:sp>
        <p:nvSpPr>
          <p:cNvPr id="10" name="Shape 8"/>
          <p:cNvSpPr/>
          <p:nvPr/>
        </p:nvSpPr>
        <p:spPr>
          <a:xfrm>
            <a:off x="548640" y="3749040"/>
            <a:ext cx="2651760" cy="960120"/>
          </a:xfrm>
          <a:prstGeom prst="roundRect">
            <a:avLst>
              <a:gd name="adj" fmla="val 9524"/>
            </a:avLst>
          </a:prstGeom>
          <a:solidFill>
            <a:srgbClr val="7A4A1F"/>
          </a:solidFill>
          <a:ln/>
        </p:spPr>
      </p:sp>
      <p:sp>
        <p:nvSpPr>
          <p:cNvPr id="11" name="Text 9"/>
          <p:cNvSpPr txBox="1"/>
          <p:nvPr/>
        </p:nvSpPr>
        <p:spPr>
          <a:xfrm>
            <a:off x="731520" y="3749040"/>
            <a:ext cx="2286000" cy="9601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Coordinator</a:t>
            </a:r>
            <a:endParaRPr lang="en-US" sz="1800" dirty="0"/>
          </a:p>
        </p:txBody>
      </p:sp>
      <p:sp>
        <p:nvSpPr>
          <p:cNvPr id="12" name="Text 10"/>
          <p:cNvSpPr txBox="1"/>
          <p:nvPr/>
        </p:nvSpPr>
        <p:spPr>
          <a:xfrm>
            <a:off x="3474720" y="3749040"/>
            <a:ext cx="8138160" cy="960120"/>
          </a:xfrm>
          <a:prstGeom prst="rect">
            <a:avLst/>
          </a:prstGeom>
          <a:noFill/>
          <a:ln/>
        </p:spPr>
        <p:txBody>
          <a:bodyPr wrap="square" lIns="0" tIns="0" rIns="0" bIns="0" rtlCol="0" anchor="ctr"/>
          <a:lstStyle/>
          <a:p>
            <a:pPr indent="0" marL="0">
              <a:buNone/>
            </a:pPr>
            <a:r>
              <a:rPr lang="en-US" sz="1600" dirty="0">
                <a:solidFill>
                  <a:srgbClr val="22201C"/>
                </a:solidFill>
                <a:latin typeface="Calibri" pitchFamily="34" charset="0"/>
                <a:ea typeface="Calibri" pitchFamily="34" charset="-122"/>
                <a:cs typeface="Calibri" pitchFamily="34" charset="-120"/>
              </a:rPr>
              <a:t>All LGAs, unverified reports and audit trail. All case actions.</a:t>
            </a:r>
            <a:endParaRPr lang="en-US" sz="1600" dirty="0"/>
          </a:p>
        </p:txBody>
      </p:sp>
      <p:sp>
        <p:nvSpPr>
          <p:cNvPr id="13" name="Shape 11"/>
          <p:cNvSpPr/>
          <p:nvPr/>
        </p:nvSpPr>
        <p:spPr>
          <a:xfrm>
            <a:off x="548640" y="4892040"/>
            <a:ext cx="2651760" cy="960120"/>
          </a:xfrm>
          <a:prstGeom prst="roundRect">
            <a:avLst>
              <a:gd name="adj" fmla="val 9524"/>
            </a:avLst>
          </a:prstGeom>
          <a:solidFill>
            <a:srgbClr val="C0262D"/>
          </a:solidFill>
          <a:ln/>
        </p:spPr>
      </p:sp>
      <p:sp>
        <p:nvSpPr>
          <p:cNvPr id="14" name="Text 12"/>
          <p:cNvSpPr txBox="1"/>
          <p:nvPr/>
        </p:nvSpPr>
        <p:spPr>
          <a:xfrm>
            <a:off x="731520" y="4892040"/>
            <a:ext cx="2286000" cy="9601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Protection officer</a:t>
            </a:r>
            <a:endParaRPr lang="en-US" sz="1800" dirty="0"/>
          </a:p>
        </p:txBody>
      </p:sp>
      <p:sp>
        <p:nvSpPr>
          <p:cNvPr id="15" name="Text 13"/>
          <p:cNvSpPr txBox="1"/>
          <p:nvPr/>
        </p:nvSpPr>
        <p:spPr>
          <a:xfrm>
            <a:off x="3474720" y="4892040"/>
            <a:ext cx="8138160" cy="960120"/>
          </a:xfrm>
          <a:prstGeom prst="rect">
            <a:avLst/>
          </a:prstGeom>
          <a:noFill/>
          <a:ln/>
        </p:spPr>
        <p:txBody>
          <a:bodyPr wrap="square" lIns="0" tIns="0" rIns="0" bIns="0" rtlCol="0" anchor="ctr"/>
          <a:lstStyle/>
          <a:p>
            <a:pPr indent="0" marL="0">
              <a:buNone/>
            </a:pPr>
            <a:r>
              <a:rPr lang="en-US" sz="1600" dirty="0">
                <a:solidFill>
                  <a:srgbClr val="22201C"/>
                </a:solidFill>
                <a:latin typeface="Calibri" pitchFamily="34" charset="0"/>
                <a:ea typeface="Calibri" pitchFamily="34" charset="-122"/>
                <a:cs typeface="Calibri" pitchFamily="34" charset="-120"/>
              </a:rPr>
              <a:t>Can reveal an informant's number only with a written reason. Every attempt is audited.</a:t>
            </a:r>
            <a:endParaRPr lang="en-US" sz="1600" dirty="0"/>
          </a:p>
        </p:txBody>
      </p:sp>
      <p:sp>
        <p:nvSpPr>
          <p:cNvPr id="16" name="Text 14"/>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The coordinator's live map</a:t>
            </a:r>
            <a:endParaRPr lang="en-US" sz="3400" dirty="0"/>
          </a:p>
        </p:txBody>
      </p:sp>
      <p:pic>
        <p:nvPicPr>
          <p:cNvPr id="4" name="Image 0" descr="/home/user/CMP-468/project2-agropeace/docs/img/ap_coordinator.png">    </p:cNvPr>
          <p:cNvPicPr>
            <a:picLocks noChangeAspect="1"/>
          </p:cNvPicPr>
          <p:nvPr/>
        </p:nvPicPr>
        <p:blipFill>
          <a:blip r:embed="rId1"/>
          <a:stretch>
            <a:fillRect/>
          </a:stretch>
        </p:blipFill>
        <p:spPr>
          <a:xfrm>
            <a:off x="548640" y="1280160"/>
            <a:ext cx="8138160" cy="5154168"/>
          </a:xfrm>
          <a:prstGeom prst="rect">
            <a:avLst/>
          </a:prstGeom>
        </p:spPr>
      </p:pic>
      <p:sp>
        <p:nvSpPr>
          <p:cNvPr id="5" name="Text 2"/>
          <p:cNvSpPr txBox="1"/>
          <p:nvPr/>
        </p:nvSpPr>
        <p:spPr>
          <a:xfrm>
            <a:off x="8961120" y="1463040"/>
            <a:ext cx="2681935"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Risk grid green to red</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Herd trails and dashed 3-hour forecasts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Rings mark open cases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Case controls: acknowledge, resolve</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USSD phone simulator for the demo</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Leaflet bundled: works offline</a:t>
            </a:r>
            <a:endParaRPr lang="en-US" sz="1500" dirty="0"/>
          </a:p>
        </p:txBody>
      </p:sp>
      <p:sp>
        <p:nvSpPr>
          <p:cNvPr id="6" name="Text 3"/>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Results</a:t>
            </a:r>
            <a:endParaRPr lang="en-US" sz="3400" dirty="0"/>
          </a:p>
        </p:txBody>
      </p:sp>
      <p:sp>
        <p:nvSpPr>
          <p:cNvPr id="4" name="Shape 2"/>
          <p:cNvSpPr/>
          <p:nvPr/>
        </p:nvSpPr>
        <p:spPr>
          <a:xfrm>
            <a:off x="548640" y="1554480"/>
            <a:ext cx="2606040" cy="2377440"/>
          </a:xfrm>
          <a:prstGeom prst="roundRect">
            <a:avLst>
              <a:gd name="adj" fmla="val 4615"/>
            </a:avLst>
          </a:prstGeom>
          <a:solidFill>
            <a:srgbClr val="F4EEE4"/>
          </a:solidFill>
          <a:ln/>
        </p:spPr>
      </p:sp>
      <p:sp>
        <p:nvSpPr>
          <p:cNvPr id="5" name="Text 3"/>
          <p:cNvSpPr txBox="1"/>
          <p:nvPr/>
        </p:nvSpPr>
        <p:spPr>
          <a:xfrm>
            <a:off x="777240" y="1691640"/>
            <a:ext cx="2194560" cy="868680"/>
          </a:xfrm>
          <a:prstGeom prst="rect">
            <a:avLst/>
          </a:prstGeom>
          <a:noFill/>
          <a:ln/>
        </p:spPr>
        <p:txBody>
          <a:bodyPr wrap="square" lIns="0" tIns="0" rIns="0" bIns="0" rtlCol="0" anchor="b"/>
          <a:lstStyle/>
          <a:p>
            <a:pPr indent="0" marL="0">
              <a:buNone/>
            </a:pPr>
            <a:r>
              <a:rPr lang="en-US" sz="4400" b="1" dirty="0">
                <a:solidFill>
                  <a:srgbClr val="3F7F45"/>
                </a:solidFill>
                <a:latin typeface="Cambria" pitchFamily="34" charset="0"/>
                <a:ea typeface="Cambria" pitchFamily="34" charset="-122"/>
                <a:cs typeface="Cambria" pitchFamily="34" charset="-120"/>
              </a:rPr>
              <a:t>30/30</a:t>
            </a:r>
            <a:endParaRPr lang="en-US" sz="4400" dirty="0"/>
          </a:p>
        </p:txBody>
      </p:sp>
      <p:sp>
        <p:nvSpPr>
          <p:cNvPr id="6" name="Text 4"/>
          <p:cNvSpPr txBox="1"/>
          <p:nvPr/>
        </p:nvSpPr>
        <p:spPr>
          <a:xfrm>
            <a:off x="777240" y="2606040"/>
            <a:ext cx="219456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automated tests pass</a:t>
            </a:r>
            <a:endParaRPr lang="en-US" sz="1400" dirty="0"/>
          </a:p>
        </p:txBody>
      </p:sp>
      <p:sp>
        <p:nvSpPr>
          <p:cNvPr id="7" name="Shape 5"/>
          <p:cNvSpPr/>
          <p:nvPr/>
        </p:nvSpPr>
        <p:spPr>
          <a:xfrm>
            <a:off x="3355848" y="1554480"/>
            <a:ext cx="2606040" cy="2377440"/>
          </a:xfrm>
          <a:prstGeom prst="roundRect">
            <a:avLst>
              <a:gd name="adj" fmla="val 4615"/>
            </a:avLst>
          </a:prstGeom>
          <a:solidFill>
            <a:srgbClr val="F4EEE4"/>
          </a:solidFill>
          <a:ln/>
        </p:spPr>
      </p:sp>
      <p:sp>
        <p:nvSpPr>
          <p:cNvPr id="8" name="Text 6"/>
          <p:cNvSpPr txBox="1"/>
          <p:nvPr/>
        </p:nvSpPr>
        <p:spPr>
          <a:xfrm>
            <a:off x="3584448" y="1691640"/>
            <a:ext cx="2194560" cy="868680"/>
          </a:xfrm>
          <a:prstGeom prst="rect">
            <a:avLst/>
          </a:prstGeom>
          <a:noFill/>
          <a:ln/>
        </p:spPr>
        <p:txBody>
          <a:bodyPr wrap="square" lIns="0" tIns="0" rIns="0" bIns="0" rtlCol="0" anchor="b"/>
          <a:lstStyle/>
          <a:p>
            <a:pPr indent="0" marL="0">
              <a:buNone/>
            </a:pPr>
            <a:r>
              <a:rPr lang="en-US" sz="4400" b="1" dirty="0">
                <a:solidFill>
                  <a:srgbClr val="7A4A1F"/>
                </a:solidFill>
                <a:latin typeface="Cambria" pitchFamily="34" charset="0"/>
                <a:ea typeface="Cambria" pitchFamily="34" charset="-122"/>
                <a:cs typeface="Cambria" pitchFamily="34" charset="-120"/>
              </a:rPr>
              <a:t>3.3 ms</a:t>
            </a:r>
            <a:endParaRPr lang="en-US" sz="4400" dirty="0"/>
          </a:p>
        </p:txBody>
      </p:sp>
      <p:sp>
        <p:nvSpPr>
          <p:cNvPr id="9" name="Text 7"/>
          <p:cNvSpPr txBox="1"/>
          <p:nvPr/>
        </p:nvSpPr>
        <p:spPr>
          <a:xfrm>
            <a:off x="3584448" y="2606040"/>
            <a:ext cx="219456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per signed GPS message incl. geofencing</a:t>
            </a:r>
            <a:endParaRPr lang="en-US" sz="1400" dirty="0"/>
          </a:p>
        </p:txBody>
      </p:sp>
      <p:sp>
        <p:nvSpPr>
          <p:cNvPr id="10" name="Shape 8"/>
          <p:cNvSpPr/>
          <p:nvPr/>
        </p:nvSpPr>
        <p:spPr>
          <a:xfrm>
            <a:off x="6163056" y="1554480"/>
            <a:ext cx="2606040" cy="2377440"/>
          </a:xfrm>
          <a:prstGeom prst="roundRect">
            <a:avLst>
              <a:gd name="adj" fmla="val 4615"/>
            </a:avLst>
          </a:prstGeom>
          <a:solidFill>
            <a:srgbClr val="F4EEE4"/>
          </a:solidFill>
          <a:ln/>
        </p:spPr>
      </p:sp>
      <p:sp>
        <p:nvSpPr>
          <p:cNvPr id="11" name="Text 9"/>
          <p:cNvSpPr txBox="1"/>
          <p:nvPr/>
        </p:nvSpPr>
        <p:spPr>
          <a:xfrm>
            <a:off x="6391656" y="1691640"/>
            <a:ext cx="2194560" cy="868680"/>
          </a:xfrm>
          <a:prstGeom prst="rect">
            <a:avLst/>
          </a:prstGeom>
          <a:noFill/>
          <a:ln/>
        </p:spPr>
        <p:txBody>
          <a:bodyPr wrap="square" lIns="0" tIns="0" rIns="0" bIns="0" rtlCol="0" anchor="b"/>
          <a:lstStyle/>
          <a:p>
            <a:pPr indent="0" marL="0">
              <a:buNone/>
            </a:pPr>
            <a:r>
              <a:rPr lang="en-US" sz="4400" b="1" dirty="0">
                <a:solidFill>
                  <a:srgbClr val="7A4A1F"/>
                </a:solidFill>
                <a:latin typeface="Cambria" pitchFamily="34" charset="0"/>
                <a:ea typeface="Cambria" pitchFamily="34" charset="-122"/>
                <a:cs typeface="Cambria" pitchFamily="34" charset="-120"/>
              </a:rPr>
              <a:t>0.08 s</a:t>
            </a:r>
            <a:endParaRPr lang="en-US" sz="4400" dirty="0"/>
          </a:p>
        </p:txBody>
      </p:sp>
      <p:sp>
        <p:nvSpPr>
          <p:cNvPr id="12" name="Text 10"/>
          <p:cNvSpPr txBox="1"/>
          <p:nvPr/>
        </p:nvSpPr>
        <p:spPr>
          <a:xfrm>
            <a:off x="6391656" y="2606040"/>
            <a:ext cx="219456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to recompute 2,010 risk cells</a:t>
            </a:r>
            <a:endParaRPr lang="en-US" sz="1400" dirty="0"/>
          </a:p>
        </p:txBody>
      </p:sp>
      <p:sp>
        <p:nvSpPr>
          <p:cNvPr id="13" name="Shape 11"/>
          <p:cNvSpPr/>
          <p:nvPr/>
        </p:nvSpPr>
        <p:spPr>
          <a:xfrm>
            <a:off x="8970264" y="1554480"/>
            <a:ext cx="2606040" cy="2377440"/>
          </a:xfrm>
          <a:prstGeom prst="roundRect">
            <a:avLst>
              <a:gd name="adj" fmla="val 4615"/>
            </a:avLst>
          </a:prstGeom>
          <a:solidFill>
            <a:srgbClr val="F4EEE4"/>
          </a:solidFill>
          <a:ln/>
        </p:spPr>
      </p:sp>
      <p:sp>
        <p:nvSpPr>
          <p:cNvPr id="14" name="Text 12"/>
          <p:cNvSpPr txBox="1"/>
          <p:nvPr/>
        </p:nvSpPr>
        <p:spPr>
          <a:xfrm>
            <a:off x="9198864" y="1691640"/>
            <a:ext cx="2194560" cy="868680"/>
          </a:xfrm>
          <a:prstGeom prst="rect">
            <a:avLst/>
          </a:prstGeom>
          <a:noFill/>
          <a:ln/>
        </p:spPr>
        <p:txBody>
          <a:bodyPr wrap="square" lIns="0" tIns="0" rIns="0" bIns="0" rtlCol="0" anchor="b"/>
          <a:lstStyle/>
          <a:p>
            <a:pPr indent="0" marL="0">
              <a:buNone/>
            </a:pPr>
            <a:r>
              <a:rPr lang="en-US" sz="4400" b="1" dirty="0">
                <a:solidFill>
                  <a:srgbClr val="C0262D"/>
                </a:solidFill>
                <a:latin typeface="Cambria" pitchFamily="34" charset="0"/>
                <a:ea typeface="Cambria" pitchFamily="34" charset="-122"/>
                <a:cs typeface="Cambria" pitchFamily="34" charset="-120"/>
              </a:rPr>
              <a:t>4/4</a:t>
            </a:r>
            <a:endParaRPr lang="en-US" sz="4400" dirty="0"/>
          </a:p>
        </p:txBody>
      </p:sp>
      <p:sp>
        <p:nvSpPr>
          <p:cNvPr id="15" name="Text 13"/>
          <p:cNvSpPr txBox="1"/>
          <p:nvPr/>
        </p:nvSpPr>
        <p:spPr>
          <a:xfrm>
            <a:off x="9198864" y="2606040"/>
            <a:ext cx="2194560" cy="1005840"/>
          </a:xfrm>
          <a:prstGeom prst="rect">
            <a:avLst/>
          </a:prstGeom>
          <a:noFill/>
          <a:ln/>
        </p:spPr>
        <p:txBody>
          <a:bodyPr wrap="square" lIns="0" tIns="0" rIns="0" bIns="0" rtlCol="0" anchor="t"/>
          <a:lstStyle/>
          <a:p>
            <a:pPr indent="0" marL="0">
              <a:buNone/>
            </a:pPr>
            <a:r>
              <a:rPr lang="en-US" sz="1400" dirty="0">
                <a:solidFill>
                  <a:srgbClr val="6B645A"/>
                </a:solidFill>
                <a:latin typeface="Calibri" pitchFamily="34" charset="0"/>
                <a:ea typeface="Calibri" pitchFamily="34" charset="-122"/>
                <a:cs typeface="Calibri" pitchFamily="34" charset="-120"/>
              </a:rPr>
              <a:t>attacks blocked in demo: forgery, replay, unmasking, flooding</a:t>
            </a:r>
            <a:endParaRPr lang="en-US" sz="1400" dirty="0"/>
          </a:p>
        </p:txBody>
      </p:sp>
      <p:sp>
        <p:nvSpPr>
          <p:cNvPr id="16" name="Text 14"/>
          <p:cNvSpPr txBox="1"/>
          <p:nvPr/>
        </p:nvSpPr>
        <p:spPr>
          <a:xfrm>
            <a:off x="548640" y="4251960"/>
            <a:ext cx="11094415"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Early warning reached the herder 90 minutes before the herd entered the farm</a:t>
            </a:r>
            <a:endParaRPr lang="en-US" sz="1600" dirty="0"/>
          </a:p>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A lone anonymous rumour stayed unverified (trust 0.30) and was never broadcast</a:t>
            </a:r>
            <a:endParaRPr lang="en-US" sz="1600" dirty="0"/>
          </a:p>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No acknowledgement in 30 minutes: case escalated to NSCDC Agro Rangers automatically</a:t>
            </a:r>
            <a:endParaRPr lang="en-US" sz="1600" dirty="0"/>
          </a:p>
          <a:p>
            <a:pPr marL="342900" indent="-342900">
              <a:spcAft>
                <a:spcPts val="800"/>
              </a:spcAft>
              <a:buSzPct val="100000"/>
              <a:buChar char="•"/>
            </a:pPr>
            <a:r>
              <a:rPr lang="en-US" sz="1600" dirty="0">
                <a:solidFill>
                  <a:srgbClr val="22201C"/>
                </a:solidFill>
                <a:latin typeface="Calibri" pitchFamily="34" charset="0"/>
                <a:ea typeface="Calibri" pitchFamily="34" charset="-122"/>
                <a:cs typeface="Calibri" pitchFamily="34" charset="-120"/>
              </a:rPr>
              <a:t>Editing one audit row was detected at the exact row</a:t>
            </a:r>
            <a:endParaRPr lang="en-US" sz="1600" dirty="0"/>
          </a:p>
        </p:txBody>
      </p:sp>
      <p:sp>
        <p:nvSpPr>
          <p:cNvPr id="17" name="Text 15"/>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B1D12"/>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C9B59C"/>
                </a:solidFill>
                <a:latin typeface="Calibri" pitchFamily="34" charset="0"/>
                <a:ea typeface="Calibri" pitchFamily="34" charset="-122"/>
                <a:cs typeface="Calibri" pitchFamily="34" charset="-120"/>
              </a:rPr>
              <a:t>LIVE DEMONSTRATION</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Let me show you</a:t>
            </a:r>
            <a:endParaRPr lang="en-US" sz="3400" dirty="0"/>
          </a:p>
        </p:txBody>
      </p:sp>
      <p:sp>
        <p:nvSpPr>
          <p:cNvPr id="4" name="Shape 2"/>
          <p:cNvSpPr/>
          <p:nvPr/>
        </p:nvSpPr>
        <p:spPr>
          <a:xfrm>
            <a:off x="548640" y="1554480"/>
            <a:ext cx="548640" cy="548640"/>
          </a:xfrm>
          <a:prstGeom prst="ellipse">
            <a:avLst/>
          </a:prstGeom>
          <a:solidFill>
            <a:srgbClr val="7A4A1F"/>
          </a:solidFill>
          <a:ln/>
        </p:spPr>
      </p:sp>
      <p:sp>
        <p:nvSpPr>
          <p:cNvPr id="5" name="Text 3"/>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155448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Public view: risk only, no herds</a:t>
            </a:r>
            <a:endParaRPr lang="en-US" sz="2000" dirty="0"/>
          </a:p>
        </p:txBody>
      </p:sp>
      <p:sp>
        <p:nvSpPr>
          <p:cNvPr id="7" name="Shape 5"/>
          <p:cNvSpPr/>
          <p:nvPr/>
        </p:nvSpPr>
        <p:spPr>
          <a:xfrm>
            <a:off x="548640" y="2423160"/>
            <a:ext cx="548640" cy="548640"/>
          </a:xfrm>
          <a:prstGeom prst="ellipse">
            <a:avLst/>
          </a:prstGeom>
          <a:solidFill>
            <a:srgbClr val="7A4A1F"/>
          </a:solidFill>
          <a:ln/>
        </p:spPr>
      </p:sp>
      <p:sp>
        <p:nvSpPr>
          <p:cNvPr id="8" name="Text 6"/>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242316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Sign in as coordinator: herds, forecasts, cases appear</a:t>
            </a:r>
            <a:endParaRPr lang="en-US" sz="2000" dirty="0"/>
          </a:p>
        </p:txBody>
      </p:sp>
      <p:sp>
        <p:nvSpPr>
          <p:cNvPr id="10" name="Shape 8"/>
          <p:cNvSpPr/>
          <p:nvPr/>
        </p:nvSpPr>
        <p:spPr>
          <a:xfrm>
            <a:off x="548640" y="3291840"/>
            <a:ext cx="548640" cy="548640"/>
          </a:xfrm>
          <a:prstGeom prst="ellipse">
            <a:avLst/>
          </a:prstGeom>
          <a:solidFill>
            <a:srgbClr val="7A4A1F"/>
          </a:solidFill>
          <a:ln/>
        </p:spPr>
      </p:sp>
      <p:sp>
        <p:nvSpPr>
          <p:cNvPr id="11" name="Text 9"/>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329184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Start the collar simulator: H1 gets an early warning, then enters a farm</a:t>
            </a:r>
            <a:endParaRPr lang="en-US" sz="2000" dirty="0"/>
          </a:p>
        </p:txBody>
      </p:sp>
      <p:sp>
        <p:nvSpPr>
          <p:cNvPr id="13" name="Shape 11"/>
          <p:cNvSpPr/>
          <p:nvPr/>
        </p:nvSpPr>
        <p:spPr>
          <a:xfrm>
            <a:off x="548640" y="4160520"/>
            <a:ext cx="548640" cy="548640"/>
          </a:xfrm>
          <a:prstGeom prst="ellipse">
            <a:avLst/>
          </a:prstGeom>
          <a:solidFill>
            <a:srgbClr val="7A4A1F"/>
          </a:solidFill>
          <a:ln/>
        </p:spPr>
      </p:sp>
      <p:sp>
        <p:nvSpPr>
          <p:cNvPr id="14" name="Text 12"/>
          <p:cNvSpPr txBox="1"/>
          <p:nvPr/>
        </p:nvSpPr>
        <p:spPr>
          <a:xfrm>
            <a:off x="548640" y="4160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1371600" y="416052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USSD phone: report cattle on a farm at Yelwata; watch the trust score</a:t>
            </a:r>
            <a:endParaRPr lang="en-US" sz="2000" dirty="0"/>
          </a:p>
        </p:txBody>
      </p:sp>
      <p:sp>
        <p:nvSpPr>
          <p:cNvPr id="16" name="Shape 14"/>
          <p:cNvSpPr/>
          <p:nvPr/>
        </p:nvSpPr>
        <p:spPr>
          <a:xfrm>
            <a:off x="548640" y="5029200"/>
            <a:ext cx="548640" cy="548640"/>
          </a:xfrm>
          <a:prstGeom prst="ellipse">
            <a:avLst/>
          </a:prstGeom>
          <a:solidFill>
            <a:srgbClr val="7A4A1F"/>
          </a:solidFill>
          <a:ln/>
        </p:spPr>
      </p:sp>
      <p:sp>
        <p:nvSpPr>
          <p:cNvPr id="17" name="Text 15"/>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txBox="1"/>
          <p:nvPr/>
        </p:nvSpPr>
        <p:spPr>
          <a:xfrm>
            <a:off x="1371600" y="5029200"/>
            <a:ext cx="100584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Acknowledge and resolve the case; show the audit chain</a:t>
            </a:r>
            <a:endParaRPr lang="en-US" sz="2000" dirty="0"/>
          </a:p>
        </p:txBody>
      </p:sp>
      <p:sp>
        <p:nvSpPr>
          <p:cNvPr id="19" name="Text 17"/>
          <p:cNvSpPr txBox="1"/>
          <p:nvPr/>
        </p:nvSpPr>
        <p:spPr>
          <a:xfrm>
            <a:off x="548640" y="6035040"/>
            <a:ext cx="10972800" cy="365760"/>
          </a:xfrm>
          <a:prstGeom prst="rect">
            <a:avLst/>
          </a:prstGeom>
          <a:noFill/>
          <a:ln/>
        </p:spPr>
        <p:txBody>
          <a:bodyPr wrap="square" lIns="0" tIns="0" rIns="0" bIns="0" rtlCol="0" anchor="t"/>
          <a:lstStyle/>
          <a:p>
            <a:pPr indent="0" marL="0">
              <a:buNone/>
            </a:pPr>
            <a:r>
              <a:rPr lang="en-US" sz="1300" i="1" dirty="0">
                <a:solidFill>
                  <a:srgbClr val="C9B59C"/>
                </a:solidFill>
                <a:latin typeface="Calibri" pitchFamily="34" charset="0"/>
                <a:ea typeface="Calibri" pitchFamily="34" charset="-122"/>
                <a:cs typeface="Calibri" pitchFamily="34" charset="-120"/>
              </a:rPr>
              <a:t>Backup plan if the laptop misbehaves:  python demo/run_demo.py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200" b="1" spc="300" kern="0" dirty="0">
                <a:solidFill>
                  <a:srgbClr val="7A4A1F"/>
                </a:solidFill>
                <a:latin typeface="Calibri" pitchFamily="34" charset="0"/>
                <a:ea typeface="Calibri" pitchFamily="34" charset="-122"/>
                <a:cs typeface="Calibri" pitchFamily="34" charset="-120"/>
              </a:rPr>
              <a:t>HONEST ASSESSMENT</a:t>
            </a:r>
            <a:endParaRPr lang="en-US" sz="1200" dirty="0"/>
          </a:p>
        </p:txBody>
      </p:sp>
      <p:sp>
        <p:nvSpPr>
          <p:cNvPr id="3" name="Text 1"/>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400" b="1" dirty="0">
                <a:solidFill>
                  <a:srgbClr val="22201C"/>
                </a:solidFill>
                <a:latin typeface="Cambria" pitchFamily="34" charset="0"/>
                <a:ea typeface="Cambria" pitchFamily="34" charset="-122"/>
                <a:cs typeface="Cambria" pitchFamily="34" charset="-120"/>
              </a:rPr>
              <a:t>Limitations and ethics</a:t>
            </a:r>
            <a:endParaRPr lang="en-US" sz="3400" dirty="0"/>
          </a:p>
        </p:txBody>
      </p:sp>
      <p:sp>
        <p:nvSpPr>
          <p:cNvPr id="4" name="Shape 2"/>
          <p:cNvSpPr/>
          <p:nvPr/>
        </p:nvSpPr>
        <p:spPr>
          <a:xfrm>
            <a:off x="548640" y="1463040"/>
            <a:ext cx="5394960" cy="4480560"/>
          </a:xfrm>
          <a:prstGeom prst="roundRect">
            <a:avLst>
              <a:gd name="adj" fmla="val 2449"/>
            </a:avLst>
          </a:prstGeom>
          <a:solidFill>
            <a:srgbClr val="FBEDEE"/>
          </a:solidFill>
          <a:ln/>
        </p:spPr>
      </p:sp>
      <p:sp>
        <p:nvSpPr>
          <p:cNvPr id="5" name="Text 3"/>
          <p:cNvSpPr txBox="1"/>
          <p:nvPr/>
        </p:nvSpPr>
        <p:spPr>
          <a:xfrm>
            <a:off x="822960" y="1645920"/>
            <a:ext cx="4846320" cy="457200"/>
          </a:xfrm>
          <a:prstGeom prst="rect">
            <a:avLst/>
          </a:prstGeom>
          <a:noFill/>
          <a:ln/>
        </p:spPr>
        <p:txBody>
          <a:bodyPr wrap="square" lIns="0" tIns="0" rIns="0" bIns="0" rtlCol="0" anchor="t"/>
          <a:lstStyle/>
          <a:p>
            <a:pPr indent="0" marL="0">
              <a:buNone/>
            </a:pPr>
            <a:r>
              <a:rPr lang="en-US" sz="2000" b="1" dirty="0">
                <a:solidFill>
                  <a:srgbClr val="C0262D"/>
                </a:solidFill>
                <a:latin typeface="Cambria" pitchFamily="34" charset="0"/>
                <a:ea typeface="Cambria" pitchFamily="34" charset="-122"/>
                <a:cs typeface="Cambria" pitchFamily="34" charset="-120"/>
              </a:rPr>
              <a:t>Limitations</a:t>
            </a:r>
            <a:endParaRPr lang="en-US" sz="2000" dirty="0"/>
          </a:p>
        </p:txBody>
      </p:sp>
      <p:sp>
        <p:nvSpPr>
          <p:cNvPr id="6" name="Text 4"/>
          <p:cNvSpPr txBox="1"/>
          <p:nvPr/>
        </p:nvSpPr>
        <p:spPr>
          <a:xfrm>
            <a:off x="822960" y="2194560"/>
            <a:ext cx="48463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Synthetic data; weights not yet calibrated</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Herders must agree to collars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Straight-line forecasts ignore terrain</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One server is a single point of failure</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Hausa text needs native review</a:t>
            </a:r>
            <a:endParaRPr lang="en-US" sz="1500" dirty="0"/>
          </a:p>
        </p:txBody>
      </p:sp>
      <p:sp>
        <p:nvSpPr>
          <p:cNvPr id="7" name="Shape 5"/>
          <p:cNvSpPr/>
          <p:nvPr/>
        </p:nvSpPr>
        <p:spPr>
          <a:xfrm>
            <a:off x="6245352" y="1463040"/>
            <a:ext cx="5394960" cy="4480560"/>
          </a:xfrm>
          <a:prstGeom prst="roundRect">
            <a:avLst>
              <a:gd name="adj" fmla="val 2449"/>
            </a:avLst>
          </a:prstGeom>
          <a:solidFill>
            <a:srgbClr val="E8F1E6"/>
          </a:solidFill>
          <a:ln/>
        </p:spPr>
      </p:sp>
      <p:sp>
        <p:nvSpPr>
          <p:cNvPr id="8" name="Text 6"/>
          <p:cNvSpPr txBox="1"/>
          <p:nvPr/>
        </p:nvSpPr>
        <p:spPr>
          <a:xfrm>
            <a:off x="6519672" y="1645920"/>
            <a:ext cx="4846320" cy="457200"/>
          </a:xfrm>
          <a:prstGeom prst="rect">
            <a:avLst/>
          </a:prstGeom>
          <a:noFill/>
          <a:ln/>
        </p:spPr>
        <p:txBody>
          <a:bodyPr wrap="square" lIns="0" tIns="0" rIns="0" bIns="0" rtlCol="0" anchor="t"/>
          <a:lstStyle/>
          <a:p>
            <a:pPr indent="0" marL="0">
              <a:buNone/>
            </a:pPr>
            <a:r>
              <a:rPr lang="en-US" sz="2000" b="1" dirty="0">
                <a:solidFill>
                  <a:srgbClr val="3F7F45"/>
                </a:solidFill>
                <a:latin typeface="Cambria" pitchFamily="34" charset="0"/>
                <a:ea typeface="Cambria" pitchFamily="34" charset="-122"/>
                <a:cs typeface="Cambria" pitchFamily="34" charset="-120"/>
              </a:rPr>
              <a:t>Do no harm</a:t>
            </a:r>
            <a:endParaRPr lang="en-US" sz="2000" dirty="0"/>
          </a:p>
        </p:txBody>
      </p:sp>
      <p:sp>
        <p:nvSpPr>
          <p:cNvPr id="9" name="Text 7"/>
          <p:cNvSpPr txBox="1"/>
          <p:nvPr/>
        </p:nvSpPr>
        <p:spPr>
          <a:xfrm>
            <a:off x="6519672" y="2194560"/>
            <a:ext cx="484632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Never broadcast unverified claims</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Never show herd positions publicly</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Protect informants by design</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Farmer and herder bodies co-govern the data</a:t>
            </a:r>
            <a:endParaRPr lang="en-US" sz="1500" dirty="0"/>
          </a:p>
          <a:p>
            <a:pPr marL="342900" indent="-342900">
              <a:spcAft>
                <a:spcPts val="800"/>
              </a:spcAft>
              <a:buSzPct val="100000"/>
              <a:buChar char="•"/>
            </a:pPr>
            <a:r>
              <a:rPr lang="en-US" sz="1500" dirty="0">
                <a:solidFill>
                  <a:srgbClr val="22201C"/>
                </a:solidFill>
                <a:latin typeface="Calibri" pitchFamily="34" charset="0"/>
                <a:ea typeface="Calibri" pitchFamily="34" charset="-122"/>
                <a:cs typeface="Calibri" pitchFamily="34" charset="-120"/>
              </a:rPr>
              <a:t>Follow the Nigeria Data Protection Act 2023</a:t>
            </a:r>
            <a:endParaRPr lang="en-US" sz="1500" dirty="0"/>
          </a:p>
        </p:txBody>
      </p:sp>
      <p:sp>
        <p:nvSpPr>
          <p:cNvPr id="10" name="Text 8"/>
          <p:cNvSpPr txBox="1"/>
          <p:nvPr/>
        </p:nvSpPr>
        <p:spPr>
          <a:xfrm>
            <a:off x="548640" y="6473952"/>
            <a:ext cx="11094415" cy="274320"/>
          </a:xfrm>
          <a:prstGeom prst="rect">
            <a:avLst/>
          </a:prstGeom>
          <a:noFill/>
          <a:ln/>
        </p:spPr>
        <p:txBody>
          <a:bodyPr wrap="square" lIns="0" tIns="0" rIns="0" bIns="0" rtlCol="0" anchor="ctr"/>
          <a:lstStyle/>
          <a:p>
            <a:pPr algn="r" indent="0" marL="0">
              <a:buNone/>
            </a:pPr>
            <a:r>
              <a:rPr lang="en-US" sz="1000" dirty="0">
                <a:solidFill>
                  <a:srgbClr val="6B645A"/>
                </a:solidFill>
                <a:latin typeface="Calibri" pitchFamily="34" charset="0"/>
                <a:ea typeface="Calibri" pitchFamily="34" charset="-122"/>
                <a:cs typeface="Calibri" pitchFamily="34" charset="-120"/>
              </a:rPr>
              <a:t>CMP 468 · AgroPeace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B1D12"/>
        </a:solidFill>
      </p:bgPr>
    </p:bg>
    <p:spTree>
      <p:nvGrpSpPr>
        <p:cNvPr id="1" name=""/>
        <p:cNvGrpSpPr/>
        <p:nvPr/>
      </p:nvGrpSpPr>
      <p:grpSpPr>
        <a:xfrm>
          <a:off x="0" y="0"/>
          <a:ext cx="0" cy="0"/>
          <a:chOff x="0" y="0"/>
          <a:chExt cx="0" cy="0"/>
        </a:xfrm>
      </p:grpSpPr>
      <p:sp>
        <p:nvSpPr>
          <p:cNvPr id="2" name="Shape 0"/>
          <p:cNvSpPr/>
          <p:nvPr/>
        </p:nvSpPr>
        <p:spPr>
          <a:xfrm>
            <a:off x="548640" y="914400"/>
            <a:ext cx="822960" cy="822960"/>
          </a:xfrm>
          <a:prstGeom prst="ellipse">
            <a:avLst/>
          </a:prstGeom>
          <a:solidFill>
            <a:srgbClr val="3F7F45"/>
          </a:solidFill>
          <a:ln/>
        </p:spPr>
      </p:sp>
      <p:pic>
        <p:nvPicPr>
          <p:cNvPr id="3" name="Image 0" descr="preencoded.png">    </p:cNvPr>
          <p:cNvPicPr>
            <a:picLocks noChangeAspect="1"/>
          </p:cNvPicPr>
          <p:nvPr/>
        </p:nvPicPr>
        <p:blipFill>
          <a:blip r:embed="rId1"/>
          <a:stretch>
            <a:fillRect/>
          </a:stretch>
        </p:blipFill>
        <p:spPr>
          <a:xfrm>
            <a:off x="729691" y="1095451"/>
            <a:ext cx="460858" cy="460858"/>
          </a:xfrm>
          <a:prstGeom prst="rect">
            <a:avLst/>
          </a:prstGeom>
        </p:spPr>
      </p:pic>
      <p:sp>
        <p:nvSpPr>
          <p:cNvPr id="4" name="Text 1"/>
          <p:cNvSpPr txBox="1"/>
          <p:nvPr/>
        </p:nvSpPr>
        <p:spPr>
          <a:xfrm>
            <a:off x="548640" y="1874520"/>
            <a:ext cx="10972800" cy="10058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Use the hours before violence</a:t>
            </a:r>
            <a:endParaRPr lang="en-US" sz="3600" dirty="0"/>
          </a:p>
        </p:txBody>
      </p:sp>
      <p:sp>
        <p:nvSpPr>
          <p:cNvPr id="5" name="Text 2"/>
          <p:cNvSpPr txBox="1"/>
          <p:nvPr/>
        </p:nvSpPr>
        <p:spPr>
          <a:xfrm>
            <a:off x="548640" y="3108960"/>
            <a:ext cx="10515600" cy="2103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ADBC8"/>
                </a:solidFill>
                <a:latin typeface="Calibri" pitchFamily="34" charset="0"/>
                <a:ea typeface="Calibri" pitchFamily="34" charset="-122"/>
                <a:cs typeface="Calibri" pitchFamily="34" charset="-120"/>
              </a:rPr>
              <a:t>GIS sees the herd coming and tells the herder where to go</a:t>
            </a:r>
            <a:endParaRPr lang="en-US" sz="2000" dirty="0"/>
          </a:p>
          <a:p>
            <a:pPr marL="342900" indent="-342900">
              <a:spcAft>
                <a:spcPts val="800"/>
              </a:spcAft>
              <a:buSzPct val="100000"/>
              <a:buChar char="•"/>
            </a:pPr>
            <a:r>
              <a:rPr lang="en-US" sz="2000" dirty="0">
                <a:solidFill>
                  <a:srgbClr val="EADBC8"/>
                </a:solidFill>
                <a:latin typeface="Calibri" pitchFamily="34" charset="0"/>
                <a:ea typeface="Calibri" pitchFamily="34" charset="-122"/>
                <a:cs typeface="Calibri" pitchFamily="34" charset="-120"/>
              </a:rPr>
              <a:t>Trust scoring stops rumours from spreading</a:t>
            </a:r>
            <a:endParaRPr lang="en-US" sz="2000" dirty="0"/>
          </a:p>
          <a:p>
            <a:pPr marL="342900" indent="-342900">
              <a:spcAft>
                <a:spcPts val="800"/>
              </a:spcAft>
              <a:buSzPct val="100000"/>
              <a:buChar char="•"/>
            </a:pPr>
            <a:r>
              <a:rPr lang="en-US" sz="2000" dirty="0">
                <a:solidFill>
                  <a:srgbClr val="EADBC8"/>
                </a:solidFill>
                <a:latin typeface="Calibri" pitchFamily="34" charset="0"/>
                <a:ea typeface="Calibri" pitchFamily="34" charset="-122"/>
                <a:cs typeface="Calibri" pitchFamily="34" charset="-120"/>
              </a:rPr>
              <a:t>Cases reach the right people, and escalate if nobody acts</a:t>
            </a:r>
            <a:endParaRPr lang="en-US" sz="2000" dirty="0"/>
          </a:p>
          <a:p>
            <a:pPr marL="342900" indent="-342900">
              <a:spcAft>
                <a:spcPts val="800"/>
              </a:spcAft>
              <a:buSzPct val="100000"/>
              <a:buChar char="•"/>
            </a:pPr>
            <a:r>
              <a:rPr lang="en-US" sz="2000" dirty="0">
                <a:solidFill>
                  <a:srgbClr val="EADBC8"/>
                </a:solidFill>
                <a:latin typeface="Calibri" pitchFamily="34" charset="0"/>
                <a:ea typeface="Calibri" pitchFamily="34" charset="-122"/>
                <a:cs typeface="Calibri" pitchFamily="34" charset="-120"/>
              </a:rPr>
              <a:t>Security keeps warnings true and informants safe</a:t>
            </a:r>
            <a:endParaRPr lang="en-US" sz="2000" dirty="0"/>
          </a:p>
        </p:txBody>
      </p:sp>
      <p:sp>
        <p:nvSpPr>
          <p:cNvPr id="6" name="Text 3"/>
          <p:cNvSpPr txBox="1"/>
          <p:nvPr/>
        </p:nvSpPr>
        <p:spPr>
          <a:xfrm>
            <a:off x="548640" y="5486400"/>
            <a:ext cx="10972800" cy="640080"/>
          </a:xfrm>
          <a:prstGeom prst="rect">
            <a:avLst/>
          </a:prstGeom>
          <a:noFill/>
          <a:ln/>
        </p:spPr>
        <p:txBody>
          <a:bodyPr wrap="square" lIns="0" tIns="0" rIns="0" bIns="0" rtlCol="0" anchor="t"/>
          <a:lstStyle/>
          <a:p>
            <a:pPr indent="0" marL="0">
              <a:buNone/>
            </a:pPr>
            <a:r>
              <a:rPr lang="en-US" sz="2800" b="1" dirty="0">
                <a:solidFill>
                  <a:srgbClr val="C9B59C"/>
                </a:solidFill>
                <a:latin typeface="Cambria" pitchFamily="34" charset="0"/>
                <a:ea typeface="Cambria" pitchFamily="34" charset="-122"/>
                <a:cs typeface="Cambria" pitchFamily="34" charset="-120"/>
              </a:rPr>
              <a:t>Thank you.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AgroPeace: GIS early warning for farmer/herder conflict</dc:title>
  <dc:subject>PptxGenJS Presentation</dc:subject>
  <dc:creator>PptxGenJS</dc:creator>
  <cp:lastModifiedBy>PptxGenJS</cp:lastModifiedBy>
  <cp:revision>1</cp:revision>
  <dcterms:created xsi:type="dcterms:W3CDTF">2026-09-29T05:22:42Z</dcterms:created>
  <dcterms:modified xsi:type="dcterms:W3CDTF">2026-09-29T05:22:42Z</dcterms:modified>
</cp:coreProperties>
</file>