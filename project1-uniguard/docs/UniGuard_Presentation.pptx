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D6B7A"/>
                </a:solidFill>
                <a:latin typeface="Arial"/>
              </a:defRPr>
            </a:pPr>
            <a:r>
              <a:rPr sz="1400" b="0" i="0" u="none" strike="noStrike">
                <a:solidFill>
                  <a:srgbClr val="5D6B7A"/>
                </a:solidFill>
                <a:latin typeface="Arial"/>
              </a:rPr>
              <a:t>Time in seconds</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0B5D3B"/>
            </a:solidFill>
            <a:effectLst/>
          </c:spPr>
          <c:invertIfNegative val="0"/>
          <c:dLbls>
            <c:numFmt formatCode="#,##0" sourceLinked="0"/>
            <c:txPr>
              <a:bodyPr/>
              <a:lstStyle/>
              <a:p>
                <a:pPr>
                  <a:defRPr b="0" i="0" strike="noStrike" sz="1400" u="none">
                    <a:solidFill>
                      <a:srgbClr val="1C2733"/>
                    </a:solidFill>
                    <a:latin typeface="Arial"/>
                  </a:defRPr>
                </a:pPr>
              </a:p>
            </c:txPr>
            <c:showLegendKey val="0"/>
            <c:showVal val="1"/>
            <c:showCatName val="0"/>
            <c:showSerName val="0"/>
            <c:showPercent val="0"/>
            <c:showBubbleSize val="0"/>
            <c:showLeaderLines val="0"/>
          </c:dLbls>
          <c:cat>
            <c:multiLvlStrRef>
              <c:f>Sheet1!$A$2:$A$5</c:f>
              <c:multiLvlStrCache>
                <c:ptCount val="4"/>
                <c:lvl>
                  <c:pt idx="0">
                    <c:v>Full backup</c:v>
                  </c:pt>
                  <c:pt idx="1">
                    <c:v>Incremental (1% changed)</c:v>
                  </c:pt>
                  <c:pt idx="2">
                    <c:v>Full verified restore</c:v>
                  </c:pt>
                  <c:pt idx="3">
                    <c:v>Ransomware: detect to recovered</c:v>
                  </c:pt>
                </c:lvl>
              </c:multiLvlStrCache>
            </c:multiLvlStrRef>
          </c:cat>
          <c:val>
            <c:numRef>
              <c:f>Sheet1!$B$2:$B$5</c:f>
              <c:numCache>
                <c:formatCode>General</c:formatCode>
                <c:ptCount val="4"/>
                <c:pt idx="0">
                  <c:v>6.2</c:v>
                </c:pt>
                <c:pt idx="1">
                  <c:v>0.1</c:v>
                </c:pt>
                <c:pt idx="2">
                  <c:v>1.7</c:v>
                </c:pt>
                <c:pt idx="3">
                  <c:v>2.7</c:v>
                </c:pt>
              </c:numCache>
            </c:numRef>
          </c:val>
        </c:ser>
        <c:dLbls>
          <c:numFmt formatCode="#,##0" sourceLinked="0"/>
          <c:txPr>
            <a:bodyPr/>
            <a:lstStyle/>
            <a:p>
              <a:pPr>
                <a:defRPr b="0" i="0" strike="noStrike" sz="1400" u="none">
                  <a:solidFill>
                    <a:srgbClr val="1C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C273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answers question one: develop an automated monitoring, backup and recovery system for university digital infrastructure. I called it UniGuard. I designed it around the real conditions of a Nigerian university, and I will show it working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frame the problem. In a 2026 survey across Nigerian universities, polytechnics and research institutes, 39 percent of respondents faced 4 to 6 hours of power outage every day, so abrupt power cuts are routine. The Data Protection Act gives us 72 hours to report a breach, so we must know quickly. And many departments back up to one drive kept next to the server, which ransomware encrypts along with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classes of attack from our course: ransomware is interruption, grade tampering is modification, and power and disk failure threaten availability. UniGuard has a specific control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All six were met, and I will show evidence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what we protect: the file server with results, records, bursary and payroll; the student portal; the result database; and the UPS. In the middle, the engine: a monitor, an integrity monitor, a backup engine, an incident responder, the crypto layer and an alert manager, all writing to a hash-chained audit log. On the right: an encrypted primary repository, an offsite copy that only ever holds ciphertext, SMS and email alerts, and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covers encryption and decryption from our outline. The passphrase goes through scrypt, which needs lots of memory per guess, so graphics-card cracking is expensive. HKDF splits the result into an encryption key and a naming key. Every chunk is encrypted with AES-256-GCM, which also detects any change. Tests confirm that flipping one bit, swapping two chunks, or using the wrong passphrase all fail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incremental backups are fast but need the whole chain to restore. Deduplication gives us both: each backup only writes new chunks, but each snapshot still restores on its own. On 195 megabytes, the second backup took a tenth of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studies, such as Lee and colleagues in 2023 and Davies and colleagues in 2022, detect ransomware from file entropy: encrypted files look random, so their Shannon entropy jumps close to 8 bits per byte. Bang and colleagues showed in 2024 that attackers can disguise entropy, which is why I never rely on entropy alone. I combine four signals. It needs two or more to go critical, which keeps false alarms down. Compressed formats like PDF and DOCX are excluded from the entropy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score crosses 50, UniGuard locks down backups so encrypted files never overwrite good ones. It copies damaged files and moves the attacker's files into quarantine as evidence. It restores from the last clean snapshot, checks every file's hash, then sends SMS alerts and records the recovery time. In my benchmark, 600 files came back in 2.7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 I think matters most for a Nigerian university. The Registry marks the results folder as protected and gives it approval windows. Any change outside a window raises a critical alert. Backups after that are marked suspect, so the approved copy stays available as evidence. And if someone edits the audit log to cover it up, the hash chain breaks at the exact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backup tools assume steady power and fast internet. UniGuard assumes the opposite. It knows when we are on inverter, it sends offsite copies at night under a data cap, and it alerts by SMS because the internet often fails at the same moment as the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after three staged incidents. It refreshes every three seconds. The dashboard itself is protected: login with lockout, a CSRF header on every action, and security headers against clickjacking.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time objective under three seconds, compared with days of manual rebuilding. The recovery point objective is the backup interval: one hour normally, fifteen minutes in exam season. The tests prove the security properties, not just that the code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and browser now. Terminal 1 runs the dashboard, terminal 2 the fake portal, terminal 3 the incident simulator. Run: simulate_incident.py power-off, then Ctrl+C the portal, then tamper, then ransomware. If anything fails, run demo/run_demo.py --fast which tells the same story in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limits. The biggest one: changes made after the last backup are lost, so exam season uses a 15-minute interval. The offsite copy on a separate machine is the answer to an attacker who gets administrator rights on the main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UniGuard shows that a university can protect its records against ransomware, tampering and power failure with free software on ordinary hardware. Thank you.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20"/>
        </a:solidFill>
      </p:bgPr>
    </p:bg>
    <p:spTree>
      <p:nvGrpSpPr>
        <p:cNvPr id="1" name=""/>
        <p:cNvGrpSpPr/>
        <p:nvPr/>
      </p:nvGrpSpPr>
      <p:grpSpPr>
        <a:xfrm>
          <a:off x="0" y="0"/>
          <a:ext cx="0" cy="0"/>
          <a:chOff x="0" y="0"/>
          <a:chExt cx="0" cy="0"/>
        </a:xfrm>
      </p:grpSpPr>
      <p:sp>
        <p:nvSpPr>
          <p:cNvPr id="2" name="Shape 0"/>
          <p:cNvSpPr/>
          <p:nvPr/>
        </p:nvSpPr>
        <p:spPr>
          <a:xfrm>
            <a:off x="548640" y="1097280"/>
            <a:ext cx="1005840" cy="1005840"/>
          </a:xfrm>
          <a:prstGeom prst="ellipse">
            <a:avLst/>
          </a:prstGeom>
          <a:solidFill>
            <a:srgbClr val="0B5D3B"/>
          </a:solidFill>
          <a:ln/>
        </p:spPr>
      </p:sp>
      <p:pic>
        <p:nvPicPr>
          <p:cNvPr id="3" name="Image 0" descr="preencoded.png">    </p:cNvPr>
          <p:cNvPicPr>
            <a:picLocks noChangeAspect="1"/>
          </p:cNvPicPr>
          <p:nvPr/>
        </p:nvPicPr>
        <p:blipFill>
          <a:blip r:embed="rId1"/>
          <a:stretch>
            <a:fillRect/>
          </a:stretch>
        </p:blipFill>
        <p:spPr>
          <a:xfrm>
            <a:off x="769925" y="1318565"/>
            <a:ext cx="563270" cy="563270"/>
          </a:xfrm>
          <a:prstGeom prst="rect">
            <a:avLst/>
          </a:prstGeom>
        </p:spPr>
      </p:pic>
      <p:sp>
        <p:nvSpPr>
          <p:cNvPr id="4" name="Text 1"/>
          <p:cNvSpPr txBox="1"/>
          <p:nvPr/>
        </p:nvSpPr>
        <p:spPr>
          <a:xfrm>
            <a:off x="548640" y="2286000"/>
            <a:ext cx="100584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UniGuard</a:t>
            </a:r>
            <a:endParaRPr lang="en-US" sz="6000" dirty="0"/>
          </a:p>
        </p:txBody>
      </p:sp>
      <p:sp>
        <p:nvSpPr>
          <p:cNvPr id="5" name="Text 2"/>
          <p:cNvSpPr txBox="1"/>
          <p:nvPr/>
        </p:nvSpPr>
        <p:spPr>
          <a:xfrm>
            <a:off x="548640" y="3291840"/>
            <a:ext cx="10058400" cy="822960"/>
          </a:xfrm>
          <a:prstGeom prst="rect">
            <a:avLst/>
          </a:prstGeom>
          <a:noFill/>
          <a:ln/>
        </p:spPr>
        <p:txBody>
          <a:bodyPr wrap="square" lIns="0" tIns="0" rIns="0" bIns="0" rtlCol="0" anchor="ctr"/>
          <a:lstStyle/>
          <a:p>
            <a:pPr indent="0" marL="0">
              <a:buNone/>
            </a:pPr>
            <a:r>
              <a:rPr lang="en-US" sz="2400" dirty="0">
                <a:solidFill>
                  <a:srgbClr val="CFE8DA"/>
                </a:solidFill>
                <a:latin typeface="Calibri" pitchFamily="34" charset="0"/>
                <a:ea typeface="Calibri" pitchFamily="34" charset="-122"/>
                <a:cs typeface="Calibri" pitchFamily="34" charset="-120"/>
              </a:rPr>
              <a:t>Automated monitoring, backup and recovery for university digital infrastructure</a:t>
            </a:r>
            <a:endParaRPr lang="en-US" sz="2400" dirty="0"/>
          </a:p>
        </p:txBody>
      </p:sp>
      <p:sp>
        <p:nvSpPr>
          <p:cNvPr id="6" name="Text 3"/>
          <p:cNvSpPr txBox="1"/>
          <p:nvPr/>
        </p:nvSpPr>
        <p:spPr>
          <a:xfrm>
            <a:off x="548640" y="4114800"/>
            <a:ext cx="10058400" cy="548640"/>
          </a:xfrm>
          <a:prstGeom prst="rect">
            <a:avLst/>
          </a:prstGeom>
          <a:noFill/>
          <a:ln/>
        </p:spPr>
        <p:txBody>
          <a:bodyPr wrap="square" lIns="0" tIns="0" rIns="0" bIns="0" rtlCol="0" anchor="ctr"/>
          <a:lstStyle/>
          <a:p>
            <a:pPr indent="0" marL="0">
              <a:buNone/>
            </a:pPr>
            <a:r>
              <a:rPr lang="en-US" sz="1600" i="1" dirty="0">
                <a:solidFill>
                  <a:srgbClr val="9FC7B2"/>
                </a:solidFill>
                <a:latin typeface="Calibri" pitchFamily="34" charset="0"/>
                <a:ea typeface="Calibri" pitchFamily="34" charset="-122"/>
                <a:cs typeface="Calibri" pitchFamily="34" charset="-120"/>
              </a:rPr>
              <a:t>Built for Nigerian campus conditions: unstable power, costly bandwidth, small budgets and result tampering</a:t>
            </a:r>
            <a:endParaRPr lang="en-US" sz="1600" dirty="0"/>
          </a:p>
        </p:txBody>
      </p:sp>
      <p:sp>
        <p:nvSpPr>
          <p:cNvPr id="7" name="Text 4"/>
          <p:cNvSpPr txBox="1"/>
          <p:nvPr/>
        </p:nvSpPr>
        <p:spPr>
          <a:xfrm>
            <a:off x="548640" y="5760720"/>
            <a:ext cx="10972800" cy="365760"/>
          </a:xfrm>
          <a:prstGeom prst="rect">
            <a:avLst/>
          </a:prstGeom>
          <a:noFill/>
          <a:ln/>
        </p:spPr>
        <p:txBody>
          <a:bodyPr wrap="square" lIns="0" tIns="0" rIns="0" bIns="0" rtlCol="0" anchor="ctr"/>
          <a:lstStyle/>
          <a:p>
            <a:pPr indent="0" marL="0">
              <a:buNone/>
            </a:pPr>
            <a:r>
              <a:rPr lang="en-US" sz="1400" dirty="0">
                <a:solidFill>
                  <a:srgbClr val="CFE8DA"/>
                </a:solidFill>
                <a:latin typeface="Calibri" pitchFamily="34" charset="0"/>
                <a:ea typeface="Calibri" pitchFamily="34" charset="-122"/>
                <a:cs typeface="Calibri" pitchFamily="34" charset="-120"/>
              </a:rPr>
              <a:t>[Your Name]  ·  [Matric No]  ·  CMP 468: Computer Security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Campus records can vanish in minutes</a:t>
            </a:r>
            <a:endParaRPr lang="en-US" sz="3400" dirty="0"/>
          </a:p>
        </p:txBody>
      </p:sp>
      <p:sp>
        <p:nvSpPr>
          <p:cNvPr id="4" name="Shape 2"/>
          <p:cNvSpPr/>
          <p:nvPr/>
        </p:nvSpPr>
        <p:spPr>
          <a:xfrm>
            <a:off x="548640" y="1600200"/>
            <a:ext cx="3474720" cy="2651760"/>
          </a:xfrm>
          <a:prstGeom prst="roundRect">
            <a:avLst>
              <a:gd name="adj" fmla="val 4138"/>
            </a:avLst>
          </a:prstGeom>
          <a:solidFill>
            <a:srgbClr val="EAF4EE"/>
          </a:solidFill>
          <a:ln/>
        </p:spPr>
      </p:sp>
      <p:sp>
        <p:nvSpPr>
          <p:cNvPr id="5" name="Text 3"/>
          <p:cNvSpPr txBox="1"/>
          <p:nvPr/>
        </p:nvSpPr>
        <p:spPr>
          <a:xfrm>
            <a:off x="868680" y="1783080"/>
            <a:ext cx="2834640" cy="868680"/>
          </a:xfrm>
          <a:prstGeom prst="rect">
            <a:avLst/>
          </a:prstGeom>
          <a:noFill/>
          <a:ln/>
        </p:spPr>
        <p:txBody>
          <a:bodyPr wrap="square" lIns="0" tIns="0" rIns="0" bIns="0" rtlCol="0" anchor="b"/>
          <a:lstStyle/>
          <a:p>
            <a:pPr indent="0" marL="0">
              <a:buNone/>
            </a:pPr>
            <a:r>
              <a:rPr lang="en-US" sz="4400" b="1" dirty="0">
                <a:solidFill>
                  <a:srgbClr val="D69E2E"/>
                </a:solidFill>
                <a:latin typeface="Cambria" pitchFamily="34" charset="0"/>
                <a:ea typeface="Cambria" pitchFamily="34" charset="-122"/>
                <a:cs typeface="Cambria" pitchFamily="34" charset="-120"/>
              </a:rPr>
              <a:t>39%</a:t>
            </a:r>
            <a:endParaRPr lang="en-US" sz="4400" dirty="0"/>
          </a:p>
        </p:txBody>
      </p:sp>
      <p:sp>
        <p:nvSpPr>
          <p:cNvPr id="6" name="Text 4"/>
          <p:cNvSpPr txBox="1"/>
          <p:nvPr/>
        </p:nvSpPr>
        <p:spPr>
          <a:xfrm>
            <a:off x="868680" y="2697480"/>
            <a:ext cx="283464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of surveyed staff at Nigerian tertiary institutions face 4 to 6 hours of power outage daily (Ibrahim et al., 2026)</a:t>
            </a:r>
            <a:endParaRPr lang="en-US" sz="1400" dirty="0"/>
          </a:p>
        </p:txBody>
      </p:sp>
      <p:sp>
        <p:nvSpPr>
          <p:cNvPr id="7" name="Shape 5"/>
          <p:cNvSpPr/>
          <p:nvPr/>
        </p:nvSpPr>
        <p:spPr>
          <a:xfrm>
            <a:off x="4297680" y="1600200"/>
            <a:ext cx="3474720" cy="2651760"/>
          </a:xfrm>
          <a:prstGeom prst="roundRect">
            <a:avLst>
              <a:gd name="adj" fmla="val 4138"/>
            </a:avLst>
          </a:prstGeom>
          <a:solidFill>
            <a:srgbClr val="EAF4EE"/>
          </a:solidFill>
          <a:ln/>
        </p:spPr>
      </p:sp>
      <p:sp>
        <p:nvSpPr>
          <p:cNvPr id="8" name="Text 6"/>
          <p:cNvSpPr txBox="1"/>
          <p:nvPr/>
        </p:nvSpPr>
        <p:spPr>
          <a:xfrm>
            <a:off x="4617720" y="1783080"/>
            <a:ext cx="2834640" cy="868680"/>
          </a:xfrm>
          <a:prstGeom prst="rect">
            <a:avLst/>
          </a:prstGeom>
          <a:noFill/>
          <a:ln/>
        </p:spPr>
        <p:txBody>
          <a:bodyPr wrap="square" lIns="0" tIns="0" rIns="0" bIns="0" rtlCol="0" anchor="b"/>
          <a:lstStyle/>
          <a:p>
            <a:pPr indent="0" marL="0">
              <a:buNone/>
            </a:pPr>
            <a:r>
              <a:rPr lang="en-US" sz="4400" b="1" dirty="0">
                <a:solidFill>
                  <a:srgbClr val="0B5D3B"/>
                </a:solidFill>
                <a:latin typeface="Cambria" pitchFamily="34" charset="0"/>
                <a:ea typeface="Cambria" pitchFamily="34" charset="-122"/>
                <a:cs typeface="Cambria" pitchFamily="34" charset="-120"/>
              </a:rPr>
              <a:t>72 hrs</a:t>
            </a:r>
            <a:endParaRPr lang="en-US" sz="4400" dirty="0"/>
          </a:p>
        </p:txBody>
      </p:sp>
      <p:sp>
        <p:nvSpPr>
          <p:cNvPr id="9" name="Text 7"/>
          <p:cNvSpPr txBox="1"/>
          <p:nvPr/>
        </p:nvSpPr>
        <p:spPr>
          <a:xfrm>
            <a:off x="4617720" y="2697480"/>
            <a:ext cx="283464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to report a personal data breach to the NDPC under the Nigeria Data Protection Act 2023, s.40</a:t>
            </a:r>
            <a:endParaRPr lang="en-US" sz="1400" dirty="0"/>
          </a:p>
        </p:txBody>
      </p:sp>
      <p:sp>
        <p:nvSpPr>
          <p:cNvPr id="10" name="Shape 8"/>
          <p:cNvSpPr/>
          <p:nvPr/>
        </p:nvSpPr>
        <p:spPr>
          <a:xfrm>
            <a:off x="8046720" y="1600200"/>
            <a:ext cx="3474720" cy="2651760"/>
          </a:xfrm>
          <a:prstGeom prst="roundRect">
            <a:avLst>
              <a:gd name="adj" fmla="val 4138"/>
            </a:avLst>
          </a:prstGeom>
          <a:solidFill>
            <a:srgbClr val="EAF4EE"/>
          </a:solidFill>
          <a:ln/>
        </p:spPr>
      </p:sp>
      <p:sp>
        <p:nvSpPr>
          <p:cNvPr id="11" name="Text 9"/>
          <p:cNvSpPr txBox="1"/>
          <p:nvPr/>
        </p:nvSpPr>
        <p:spPr>
          <a:xfrm>
            <a:off x="8366760" y="1783080"/>
            <a:ext cx="2834640" cy="868680"/>
          </a:xfrm>
          <a:prstGeom prst="rect">
            <a:avLst/>
          </a:prstGeom>
          <a:noFill/>
          <a:ln/>
        </p:spPr>
        <p:txBody>
          <a:bodyPr wrap="square" lIns="0" tIns="0" rIns="0" bIns="0" rtlCol="0" anchor="b"/>
          <a:lstStyle/>
          <a:p>
            <a:pPr indent="0" marL="0">
              <a:buNone/>
            </a:pPr>
            <a:r>
              <a:rPr lang="en-US" sz="4400" b="1" dirty="0">
                <a:solidFill>
                  <a:srgbClr val="C53030"/>
                </a:solidFill>
                <a:latin typeface="Cambria" pitchFamily="34" charset="0"/>
                <a:ea typeface="Cambria" pitchFamily="34" charset="-122"/>
                <a:cs typeface="Cambria" pitchFamily="34" charset="-120"/>
              </a:rPr>
              <a:t>1 drive</a:t>
            </a:r>
            <a:endParaRPr lang="en-US" sz="4400" dirty="0"/>
          </a:p>
        </p:txBody>
      </p:sp>
      <p:sp>
        <p:nvSpPr>
          <p:cNvPr id="12" name="Text 10"/>
          <p:cNvSpPr txBox="1"/>
          <p:nvPr/>
        </p:nvSpPr>
        <p:spPr>
          <a:xfrm>
            <a:off x="8366760" y="2697480"/>
            <a:ext cx="283464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is all many departments use for backup, and it sits beside the server ransomware attacks</a:t>
            </a:r>
            <a:endParaRPr lang="en-US" sz="1400" dirty="0"/>
          </a:p>
        </p:txBody>
      </p:sp>
      <p:sp>
        <p:nvSpPr>
          <p:cNvPr id="13" name="Text 11"/>
          <p:cNvSpPr txBox="1"/>
          <p:nvPr/>
        </p:nvSpPr>
        <p:spPr>
          <a:xfrm>
            <a:off x="548640" y="4572000"/>
            <a:ext cx="11094415" cy="1097280"/>
          </a:xfrm>
          <a:prstGeom prst="rect">
            <a:avLst/>
          </a:prstGeom>
          <a:noFill/>
          <a:ln/>
        </p:spPr>
        <p:txBody>
          <a:bodyPr wrap="square" lIns="0" tIns="0" rIns="0" bIns="0" rtlCol="0" anchor="t"/>
          <a:lstStyle/>
          <a:p>
            <a:pPr indent="0" marL="0">
              <a:spcAft>
                <a:spcPts val="600"/>
              </a:spcAft>
              <a:buNone/>
            </a:pPr>
            <a:r>
              <a:rPr lang="en-US" sz="1800" dirty="0">
                <a:solidFill>
                  <a:srgbClr val="1C2733"/>
                </a:solidFill>
                <a:latin typeface="Calibri" pitchFamily="34" charset="0"/>
                <a:ea typeface="Calibri" pitchFamily="34" charset="-122"/>
                <a:cs typeface="Calibri" pitchFamily="34" charset="-120"/>
              </a:rPr>
              <a:t>Admissions (CAPS), fees (Remita), course registration, results and transcripts now all run on campus servers. Most have no monitoring, no tested restore, and no record of who changed what.</a:t>
            </a:r>
            <a:endParaRPr lang="en-US" sz="1800" dirty="0"/>
          </a:p>
        </p:txBody>
      </p:sp>
      <p:sp>
        <p:nvSpPr>
          <p:cNvPr id="14" name="Text 12"/>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THREAT MODEL</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Five ways a university loses its data</a:t>
            </a:r>
            <a:endParaRPr lang="en-US" sz="3400" dirty="0"/>
          </a:p>
        </p:txBody>
      </p:sp>
      <p:sp>
        <p:nvSpPr>
          <p:cNvPr id="4" name="Shape 2"/>
          <p:cNvSpPr/>
          <p:nvPr/>
        </p:nvSpPr>
        <p:spPr>
          <a:xfrm>
            <a:off x="548640" y="1463040"/>
            <a:ext cx="658368" cy="658368"/>
          </a:xfrm>
          <a:prstGeom prst="ellipse">
            <a:avLst/>
          </a:prstGeom>
          <a:solidFill>
            <a:srgbClr val="C53030"/>
          </a:solidFill>
          <a:ln/>
        </p:spPr>
      </p:sp>
      <p:pic>
        <p:nvPicPr>
          <p:cNvPr id="5" name="Image 0" descr="preencoded.png">    </p:cNvPr>
          <p:cNvPicPr>
            <a:picLocks noChangeAspect="1"/>
          </p:cNvPicPr>
          <p:nvPr/>
        </p:nvPicPr>
        <p:blipFill>
          <a:blip r:embed="rId1"/>
          <a:stretch>
            <a:fillRect/>
          </a:stretch>
        </p:blipFill>
        <p:spPr>
          <a:xfrm>
            <a:off x="693481" y="1607881"/>
            <a:ext cx="368686" cy="368686"/>
          </a:xfrm>
          <a:prstGeom prst="rect">
            <a:avLst/>
          </a:prstGeom>
        </p:spPr>
      </p:pic>
      <p:sp>
        <p:nvSpPr>
          <p:cNvPr id="6" name="Text 3"/>
          <p:cNvSpPr txBox="1"/>
          <p:nvPr/>
        </p:nvSpPr>
        <p:spPr>
          <a:xfrm>
            <a:off x="1463040" y="1444752"/>
            <a:ext cx="3017520" cy="658368"/>
          </a:xfrm>
          <a:prstGeom prst="rect">
            <a:avLst/>
          </a:prstGeom>
          <a:noFill/>
          <a:ln/>
        </p:spPr>
        <p:txBody>
          <a:bodyPr wrap="square" lIns="0" tIns="0" rIns="0" bIns="0" rtlCol="0" anchor="ctr"/>
          <a:lstStyle/>
          <a:p>
            <a:pPr indent="0" marL="0">
              <a:buNone/>
            </a:pPr>
            <a:r>
              <a:rPr lang="en-US" sz="2000" b="1" dirty="0">
                <a:solidFill>
                  <a:srgbClr val="1C2733"/>
                </a:solidFill>
                <a:latin typeface="Cambria" pitchFamily="34" charset="0"/>
                <a:ea typeface="Cambria" pitchFamily="34" charset="-122"/>
                <a:cs typeface="Cambria" pitchFamily="34" charset="-120"/>
              </a:rPr>
              <a:t>Ransomware</a:t>
            </a:r>
            <a:endParaRPr lang="en-US" sz="2000" dirty="0"/>
          </a:p>
        </p:txBody>
      </p:sp>
      <p:sp>
        <p:nvSpPr>
          <p:cNvPr id="7" name="Text 4"/>
          <p:cNvSpPr txBox="1"/>
          <p:nvPr/>
        </p:nvSpPr>
        <p:spPr>
          <a:xfrm>
            <a:off x="4480560" y="1444752"/>
            <a:ext cx="7040880" cy="658368"/>
          </a:xfrm>
          <a:prstGeom prst="rect">
            <a:avLst/>
          </a:prstGeom>
          <a:noFill/>
          <a:ln/>
        </p:spPr>
        <p:txBody>
          <a:bodyPr wrap="square" lIns="0" tIns="0" rIns="0" bIns="0" rtlCol="0" anchor="ctr"/>
          <a:lstStyle/>
          <a:p>
            <a:pPr indent="0" marL="0">
              <a:buNone/>
            </a:pPr>
            <a:r>
              <a:rPr lang="en-US" sz="1700" dirty="0">
                <a:solidFill>
                  <a:srgbClr val="5D6B7A"/>
                </a:solidFill>
                <a:latin typeface="Calibri" pitchFamily="34" charset="0"/>
                <a:ea typeface="Calibri" pitchFamily="34" charset="-122"/>
                <a:cs typeface="Calibri" pitchFamily="34" charset="-120"/>
              </a:rPr>
              <a:t>encrypts the file server and every attached drive</a:t>
            </a:r>
            <a:endParaRPr lang="en-US" sz="1700" dirty="0"/>
          </a:p>
        </p:txBody>
      </p:sp>
      <p:sp>
        <p:nvSpPr>
          <p:cNvPr id="8" name="Shape 5"/>
          <p:cNvSpPr/>
          <p:nvPr/>
        </p:nvSpPr>
        <p:spPr>
          <a:xfrm>
            <a:off x="548640" y="2377440"/>
            <a:ext cx="658368" cy="658368"/>
          </a:xfrm>
          <a:prstGeom prst="ellipse">
            <a:avLst/>
          </a:prstGeom>
          <a:solidFill>
            <a:srgbClr val="C53030"/>
          </a:solidFill>
          <a:ln/>
        </p:spPr>
      </p:sp>
      <p:pic>
        <p:nvPicPr>
          <p:cNvPr id="9" name="Image 1" descr="preencoded.png">    </p:cNvPr>
          <p:cNvPicPr>
            <a:picLocks noChangeAspect="1"/>
          </p:cNvPicPr>
          <p:nvPr/>
        </p:nvPicPr>
        <p:blipFill>
          <a:blip r:embed="rId2"/>
          <a:stretch>
            <a:fillRect/>
          </a:stretch>
        </p:blipFill>
        <p:spPr>
          <a:xfrm>
            <a:off x="693481" y="2522281"/>
            <a:ext cx="368686" cy="368686"/>
          </a:xfrm>
          <a:prstGeom prst="rect">
            <a:avLst/>
          </a:prstGeom>
        </p:spPr>
      </p:pic>
      <p:sp>
        <p:nvSpPr>
          <p:cNvPr id="10" name="Text 6"/>
          <p:cNvSpPr txBox="1"/>
          <p:nvPr/>
        </p:nvSpPr>
        <p:spPr>
          <a:xfrm>
            <a:off x="1463040" y="2359152"/>
            <a:ext cx="3017520" cy="658368"/>
          </a:xfrm>
          <a:prstGeom prst="rect">
            <a:avLst/>
          </a:prstGeom>
          <a:noFill/>
          <a:ln/>
        </p:spPr>
        <p:txBody>
          <a:bodyPr wrap="square" lIns="0" tIns="0" rIns="0" bIns="0" rtlCol="0" anchor="ctr"/>
          <a:lstStyle/>
          <a:p>
            <a:pPr indent="0" marL="0">
              <a:buNone/>
            </a:pPr>
            <a:r>
              <a:rPr lang="en-US" sz="2000" b="1" dirty="0">
                <a:solidFill>
                  <a:srgbClr val="1C2733"/>
                </a:solidFill>
                <a:latin typeface="Cambria" pitchFamily="34" charset="0"/>
                <a:ea typeface="Cambria" pitchFamily="34" charset="-122"/>
                <a:cs typeface="Cambria" pitchFamily="34" charset="-120"/>
              </a:rPr>
              <a:t>Insider tampering</a:t>
            </a:r>
            <a:endParaRPr lang="en-US" sz="2000" dirty="0"/>
          </a:p>
        </p:txBody>
      </p:sp>
      <p:sp>
        <p:nvSpPr>
          <p:cNvPr id="11" name="Text 7"/>
          <p:cNvSpPr txBox="1"/>
          <p:nvPr/>
        </p:nvSpPr>
        <p:spPr>
          <a:xfrm>
            <a:off x="4480560" y="2359152"/>
            <a:ext cx="7040880" cy="658368"/>
          </a:xfrm>
          <a:prstGeom prst="rect">
            <a:avLst/>
          </a:prstGeom>
          <a:noFill/>
          <a:ln/>
        </p:spPr>
        <p:txBody>
          <a:bodyPr wrap="square" lIns="0" tIns="0" rIns="0" bIns="0" rtlCol="0" anchor="ctr"/>
          <a:lstStyle/>
          <a:p>
            <a:pPr indent="0" marL="0">
              <a:buNone/>
            </a:pPr>
            <a:r>
              <a:rPr lang="en-US" sz="1700" dirty="0">
                <a:solidFill>
                  <a:srgbClr val="5D6B7A"/>
                </a:solidFill>
                <a:latin typeface="Calibri" pitchFamily="34" charset="0"/>
                <a:ea typeface="Calibri" pitchFamily="34" charset="-122"/>
                <a:cs typeface="Calibri" pitchFamily="34" charset="-120"/>
              </a:rPr>
              <a:t>raises a grade after Senate approval</a:t>
            </a:r>
            <a:endParaRPr lang="en-US" sz="1700" dirty="0"/>
          </a:p>
        </p:txBody>
      </p:sp>
      <p:sp>
        <p:nvSpPr>
          <p:cNvPr id="12" name="Shape 8"/>
          <p:cNvSpPr/>
          <p:nvPr/>
        </p:nvSpPr>
        <p:spPr>
          <a:xfrm>
            <a:off x="548640" y="3291840"/>
            <a:ext cx="658368" cy="658368"/>
          </a:xfrm>
          <a:prstGeom prst="ellipse">
            <a:avLst/>
          </a:prstGeom>
          <a:solidFill>
            <a:srgbClr val="D69E2E"/>
          </a:solidFill>
          <a:ln/>
        </p:spPr>
      </p:sp>
      <p:pic>
        <p:nvPicPr>
          <p:cNvPr id="13" name="Image 2" descr="preencoded.png">    </p:cNvPr>
          <p:cNvPicPr>
            <a:picLocks noChangeAspect="1"/>
          </p:cNvPicPr>
          <p:nvPr/>
        </p:nvPicPr>
        <p:blipFill>
          <a:blip r:embed="rId3"/>
          <a:stretch>
            <a:fillRect/>
          </a:stretch>
        </p:blipFill>
        <p:spPr>
          <a:xfrm>
            <a:off x="693481" y="3436681"/>
            <a:ext cx="368686" cy="368686"/>
          </a:xfrm>
          <a:prstGeom prst="rect">
            <a:avLst/>
          </a:prstGeom>
        </p:spPr>
      </p:pic>
      <p:sp>
        <p:nvSpPr>
          <p:cNvPr id="14" name="Text 9"/>
          <p:cNvSpPr txBox="1"/>
          <p:nvPr/>
        </p:nvSpPr>
        <p:spPr>
          <a:xfrm>
            <a:off x="1463040" y="3273552"/>
            <a:ext cx="3017520" cy="658368"/>
          </a:xfrm>
          <a:prstGeom prst="rect">
            <a:avLst/>
          </a:prstGeom>
          <a:noFill/>
          <a:ln/>
        </p:spPr>
        <p:txBody>
          <a:bodyPr wrap="square" lIns="0" tIns="0" rIns="0" bIns="0" rtlCol="0" anchor="ctr"/>
          <a:lstStyle/>
          <a:p>
            <a:pPr indent="0" marL="0">
              <a:buNone/>
            </a:pPr>
            <a:r>
              <a:rPr lang="en-US" sz="2000" b="1" dirty="0">
                <a:solidFill>
                  <a:srgbClr val="1C2733"/>
                </a:solidFill>
                <a:latin typeface="Cambria" pitchFamily="34" charset="0"/>
                <a:ea typeface="Cambria" pitchFamily="34" charset="-122"/>
                <a:cs typeface="Cambria" pitchFamily="34" charset="-120"/>
              </a:rPr>
              <a:t>Power failure</a:t>
            </a:r>
            <a:endParaRPr lang="en-US" sz="2000" dirty="0"/>
          </a:p>
        </p:txBody>
      </p:sp>
      <p:sp>
        <p:nvSpPr>
          <p:cNvPr id="15" name="Text 10"/>
          <p:cNvSpPr txBox="1"/>
          <p:nvPr/>
        </p:nvSpPr>
        <p:spPr>
          <a:xfrm>
            <a:off x="4480560" y="3273552"/>
            <a:ext cx="7040880" cy="658368"/>
          </a:xfrm>
          <a:prstGeom prst="rect">
            <a:avLst/>
          </a:prstGeom>
          <a:noFill/>
          <a:ln/>
        </p:spPr>
        <p:txBody>
          <a:bodyPr wrap="square" lIns="0" tIns="0" rIns="0" bIns="0" rtlCol="0" anchor="ctr"/>
          <a:lstStyle/>
          <a:p>
            <a:pPr indent="0" marL="0">
              <a:buNone/>
            </a:pPr>
            <a:r>
              <a:rPr lang="en-US" sz="1700" dirty="0">
                <a:solidFill>
                  <a:srgbClr val="5D6B7A"/>
                </a:solidFill>
                <a:latin typeface="Calibri" pitchFamily="34" charset="0"/>
                <a:ea typeface="Calibri" pitchFamily="34" charset="-122"/>
                <a:cs typeface="Calibri" pitchFamily="34" charset="-120"/>
              </a:rPr>
              <a:t>generator switch-over corrupts a file mid-write</a:t>
            </a:r>
            <a:endParaRPr lang="en-US" sz="1700" dirty="0"/>
          </a:p>
        </p:txBody>
      </p:sp>
      <p:sp>
        <p:nvSpPr>
          <p:cNvPr id="16" name="Shape 11"/>
          <p:cNvSpPr/>
          <p:nvPr/>
        </p:nvSpPr>
        <p:spPr>
          <a:xfrm>
            <a:off x="548640" y="4206240"/>
            <a:ext cx="658368" cy="658368"/>
          </a:xfrm>
          <a:prstGeom prst="ellipse">
            <a:avLst/>
          </a:prstGeom>
          <a:solidFill>
            <a:srgbClr val="D69E2E"/>
          </a:solidFill>
          <a:ln/>
        </p:spPr>
      </p:sp>
      <p:pic>
        <p:nvPicPr>
          <p:cNvPr id="17" name="Image 3" descr="preencoded.png">    </p:cNvPr>
          <p:cNvPicPr>
            <a:picLocks noChangeAspect="1"/>
          </p:cNvPicPr>
          <p:nvPr/>
        </p:nvPicPr>
        <p:blipFill>
          <a:blip r:embed="rId4"/>
          <a:stretch>
            <a:fillRect/>
          </a:stretch>
        </p:blipFill>
        <p:spPr>
          <a:xfrm>
            <a:off x="693481" y="4351081"/>
            <a:ext cx="368686" cy="368686"/>
          </a:xfrm>
          <a:prstGeom prst="rect">
            <a:avLst/>
          </a:prstGeom>
        </p:spPr>
      </p:pic>
      <p:sp>
        <p:nvSpPr>
          <p:cNvPr id="18" name="Text 12"/>
          <p:cNvSpPr txBox="1"/>
          <p:nvPr/>
        </p:nvSpPr>
        <p:spPr>
          <a:xfrm>
            <a:off x="1463040" y="4187952"/>
            <a:ext cx="3017520" cy="658368"/>
          </a:xfrm>
          <a:prstGeom prst="rect">
            <a:avLst/>
          </a:prstGeom>
          <a:noFill/>
          <a:ln/>
        </p:spPr>
        <p:txBody>
          <a:bodyPr wrap="square" lIns="0" tIns="0" rIns="0" bIns="0" rtlCol="0" anchor="ctr"/>
          <a:lstStyle/>
          <a:p>
            <a:pPr indent="0" marL="0">
              <a:buNone/>
            </a:pPr>
            <a:r>
              <a:rPr lang="en-US" sz="2000" b="1" dirty="0">
                <a:solidFill>
                  <a:srgbClr val="1C2733"/>
                </a:solidFill>
                <a:latin typeface="Cambria" pitchFamily="34" charset="0"/>
                <a:ea typeface="Cambria" pitchFamily="34" charset="-122"/>
                <a:cs typeface="Cambria" pitchFamily="34" charset="-120"/>
              </a:rPr>
              <a:t>Disk failure</a:t>
            </a:r>
            <a:endParaRPr lang="en-US" sz="2000" dirty="0"/>
          </a:p>
        </p:txBody>
      </p:sp>
      <p:sp>
        <p:nvSpPr>
          <p:cNvPr id="19" name="Text 13"/>
          <p:cNvSpPr txBox="1"/>
          <p:nvPr/>
        </p:nvSpPr>
        <p:spPr>
          <a:xfrm>
            <a:off x="4480560" y="4187952"/>
            <a:ext cx="7040880" cy="658368"/>
          </a:xfrm>
          <a:prstGeom prst="rect">
            <a:avLst/>
          </a:prstGeom>
          <a:noFill/>
          <a:ln/>
        </p:spPr>
        <p:txBody>
          <a:bodyPr wrap="square" lIns="0" tIns="0" rIns="0" bIns="0" rtlCol="0" anchor="ctr"/>
          <a:lstStyle/>
          <a:p>
            <a:pPr indent="0" marL="0">
              <a:buNone/>
            </a:pPr>
            <a:r>
              <a:rPr lang="en-US" sz="1700" dirty="0">
                <a:solidFill>
                  <a:srgbClr val="5D6B7A"/>
                </a:solidFill>
                <a:latin typeface="Calibri" pitchFamily="34" charset="0"/>
                <a:ea typeface="Calibri" pitchFamily="34" charset="-122"/>
                <a:cs typeface="Calibri" pitchFamily="34" charset="-120"/>
              </a:rPr>
              <a:t>destroys data that was never copied</a:t>
            </a:r>
            <a:endParaRPr lang="en-US" sz="1700" dirty="0"/>
          </a:p>
        </p:txBody>
      </p:sp>
      <p:sp>
        <p:nvSpPr>
          <p:cNvPr id="20" name="Shape 14"/>
          <p:cNvSpPr/>
          <p:nvPr/>
        </p:nvSpPr>
        <p:spPr>
          <a:xfrm>
            <a:off x="548640" y="5120640"/>
            <a:ext cx="658368" cy="658368"/>
          </a:xfrm>
          <a:prstGeom prst="ellipse">
            <a:avLst/>
          </a:prstGeom>
          <a:solidFill>
            <a:srgbClr val="0B5D3B"/>
          </a:solidFill>
          <a:ln/>
        </p:spPr>
      </p:sp>
      <p:pic>
        <p:nvPicPr>
          <p:cNvPr id="21" name="Image 4" descr="preencoded.png">    </p:cNvPr>
          <p:cNvPicPr>
            <a:picLocks noChangeAspect="1"/>
          </p:cNvPicPr>
          <p:nvPr/>
        </p:nvPicPr>
        <p:blipFill>
          <a:blip r:embed="rId5"/>
          <a:stretch>
            <a:fillRect/>
          </a:stretch>
        </p:blipFill>
        <p:spPr>
          <a:xfrm>
            <a:off x="693481" y="5265481"/>
            <a:ext cx="368686" cy="368686"/>
          </a:xfrm>
          <a:prstGeom prst="rect">
            <a:avLst/>
          </a:prstGeom>
        </p:spPr>
      </p:pic>
      <p:sp>
        <p:nvSpPr>
          <p:cNvPr id="22" name="Text 15"/>
          <p:cNvSpPr txBox="1"/>
          <p:nvPr/>
        </p:nvSpPr>
        <p:spPr>
          <a:xfrm>
            <a:off x="1463040" y="5102352"/>
            <a:ext cx="3017520" cy="658368"/>
          </a:xfrm>
          <a:prstGeom prst="rect">
            <a:avLst/>
          </a:prstGeom>
          <a:noFill/>
          <a:ln/>
        </p:spPr>
        <p:txBody>
          <a:bodyPr wrap="square" lIns="0" tIns="0" rIns="0" bIns="0" rtlCol="0" anchor="ctr"/>
          <a:lstStyle/>
          <a:p>
            <a:pPr indent="0" marL="0">
              <a:buNone/>
            </a:pPr>
            <a:r>
              <a:rPr lang="en-US" sz="2000" b="1" dirty="0">
                <a:solidFill>
                  <a:srgbClr val="1C2733"/>
                </a:solidFill>
                <a:latin typeface="Cambria" pitchFamily="34" charset="0"/>
                <a:ea typeface="Cambria" pitchFamily="34" charset="-122"/>
                <a:cs typeface="Cambria" pitchFamily="34" charset="-120"/>
              </a:rPr>
              <a:t>Service outage</a:t>
            </a:r>
            <a:endParaRPr lang="en-US" sz="2000" dirty="0"/>
          </a:p>
        </p:txBody>
      </p:sp>
      <p:sp>
        <p:nvSpPr>
          <p:cNvPr id="23" name="Text 16"/>
          <p:cNvSpPr txBox="1"/>
          <p:nvPr/>
        </p:nvSpPr>
        <p:spPr>
          <a:xfrm>
            <a:off x="4480560" y="5102352"/>
            <a:ext cx="7040880" cy="658368"/>
          </a:xfrm>
          <a:prstGeom prst="rect">
            <a:avLst/>
          </a:prstGeom>
          <a:noFill/>
          <a:ln/>
        </p:spPr>
        <p:txBody>
          <a:bodyPr wrap="square" lIns="0" tIns="0" rIns="0" bIns="0" rtlCol="0" anchor="ctr"/>
          <a:lstStyle/>
          <a:p>
            <a:pPr indent="0" marL="0">
              <a:buNone/>
            </a:pPr>
            <a:r>
              <a:rPr lang="en-US" sz="1700" dirty="0">
                <a:solidFill>
                  <a:srgbClr val="5D6B7A"/>
                </a:solidFill>
                <a:latin typeface="Calibri" pitchFamily="34" charset="0"/>
                <a:ea typeface="Calibri" pitchFamily="34" charset="-122"/>
                <a:cs typeface="Calibri" pitchFamily="34" charset="-120"/>
              </a:rPr>
              <a:t>portal down during registration, noticed hours later</a:t>
            </a:r>
            <a:endParaRPr lang="en-US" sz="1700" dirty="0"/>
          </a:p>
        </p:txBody>
      </p:sp>
      <p:sp>
        <p:nvSpPr>
          <p:cNvPr id="24" name="Text 17"/>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AIM AND OBJECTIVES</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Protect the CIA triad, automatically</a:t>
            </a:r>
            <a:endParaRPr lang="en-US" sz="3400" dirty="0"/>
          </a:p>
        </p:txBody>
      </p:sp>
      <p:sp>
        <p:nvSpPr>
          <p:cNvPr id="4" name="Shape 2"/>
          <p:cNvSpPr/>
          <p:nvPr/>
        </p:nvSpPr>
        <p:spPr>
          <a:xfrm>
            <a:off x="548640" y="1554480"/>
            <a:ext cx="5303520" cy="1234440"/>
          </a:xfrm>
          <a:prstGeom prst="roundRect">
            <a:avLst>
              <a:gd name="adj" fmla="val 8889"/>
            </a:avLst>
          </a:prstGeom>
          <a:solidFill>
            <a:srgbClr val="EAF4EE"/>
          </a:solidFill>
          <a:ln/>
        </p:spPr>
      </p:sp>
      <p:sp>
        <p:nvSpPr>
          <p:cNvPr id="5" name="Text 3"/>
          <p:cNvSpPr txBox="1"/>
          <p:nvPr/>
        </p:nvSpPr>
        <p:spPr>
          <a:xfrm>
            <a:off x="777240" y="1737360"/>
            <a:ext cx="822960" cy="868680"/>
          </a:xfrm>
          <a:prstGeom prst="rect">
            <a:avLst/>
          </a:prstGeom>
          <a:noFill/>
          <a:ln/>
        </p:spPr>
        <p:txBody>
          <a:bodyPr wrap="square" lIns="0" tIns="0" rIns="0" bIns="0" rtlCol="0" anchor="ctr"/>
          <a:lstStyle/>
          <a:p>
            <a:pPr indent="0" marL="0">
              <a:buNone/>
            </a:pPr>
            <a:r>
              <a:rPr lang="en-US" sz="4000" b="1" dirty="0">
                <a:solidFill>
                  <a:srgbClr val="0B5D3B"/>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1645920" y="1691640"/>
            <a:ext cx="4023360" cy="960120"/>
          </a:xfrm>
          <a:prstGeom prst="rect">
            <a:avLst/>
          </a:prstGeom>
          <a:noFill/>
          <a:ln/>
        </p:spPr>
        <p:txBody>
          <a:bodyPr wrap="square" lIns="0" tIns="0" rIns="0" bIns="0" rtlCol="0" anchor="ctr"/>
          <a:lstStyle/>
          <a:p>
            <a:pPr indent="0" marL="0">
              <a:buNone/>
            </a:pPr>
            <a:r>
              <a:rPr lang="en-US" sz="1700" dirty="0">
                <a:solidFill>
                  <a:srgbClr val="1C2733"/>
                </a:solidFill>
                <a:latin typeface="Calibri" pitchFamily="34" charset="0"/>
                <a:ea typeface="Calibri" pitchFamily="34" charset="-122"/>
                <a:cs typeface="Calibri" pitchFamily="34" charset="-120"/>
              </a:rPr>
              <a:t>Encrypted, incremental backups where every snapshot restores on its own</a:t>
            </a:r>
            <a:endParaRPr lang="en-US" sz="1700" dirty="0"/>
          </a:p>
        </p:txBody>
      </p:sp>
      <p:sp>
        <p:nvSpPr>
          <p:cNvPr id="7" name="Shape 5"/>
          <p:cNvSpPr/>
          <p:nvPr/>
        </p:nvSpPr>
        <p:spPr>
          <a:xfrm>
            <a:off x="6126480" y="1554480"/>
            <a:ext cx="5303520" cy="1234440"/>
          </a:xfrm>
          <a:prstGeom prst="roundRect">
            <a:avLst>
              <a:gd name="adj" fmla="val 8889"/>
            </a:avLst>
          </a:prstGeom>
          <a:solidFill>
            <a:srgbClr val="EAF4EE"/>
          </a:solidFill>
          <a:ln/>
        </p:spPr>
      </p:sp>
      <p:sp>
        <p:nvSpPr>
          <p:cNvPr id="8" name="Text 6"/>
          <p:cNvSpPr txBox="1"/>
          <p:nvPr/>
        </p:nvSpPr>
        <p:spPr>
          <a:xfrm>
            <a:off x="6355080" y="1737360"/>
            <a:ext cx="822960" cy="868680"/>
          </a:xfrm>
          <a:prstGeom prst="rect">
            <a:avLst/>
          </a:prstGeom>
          <a:noFill/>
          <a:ln/>
        </p:spPr>
        <p:txBody>
          <a:bodyPr wrap="square" lIns="0" tIns="0" rIns="0" bIns="0" rtlCol="0" anchor="ctr"/>
          <a:lstStyle/>
          <a:p>
            <a:pPr indent="0" marL="0">
              <a:buNone/>
            </a:pPr>
            <a:r>
              <a:rPr lang="en-US" sz="4000" b="1" dirty="0">
                <a:solidFill>
                  <a:srgbClr val="0B5D3B"/>
                </a:solidFill>
                <a:latin typeface="Cambria" pitchFamily="34" charset="0"/>
                <a:ea typeface="Cambria" pitchFamily="34" charset="-122"/>
                <a:cs typeface="Cambria" pitchFamily="34" charset="-120"/>
              </a:rPr>
              <a:t>2</a:t>
            </a:r>
            <a:endParaRPr lang="en-US" sz="4000" dirty="0"/>
          </a:p>
        </p:txBody>
      </p:sp>
      <p:sp>
        <p:nvSpPr>
          <p:cNvPr id="9" name="Text 7"/>
          <p:cNvSpPr txBox="1"/>
          <p:nvPr/>
        </p:nvSpPr>
        <p:spPr>
          <a:xfrm>
            <a:off x="7223760" y="1691640"/>
            <a:ext cx="4023360" cy="960120"/>
          </a:xfrm>
          <a:prstGeom prst="rect">
            <a:avLst/>
          </a:prstGeom>
          <a:noFill/>
          <a:ln/>
        </p:spPr>
        <p:txBody>
          <a:bodyPr wrap="square" lIns="0" tIns="0" rIns="0" bIns="0" rtlCol="0" anchor="ctr"/>
          <a:lstStyle/>
          <a:p>
            <a:pPr indent="0" marL="0">
              <a:buNone/>
            </a:pPr>
            <a:r>
              <a:rPr lang="en-US" sz="1700" dirty="0">
                <a:solidFill>
                  <a:srgbClr val="1C2733"/>
                </a:solidFill>
                <a:latin typeface="Calibri" pitchFamily="34" charset="0"/>
                <a:ea typeface="Calibri" pitchFamily="34" charset="-122"/>
                <a:cs typeface="Calibri" pitchFamily="34" charset="-120"/>
              </a:rPr>
              <a:t>Continuous monitoring of servers, campus services and power</a:t>
            </a:r>
            <a:endParaRPr lang="en-US" sz="1700" dirty="0"/>
          </a:p>
        </p:txBody>
      </p:sp>
      <p:sp>
        <p:nvSpPr>
          <p:cNvPr id="10" name="Shape 8"/>
          <p:cNvSpPr/>
          <p:nvPr/>
        </p:nvSpPr>
        <p:spPr>
          <a:xfrm>
            <a:off x="548640" y="3017520"/>
            <a:ext cx="5303520" cy="1234440"/>
          </a:xfrm>
          <a:prstGeom prst="roundRect">
            <a:avLst>
              <a:gd name="adj" fmla="val 8889"/>
            </a:avLst>
          </a:prstGeom>
          <a:solidFill>
            <a:srgbClr val="EAF4EE"/>
          </a:solidFill>
          <a:ln/>
        </p:spPr>
      </p:sp>
      <p:sp>
        <p:nvSpPr>
          <p:cNvPr id="11" name="Text 9"/>
          <p:cNvSpPr txBox="1"/>
          <p:nvPr/>
        </p:nvSpPr>
        <p:spPr>
          <a:xfrm>
            <a:off x="777240" y="3200400"/>
            <a:ext cx="822960" cy="868680"/>
          </a:xfrm>
          <a:prstGeom prst="rect">
            <a:avLst/>
          </a:prstGeom>
          <a:noFill/>
          <a:ln/>
        </p:spPr>
        <p:txBody>
          <a:bodyPr wrap="square" lIns="0" tIns="0" rIns="0" bIns="0" rtlCol="0" anchor="ctr"/>
          <a:lstStyle/>
          <a:p>
            <a:pPr indent="0" marL="0">
              <a:buNone/>
            </a:pPr>
            <a:r>
              <a:rPr lang="en-US" sz="4000" b="1" dirty="0">
                <a:solidFill>
                  <a:srgbClr val="0B5D3B"/>
                </a:solidFill>
                <a:latin typeface="Cambria" pitchFamily="34" charset="0"/>
                <a:ea typeface="Cambria" pitchFamily="34" charset="-122"/>
                <a:cs typeface="Cambria" pitchFamily="34" charset="-120"/>
              </a:rPr>
              <a:t>3</a:t>
            </a:r>
            <a:endParaRPr lang="en-US" sz="4000" dirty="0"/>
          </a:p>
        </p:txBody>
      </p:sp>
      <p:sp>
        <p:nvSpPr>
          <p:cNvPr id="12" name="Text 10"/>
          <p:cNvSpPr txBox="1"/>
          <p:nvPr/>
        </p:nvSpPr>
        <p:spPr>
          <a:xfrm>
            <a:off x="1645920" y="3154680"/>
            <a:ext cx="4023360" cy="960120"/>
          </a:xfrm>
          <a:prstGeom prst="rect">
            <a:avLst/>
          </a:prstGeom>
          <a:noFill/>
          <a:ln/>
        </p:spPr>
        <p:txBody>
          <a:bodyPr wrap="square" lIns="0" tIns="0" rIns="0" bIns="0" rtlCol="0" anchor="ctr"/>
          <a:lstStyle/>
          <a:p>
            <a:pPr indent="0" marL="0">
              <a:buNone/>
            </a:pPr>
            <a:r>
              <a:rPr lang="en-US" sz="1700" dirty="0">
                <a:solidFill>
                  <a:srgbClr val="1C2733"/>
                </a:solidFill>
                <a:latin typeface="Calibri" pitchFamily="34" charset="0"/>
                <a:ea typeface="Calibri" pitchFamily="34" charset="-122"/>
                <a:cs typeface="Calibri" pitchFamily="34" charset="-120"/>
              </a:rPr>
              <a:t>Detection of ransomware and unauthorised result changes</a:t>
            </a:r>
            <a:endParaRPr lang="en-US" sz="1700" dirty="0"/>
          </a:p>
        </p:txBody>
      </p:sp>
      <p:sp>
        <p:nvSpPr>
          <p:cNvPr id="13" name="Shape 11"/>
          <p:cNvSpPr/>
          <p:nvPr/>
        </p:nvSpPr>
        <p:spPr>
          <a:xfrm>
            <a:off x="6126480" y="3017520"/>
            <a:ext cx="5303520" cy="1234440"/>
          </a:xfrm>
          <a:prstGeom prst="roundRect">
            <a:avLst>
              <a:gd name="adj" fmla="val 8889"/>
            </a:avLst>
          </a:prstGeom>
          <a:solidFill>
            <a:srgbClr val="EAF4EE"/>
          </a:solidFill>
          <a:ln/>
        </p:spPr>
      </p:sp>
      <p:sp>
        <p:nvSpPr>
          <p:cNvPr id="14" name="Text 12"/>
          <p:cNvSpPr txBox="1"/>
          <p:nvPr/>
        </p:nvSpPr>
        <p:spPr>
          <a:xfrm>
            <a:off x="6355080" y="3200400"/>
            <a:ext cx="822960" cy="868680"/>
          </a:xfrm>
          <a:prstGeom prst="rect">
            <a:avLst/>
          </a:prstGeom>
          <a:noFill/>
          <a:ln/>
        </p:spPr>
        <p:txBody>
          <a:bodyPr wrap="square" lIns="0" tIns="0" rIns="0" bIns="0" rtlCol="0" anchor="ctr"/>
          <a:lstStyle/>
          <a:p>
            <a:pPr indent="0" marL="0">
              <a:buNone/>
            </a:pPr>
            <a:r>
              <a:rPr lang="en-US" sz="4000" b="1" dirty="0">
                <a:solidFill>
                  <a:srgbClr val="0B5D3B"/>
                </a:solidFill>
                <a:latin typeface="Cambria" pitchFamily="34" charset="0"/>
                <a:ea typeface="Cambria" pitchFamily="34" charset="-122"/>
                <a:cs typeface="Cambria" pitchFamily="34" charset="-120"/>
              </a:rPr>
              <a:t>4</a:t>
            </a:r>
            <a:endParaRPr lang="en-US" sz="4000" dirty="0"/>
          </a:p>
        </p:txBody>
      </p:sp>
      <p:sp>
        <p:nvSpPr>
          <p:cNvPr id="15" name="Text 13"/>
          <p:cNvSpPr txBox="1"/>
          <p:nvPr/>
        </p:nvSpPr>
        <p:spPr>
          <a:xfrm>
            <a:off x="7223760" y="3154680"/>
            <a:ext cx="4023360" cy="960120"/>
          </a:xfrm>
          <a:prstGeom prst="rect">
            <a:avLst/>
          </a:prstGeom>
          <a:noFill/>
          <a:ln/>
        </p:spPr>
        <p:txBody>
          <a:bodyPr wrap="square" lIns="0" tIns="0" rIns="0" bIns="0" rtlCol="0" anchor="ctr"/>
          <a:lstStyle/>
          <a:p>
            <a:pPr indent="0" marL="0">
              <a:buNone/>
            </a:pPr>
            <a:r>
              <a:rPr lang="en-US" sz="1700" dirty="0">
                <a:solidFill>
                  <a:srgbClr val="1C2733"/>
                </a:solidFill>
                <a:latin typeface="Calibri" pitchFamily="34" charset="0"/>
                <a:ea typeface="Calibri" pitchFamily="34" charset="-122"/>
                <a:cs typeface="Calibri" pitchFamily="34" charset="-120"/>
              </a:rPr>
              <a:t>Automatic, verified recovery with evidence preserved</a:t>
            </a:r>
            <a:endParaRPr lang="en-US" sz="1700" dirty="0"/>
          </a:p>
        </p:txBody>
      </p:sp>
      <p:sp>
        <p:nvSpPr>
          <p:cNvPr id="16" name="Shape 14"/>
          <p:cNvSpPr/>
          <p:nvPr/>
        </p:nvSpPr>
        <p:spPr>
          <a:xfrm>
            <a:off x="548640" y="4480560"/>
            <a:ext cx="5303520" cy="1234440"/>
          </a:xfrm>
          <a:prstGeom prst="roundRect">
            <a:avLst>
              <a:gd name="adj" fmla="val 8889"/>
            </a:avLst>
          </a:prstGeom>
          <a:solidFill>
            <a:srgbClr val="EAF4EE"/>
          </a:solidFill>
          <a:ln/>
        </p:spPr>
      </p:sp>
      <p:sp>
        <p:nvSpPr>
          <p:cNvPr id="17" name="Text 15"/>
          <p:cNvSpPr txBox="1"/>
          <p:nvPr/>
        </p:nvSpPr>
        <p:spPr>
          <a:xfrm>
            <a:off x="777240" y="4663440"/>
            <a:ext cx="822960" cy="868680"/>
          </a:xfrm>
          <a:prstGeom prst="rect">
            <a:avLst/>
          </a:prstGeom>
          <a:noFill/>
          <a:ln/>
        </p:spPr>
        <p:txBody>
          <a:bodyPr wrap="square" lIns="0" tIns="0" rIns="0" bIns="0" rtlCol="0" anchor="ctr"/>
          <a:lstStyle/>
          <a:p>
            <a:pPr indent="0" marL="0">
              <a:buNone/>
            </a:pPr>
            <a:r>
              <a:rPr lang="en-US" sz="4000" b="1" dirty="0">
                <a:solidFill>
                  <a:srgbClr val="0B5D3B"/>
                </a:solidFill>
                <a:latin typeface="Cambria" pitchFamily="34" charset="0"/>
                <a:ea typeface="Cambria" pitchFamily="34" charset="-122"/>
                <a:cs typeface="Cambria" pitchFamily="34" charset="-120"/>
              </a:rPr>
              <a:t>5</a:t>
            </a:r>
            <a:endParaRPr lang="en-US" sz="4000" dirty="0"/>
          </a:p>
        </p:txBody>
      </p:sp>
      <p:sp>
        <p:nvSpPr>
          <p:cNvPr id="18" name="Text 16"/>
          <p:cNvSpPr txBox="1"/>
          <p:nvPr/>
        </p:nvSpPr>
        <p:spPr>
          <a:xfrm>
            <a:off x="1645920" y="4617720"/>
            <a:ext cx="4023360" cy="960120"/>
          </a:xfrm>
          <a:prstGeom prst="rect">
            <a:avLst/>
          </a:prstGeom>
          <a:noFill/>
          <a:ln/>
        </p:spPr>
        <p:txBody>
          <a:bodyPr wrap="square" lIns="0" tIns="0" rIns="0" bIns="0" rtlCol="0" anchor="ctr"/>
          <a:lstStyle/>
          <a:p>
            <a:pPr indent="0" marL="0">
              <a:buNone/>
            </a:pPr>
            <a:r>
              <a:rPr lang="en-US" sz="1700" dirty="0">
                <a:solidFill>
                  <a:srgbClr val="1C2733"/>
                </a:solidFill>
                <a:latin typeface="Calibri" pitchFamily="34" charset="0"/>
                <a:ea typeface="Calibri" pitchFamily="34" charset="-122"/>
                <a:cs typeface="Calibri" pitchFamily="34" charset="-120"/>
              </a:rPr>
              <a:t>Tamper-evident audit trail of every action</a:t>
            </a:r>
            <a:endParaRPr lang="en-US" sz="1700" dirty="0"/>
          </a:p>
        </p:txBody>
      </p:sp>
      <p:sp>
        <p:nvSpPr>
          <p:cNvPr id="19" name="Shape 17"/>
          <p:cNvSpPr/>
          <p:nvPr/>
        </p:nvSpPr>
        <p:spPr>
          <a:xfrm>
            <a:off x="6126480" y="4480560"/>
            <a:ext cx="5303520" cy="1234440"/>
          </a:xfrm>
          <a:prstGeom prst="roundRect">
            <a:avLst>
              <a:gd name="adj" fmla="val 8889"/>
            </a:avLst>
          </a:prstGeom>
          <a:solidFill>
            <a:srgbClr val="EAF4EE"/>
          </a:solidFill>
          <a:ln/>
        </p:spPr>
      </p:sp>
      <p:sp>
        <p:nvSpPr>
          <p:cNvPr id="20" name="Text 18"/>
          <p:cNvSpPr txBox="1"/>
          <p:nvPr/>
        </p:nvSpPr>
        <p:spPr>
          <a:xfrm>
            <a:off x="6355080" y="4663440"/>
            <a:ext cx="822960" cy="868680"/>
          </a:xfrm>
          <a:prstGeom prst="rect">
            <a:avLst/>
          </a:prstGeom>
          <a:noFill/>
          <a:ln/>
        </p:spPr>
        <p:txBody>
          <a:bodyPr wrap="square" lIns="0" tIns="0" rIns="0" bIns="0" rtlCol="0" anchor="ctr"/>
          <a:lstStyle/>
          <a:p>
            <a:pPr indent="0" marL="0">
              <a:buNone/>
            </a:pPr>
            <a:r>
              <a:rPr lang="en-US" sz="4000" b="1" dirty="0">
                <a:solidFill>
                  <a:srgbClr val="0B5D3B"/>
                </a:solidFill>
                <a:latin typeface="Cambria" pitchFamily="34" charset="0"/>
                <a:ea typeface="Cambria" pitchFamily="34" charset="-122"/>
                <a:cs typeface="Cambria" pitchFamily="34" charset="-120"/>
              </a:rPr>
              <a:t>6</a:t>
            </a:r>
            <a:endParaRPr lang="en-US" sz="4000" dirty="0"/>
          </a:p>
        </p:txBody>
      </p:sp>
      <p:sp>
        <p:nvSpPr>
          <p:cNvPr id="21" name="Text 19"/>
          <p:cNvSpPr txBox="1"/>
          <p:nvPr/>
        </p:nvSpPr>
        <p:spPr>
          <a:xfrm>
            <a:off x="7223760" y="4617720"/>
            <a:ext cx="4023360" cy="960120"/>
          </a:xfrm>
          <a:prstGeom prst="rect">
            <a:avLst/>
          </a:prstGeom>
          <a:noFill/>
          <a:ln/>
        </p:spPr>
        <p:txBody>
          <a:bodyPr wrap="square" lIns="0" tIns="0" rIns="0" bIns="0" rtlCol="0" anchor="ctr"/>
          <a:lstStyle/>
          <a:p>
            <a:pPr indent="0" marL="0">
              <a:buNone/>
            </a:pPr>
            <a:r>
              <a:rPr lang="en-US" sz="1700" dirty="0">
                <a:solidFill>
                  <a:srgbClr val="1C2733"/>
                </a:solidFill>
                <a:latin typeface="Calibri" pitchFamily="34" charset="0"/>
                <a:ea typeface="Calibri" pitchFamily="34" charset="-122"/>
                <a:cs typeface="Calibri" pitchFamily="34" charset="-120"/>
              </a:rPr>
              <a:t>Evaluation by tests, live demo and benchmarks</a:t>
            </a:r>
            <a:endParaRPr lang="en-US" sz="1700" dirty="0"/>
          </a:p>
        </p:txBody>
      </p:sp>
      <p:sp>
        <p:nvSpPr>
          <p:cNvPr id="22" name="Text 20"/>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DESIGN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Architecture</a:t>
            </a:r>
            <a:endParaRPr lang="en-US" sz="3400" dirty="0"/>
          </a:p>
        </p:txBody>
      </p:sp>
      <p:pic>
        <p:nvPicPr>
          <p:cNvPr id="4" name="Image 0" descr="/home/user/CMP-468/project1-uniguard/docs/img/architecture.png">    </p:cNvPr>
          <p:cNvPicPr>
            <a:picLocks noChangeAspect="1"/>
          </p:cNvPicPr>
          <p:nvPr/>
        </p:nvPicPr>
        <p:blipFill>
          <a:blip r:embed="rId1"/>
          <a:stretch>
            <a:fillRect/>
          </a:stretch>
        </p:blipFill>
        <p:spPr>
          <a:xfrm>
            <a:off x="1523848" y="1234440"/>
            <a:ext cx="9144000" cy="5064369"/>
          </a:xfrm>
          <a:prstGeom prst="rect">
            <a:avLst/>
          </a:prstGeom>
        </p:spPr>
      </p:pic>
      <p:sp>
        <p:nvSpPr>
          <p:cNvPr id="5" name="Text 2"/>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ENCRYPTION AND DECRYPTION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A stolen backup drive reveals nothing</a:t>
            </a:r>
            <a:endParaRPr lang="en-US" sz="3400" dirty="0"/>
          </a:p>
        </p:txBody>
      </p:sp>
      <p:sp>
        <p:nvSpPr>
          <p:cNvPr id="4" name="Shape 2"/>
          <p:cNvSpPr/>
          <p:nvPr/>
        </p:nvSpPr>
        <p:spPr>
          <a:xfrm>
            <a:off x="548640" y="1600200"/>
            <a:ext cx="2514600" cy="1737360"/>
          </a:xfrm>
          <a:prstGeom prst="roundRect">
            <a:avLst>
              <a:gd name="adj" fmla="val 6316"/>
            </a:avLst>
          </a:prstGeom>
          <a:solidFill>
            <a:srgbClr val="EAF4EE"/>
          </a:solidFill>
          <a:ln/>
        </p:spPr>
      </p:sp>
      <p:sp>
        <p:nvSpPr>
          <p:cNvPr id="5" name="Text 3"/>
          <p:cNvSpPr txBox="1"/>
          <p:nvPr/>
        </p:nvSpPr>
        <p:spPr>
          <a:xfrm>
            <a:off x="731520" y="1737360"/>
            <a:ext cx="2148840" cy="548640"/>
          </a:xfrm>
          <a:prstGeom prst="rect">
            <a:avLst/>
          </a:prstGeom>
          <a:noFill/>
          <a:ln/>
        </p:spPr>
        <p:txBody>
          <a:bodyPr wrap="square" lIns="0" tIns="0" rIns="0" bIns="0" rtlCol="0" anchor="ctr"/>
          <a:lstStyle/>
          <a:p>
            <a:pPr algn="ctr" indent="0" marL="0">
              <a:buNone/>
            </a:pPr>
            <a:r>
              <a:rPr lang="en-US" sz="2000" b="1" dirty="0">
                <a:solidFill>
                  <a:srgbClr val="0B5D3B"/>
                </a:solidFill>
                <a:latin typeface="Cambria" pitchFamily="34" charset="0"/>
                <a:ea typeface="Cambria" pitchFamily="34" charset="-122"/>
                <a:cs typeface="Cambria" pitchFamily="34" charset="-120"/>
              </a:rPr>
              <a:t>Passphrase</a:t>
            </a:r>
            <a:endParaRPr lang="en-US" sz="2000" dirty="0"/>
          </a:p>
        </p:txBody>
      </p:sp>
      <p:sp>
        <p:nvSpPr>
          <p:cNvPr id="6" name="Text 4"/>
          <p:cNvSpPr txBox="1"/>
          <p:nvPr/>
        </p:nvSpPr>
        <p:spPr>
          <a:xfrm>
            <a:off x="731520" y="2286000"/>
            <a:ext cx="2148840" cy="914400"/>
          </a:xfrm>
          <a:prstGeom prst="rect">
            <a:avLst/>
          </a:prstGeom>
          <a:noFill/>
          <a:ln/>
        </p:spPr>
        <p:txBody>
          <a:bodyPr wrap="square" lIns="0" tIns="0" rIns="0" bIns="0" rtlCol="0" anchor="t"/>
          <a:lstStyle/>
          <a:p>
            <a:pPr algn="ctr" indent="0" marL="0">
              <a:buNone/>
            </a:pPr>
            <a:r>
              <a:rPr lang="en-US" sz="1400" dirty="0">
                <a:solidFill>
                  <a:srgbClr val="1C2733"/>
                </a:solidFill>
                <a:latin typeface="Calibri" pitchFamily="34" charset="0"/>
                <a:ea typeface="Calibri" pitchFamily="34" charset="-122"/>
                <a:cs typeface="Calibri" pitchFamily="34" charset="-120"/>
              </a:rPr>
              <a:t>12+ chars, sealed with Registrar</a:t>
            </a:r>
            <a:endParaRPr lang="en-US" sz="1400" dirty="0"/>
          </a:p>
        </p:txBody>
      </p:sp>
      <p:sp>
        <p:nvSpPr>
          <p:cNvPr id="7" name="Text 5"/>
          <p:cNvSpPr txBox="1"/>
          <p:nvPr/>
        </p:nvSpPr>
        <p:spPr>
          <a:xfrm>
            <a:off x="3063240" y="2148840"/>
            <a:ext cx="320040" cy="548640"/>
          </a:xfrm>
          <a:prstGeom prst="rect">
            <a:avLst/>
          </a:prstGeom>
          <a:noFill/>
          <a:ln/>
        </p:spPr>
        <p:txBody>
          <a:bodyPr wrap="square" lIns="0" tIns="0" rIns="0" bIns="0" rtlCol="0" anchor="ctr"/>
          <a:lstStyle/>
          <a:p>
            <a:pPr algn="ctr" indent="0" marL="0">
              <a:buNone/>
            </a:pPr>
            <a:r>
              <a:rPr lang="en-US" sz="2400" dirty="0">
                <a:solidFill>
                  <a:srgbClr val="5D6B7A"/>
                </a:solidFill>
              </a:rPr>
              <a:t>→</a:t>
            </a:r>
            <a:endParaRPr lang="en-US" sz="2400" dirty="0"/>
          </a:p>
        </p:txBody>
      </p:sp>
      <p:sp>
        <p:nvSpPr>
          <p:cNvPr id="8" name="Shape 6"/>
          <p:cNvSpPr/>
          <p:nvPr/>
        </p:nvSpPr>
        <p:spPr>
          <a:xfrm>
            <a:off x="3383280" y="1600200"/>
            <a:ext cx="2514600" cy="1737360"/>
          </a:xfrm>
          <a:prstGeom prst="roundRect">
            <a:avLst>
              <a:gd name="adj" fmla="val 6316"/>
            </a:avLst>
          </a:prstGeom>
          <a:solidFill>
            <a:srgbClr val="EAF4EE"/>
          </a:solidFill>
          <a:ln/>
        </p:spPr>
      </p:sp>
      <p:sp>
        <p:nvSpPr>
          <p:cNvPr id="9" name="Text 7"/>
          <p:cNvSpPr txBox="1"/>
          <p:nvPr/>
        </p:nvSpPr>
        <p:spPr>
          <a:xfrm>
            <a:off x="3566160" y="1737360"/>
            <a:ext cx="2148840" cy="548640"/>
          </a:xfrm>
          <a:prstGeom prst="rect">
            <a:avLst/>
          </a:prstGeom>
          <a:noFill/>
          <a:ln/>
        </p:spPr>
        <p:txBody>
          <a:bodyPr wrap="square" lIns="0" tIns="0" rIns="0" bIns="0" rtlCol="0" anchor="ctr"/>
          <a:lstStyle/>
          <a:p>
            <a:pPr algn="ctr" indent="0" marL="0">
              <a:buNone/>
            </a:pPr>
            <a:r>
              <a:rPr lang="en-US" sz="2000" b="1" dirty="0">
                <a:solidFill>
                  <a:srgbClr val="0B5D3B"/>
                </a:solidFill>
                <a:latin typeface="Cambria" pitchFamily="34" charset="0"/>
                <a:ea typeface="Cambria" pitchFamily="34" charset="-122"/>
                <a:cs typeface="Cambria" pitchFamily="34" charset="-120"/>
              </a:rPr>
              <a:t>scrypt</a:t>
            </a:r>
            <a:endParaRPr lang="en-US" sz="2000" dirty="0"/>
          </a:p>
        </p:txBody>
      </p:sp>
      <p:sp>
        <p:nvSpPr>
          <p:cNvPr id="10" name="Text 8"/>
          <p:cNvSpPr txBox="1"/>
          <p:nvPr/>
        </p:nvSpPr>
        <p:spPr>
          <a:xfrm>
            <a:off x="3566160" y="2286000"/>
            <a:ext cx="2148840" cy="914400"/>
          </a:xfrm>
          <a:prstGeom prst="rect">
            <a:avLst/>
          </a:prstGeom>
          <a:noFill/>
          <a:ln/>
        </p:spPr>
        <p:txBody>
          <a:bodyPr wrap="square" lIns="0" tIns="0" rIns="0" bIns="0" rtlCol="0" anchor="t"/>
          <a:lstStyle/>
          <a:p>
            <a:pPr algn="ctr" indent="0" marL="0">
              <a:buNone/>
            </a:pPr>
            <a:r>
              <a:rPr lang="en-US" sz="1400" dirty="0">
                <a:solidFill>
                  <a:srgbClr val="1C2733"/>
                </a:solidFill>
                <a:latin typeface="Calibri" pitchFamily="34" charset="0"/>
                <a:ea typeface="Calibri" pitchFamily="34" charset="-122"/>
                <a:cs typeface="Calibri" pitchFamily="34" charset="-120"/>
              </a:rPr>
              <a:t>memory-hard: slows guessing</a:t>
            </a:r>
            <a:endParaRPr lang="en-US" sz="1400" dirty="0"/>
          </a:p>
        </p:txBody>
      </p:sp>
      <p:sp>
        <p:nvSpPr>
          <p:cNvPr id="11" name="Text 9"/>
          <p:cNvSpPr txBox="1"/>
          <p:nvPr/>
        </p:nvSpPr>
        <p:spPr>
          <a:xfrm>
            <a:off x="5897880" y="2148840"/>
            <a:ext cx="320040" cy="548640"/>
          </a:xfrm>
          <a:prstGeom prst="rect">
            <a:avLst/>
          </a:prstGeom>
          <a:noFill/>
          <a:ln/>
        </p:spPr>
        <p:txBody>
          <a:bodyPr wrap="square" lIns="0" tIns="0" rIns="0" bIns="0" rtlCol="0" anchor="ctr"/>
          <a:lstStyle/>
          <a:p>
            <a:pPr algn="ctr" indent="0" marL="0">
              <a:buNone/>
            </a:pPr>
            <a:r>
              <a:rPr lang="en-US" sz="2400" dirty="0">
                <a:solidFill>
                  <a:srgbClr val="5D6B7A"/>
                </a:solidFill>
              </a:rPr>
              <a:t>→</a:t>
            </a:r>
            <a:endParaRPr lang="en-US" sz="2400" dirty="0"/>
          </a:p>
        </p:txBody>
      </p:sp>
      <p:sp>
        <p:nvSpPr>
          <p:cNvPr id="12" name="Shape 10"/>
          <p:cNvSpPr/>
          <p:nvPr/>
        </p:nvSpPr>
        <p:spPr>
          <a:xfrm>
            <a:off x="6217920" y="1600200"/>
            <a:ext cx="2514600" cy="1737360"/>
          </a:xfrm>
          <a:prstGeom prst="roundRect">
            <a:avLst>
              <a:gd name="adj" fmla="val 6316"/>
            </a:avLst>
          </a:prstGeom>
          <a:solidFill>
            <a:srgbClr val="EAF4EE"/>
          </a:solidFill>
          <a:ln/>
        </p:spPr>
      </p:sp>
      <p:sp>
        <p:nvSpPr>
          <p:cNvPr id="13" name="Text 11"/>
          <p:cNvSpPr txBox="1"/>
          <p:nvPr/>
        </p:nvSpPr>
        <p:spPr>
          <a:xfrm>
            <a:off x="6400800" y="1737360"/>
            <a:ext cx="2148840" cy="548640"/>
          </a:xfrm>
          <a:prstGeom prst="rect">
            <a:avLst/>
          </a:prstGeom>
          <a:noFill/>
          <a:ln/>
        </p:spPr>
        <p:txBody>
          <a:bodyPr wrap="square" lIns="0" tIns="0" rIns="0" bIns="0" rtlCol="0" anchor="ctr"/>
          <a:lstStyle/>
          <a:p>
            <a:pPr algn="ctr" indent="0" marL="0">
              <a:buNone/>
            </a:pPr>
            <a:r>
              <a:rPr lang="en-US" sz="2000" b="1" dirty="0">
                <a:solidFill>
                  <a:srgbClr val="0B5D3B"/>
                </a:solidFill>
                <a:latin typeface="Cambria" pitchFamily="34" charset="0"/>
                <a:ea typeface="Cambria" pitchFamily="34" charset="-122"/>
                <a:cs typeface="Cambria" pitchFamily="34" charset="-120"/>
              </a:rPr>
              <a:t>HKDF</a:t>
            </a:r>
            <a:endParaRPr lang="en-US" sz="2000" dirty="0"/>
          </a:p>
        </p:txBody>
      </p:sp>
      <p:sp>
        <p:nvSpPr>
          <p:cNvPr id="14" name="Text 12"/>
          <p:cNvSpPr txBox="1"/>
          <p:nvPr/>
        </p:nvSpPr>
        <p:spPr>
          <a:xfrm>
            <a:off x="6400800" y="2286000"/>
            <a:ext cx="2148840" cy="914400"/>
          </a:xfrm>
          <a:prstGeom prst="rect">
            <a:avLst/>
          </a:prstGeom>
          <a:noFill/>
          <a:ln/>
        </p:spPr>
        <p:txBody>
          <a:bodyPr wrap="square" lIns="0" tIns="0" rIns="0" bIns="0" rtlCol="0" anchor="t"/>
          <a:lstStyle/>
          <a:p>
            <a:pPr algn="ctr" indent="0" marL="0">
              <a:buNone/>
            </a:pPr>
            <a:r>
              <a:rPr lang="en-US" sz="1400" dirty="0">
                <a:solidFill>
                  <a:srgbClr val="1C2733"/>
                </a:solidFill>
                <a:latin typeface="Calibri" pitchFamily="34" charset="0"/>
                <a:ea typeface="Calibri" pitchFamily="34" charset="-122"/>
                <a:cs typeface="Calibri" pitchFamily="34" charset="-120"/>
              </a:rPr>
              <a:t>splits into 2 independent keys</a:t>
            </a:r>
            <a:endParaRPr lang="en-US" sz="1400" dirty="0"/>
          </a:p>
        </p:txBody>
      </p:sp>
      <p:sp>
        <p:nvSpPr>
          <p:cNvPr id="15" name="Text 13"/>
          <p:cNvSpPr txBox="1"/>
          <p:nvPr/>
        </p:nvSpPr>
        <p:spPr>
          <a:xfrm>
            <a:off x="8732520" y="2148840"/>
            <a:ext cx="320040" cy="548640"/>
          </a:xfrm>
          <a:prstGeom prst="rect">
            <a:avLst/>
          </a:prstGeom>
          <a:noFill/>
          <a:ln/>
        </p:spPr>
        <p:txBody>
          <a:bodyPr wrap="square" lIns="0" tIns="0" rIns="0" bIns="0" rtlCol="0" anchor="ctr"/>
          <a:lstStyle/>
          <a:p>
            <a:pPr algn="ctr" indent="0" marL="0">
              <a:buNone/>
            </a:pPr>
            <a:r>
              <a:rPr lang="en-US" sz="2400" dirty="0">
                <a:solidFill>
                  <a:srgbClr val="5D6B7A"/>
                </a:solidFill>
              </a:rPr>
              <a:t>→</a:t>
            </a:r>
            <a:endParaRPr lang="en-US" sz="2400" dirty="0"/>
          </a:p>
        </p:txBody>
      </p:sp>
      <p:sp>
        <p:nvSpPr>
          <p:cNvPr id="16" name="Shape 14"/>
          <p:cNvSpPr/>
          <p:nvPr/>
        </p:nvSpPr>
        <p:spPr>
          <a:xfrm>
            <a:off x="9052560" y="1600200"/>
            <a:ext cx="2514600" cy="1737360"/>
          </a:xfrm>
          <a:prstGeom prst="roundRect">
            <a:avLst>
              <a:gd name="adj" fmla="val 6316"/>
            </a:avLst>
          </a:prstGeom>
          <a:solidFill>
            <a:srgbClr val="0B5D3B"/>
          </a:solidFill>
          <a:ln/>
        </p:spPr>
      </p:sp>
      <p:sp>
        <p:nvSpPr>
          <p:cNvPr id="17" name="Text 15"/>
          <p:cNvSpPr txBox="1"/>
          <p:nvPr/>
        </p:nvSpPr>
        <p:spPr>
          <a:xfrm>
            <a:off x="9235440" y="1737360"/>
            <a:ext cx="21488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AES-256-GCM</a:t>
            </a:r>
            <a:endParaRPr lang="en-US" sz="2000" dirty="0"/>
          </a:p>
        </p:txBody>
      </p:sp>
      <p:sp>
        <p:nvSpPr>
          <p:cNvPr id="18" name="Text 16"/>
          <p:cNvSpPr txBox="1"/>
          <p:nvPr/>
        </p:nvSpPr>
        <p:spPr>
          <a:xfrm>
            <a:off x="9235440" y="2286000"/>
            <a:ext cx="2148840" cy="914400"/>
          </a:xfrm>
          <a:prstGeom prst="rect">
            <a:avLst/>
          </a:prstGeom>
          <a:noFill/>
          <a:ln/>
        </p:spPr>
        <p:txBody>
          <a:bodyPr wrap="square" lIns="0" tIns="0" rIns="0" bIns="0" rtlCol="0" anchor="t"/>
          <a:lstStyle/>
          <a:p>
            <a:pPr algn="ctr" indent="0" marL="0">
              <a:buNone/>
            </a:pPr>
            <a:r>
              <a:rPr lang="en-US" sz="1400" dirty="0">
                <a:solidFill>
                  <a:srgbClr val="E6F2EB"/>
                </a:solidFill>
                <a:latin typeface="Calibri" pitchFamily="34" charset="0"/>
                <a:ea typeface="Calibri" pitchFamily="34" charset="-122"/>
                <a:cs typeface="Calibri" pitchFamily="34" charset="-120"/>
              </a:rPr>
              <a:t>encrypts and authenticates every chunk</a:t>
            </a:r>
            <a:endParaRPr lang="en-US" sz="1400" dirty="0"/>
          </a:p>
        </p:txBody>
      </p:sp>
      <p:sp>
        <p:nvSpPr>
          <p:cNvPr id="19" name="Text 17"/>
          <p:cNvSpPr txBox="1"/>
          <p:nvPr/>
        </p:nvSpPr>
        <p:spPr>
          <a:xfrm>
            <a:off x="548640" y="3703320"/>
            <a:ext cx="11094415"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C2733"/>
                </a:solidFill>
                <a:latin typeface="Calibri" pitchFamily="34" charset="0"/>
                <a:ea typeface="Calibri" pitchFamily="34" charset="-122"/>
                <a:cs typeface="Calibri" pitchFamily="34" charset="-120"/>
              </a:rPr>
              <a:t>Chunk names are HMAC-SHA256 with a secret key, so an attacker cannot test whether a known file is inside</a:t>
            </a:r>
            <a:endParaRPr lang="en-US" sz="1700" dirty="0"/>
          </a:p>
          <a:p>
            <a:pPr marL="342900" indent="-342900">
              <a:spcAft>
                <a:spcPts val="800"/>
              </a:spcAft>
              <a:buSzPct val="100000"/>
              <a:buChar char="•"/>
            </a:pPr>
            <a:r>
              <a:rPr lang="en-US" sz="1700" dirty="0">
                <a:solidFill>
                  <a:srgbClr val="1C2733"/>
                </a:solidFill>
                <a:latin typeface="Calibri" pitchFamily="34" charset="0"/>
                <a:ea typeface="Calibri" pitchFamily="34" charset="-122"/>
                <a:cs typeface="Calibri" pitchFamily="34" charset="-120"/>
              </a:rPr>
              <a:t>Chunk name is bound as associated data: swapping two encrypted chunks is detected</a:t>
            </a:r>
            <a:endParaRPr lang="en-US" sz="1700" dirty="0"/>
          </a:p>
          <a:p>
            <a:pPr marL="342900" indent="-342900">
              <a:spcAft>
                <a:spcPts val="800"/>
              </a:spcAft>
              <a:buSzPct val="100000"/>
              <a:buChar char="•"/>
            </a:pPr>
            <a:r>
              <a:rPr lang="en-US" sz="1700" dirty="0">
                <a:solidFill>
                  <a:srgbClr val="1C2733"/>
                </a:solidFill>
                <a:latin typeface="Calibri" pitchFamily="34" charset="0"/>
                <a:ea typeface="Calibri" pitchFamily="34" charset="-122"/>
                <a:cs typeface="Calibri" pitchFamily="34" charset="-120"/>
              </a:rPr>
              <a:t>Fresh random 96-bit nonce for every chunk; no nonce reuse</a:t>
            </a:r>
            <a:endParaRPr lang="en-US" sz="1700" dirty="0"/>
          </a:p>
          <a:p>
            <a:pPr marL="342900" indent="-342900">
              <a:spcAft>
                <a:spcPts val="800"/>
              </a:spcAft>
              <a:buSzPct val="100000"/>
              <a:buChar char="•"/>
            </a:pPr>
            <a:r>
              <a:rPr lang="en-US" sz="1700" dirty="0">
                <a:solidFill>
                  <a:srgbClr val="1C2733"/>
                </a:solidFill>
                <a:latin typeface="Calibri" pitchFamily="34" charset="0"/>
                <a:ea typeface="Calibri" pitchFamily="34" charset="-122"/>
                <a:cs typeface="Calibri" pitchFamily="34" charset="-120"/>
              </a:rPr>
              <a:t>On restore: GCM tag, chunk HMAC and whole-file SHA-256 are all checked</a:t>
            </a:r>
            <a:endParaRPr lang="en-US" sz="1700" dirty="0"/>
          </a:p>
        </p:txBody>
      </p:sp>
      <p:sp>
        <p:nvSpPr>
          <p:cNvPr id="20" name="Text 18"/>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BACKUP ENGINE</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Incremental speed, full-backup safety</a:t>
            </a:r>
            <a:endParaRPr lang="en-US" sz="3400" dirty="0"/>
          </a:p>
        </p:txBody>
      </p:sp>
      <p:sp>
        <p:nvSpPr>
          <p:cNvPr id="4" name="Text 2"/>
          <p:cNvSpPr txBox="1"/>
          <p:nvPr/>
        </p:nvSpPr>
        <p:spPr>
          <a:xfrm>
            <a:off x="548640" y="1554480"/>
            <a:ext cx="5394960" cy="4206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C2733"/>
                </a:solidFill>
                <a:latin typeface="Calibri" pitchFamily="34" charset="0"/>
                <a:ea typeface="Calibri" pitchFamily="34" charset="-122"/>
                <a:cs typeface="Calibri" pitchFamily="34" charset="-120"/>
              </a:rPr>
              <a:t>Files split into 1 MiB chunks, compressed, encrypted</a:t>
            </a:r>
            <a:endParaRPr lang="en-US" sz="1700" dirty="0"/>
          </a:p>
          <a:p>
            <a:pPr marL="342900" indent="-342900">
              <a:spcAft>
                <a:spcPts val="800"/>
              </a:spcAft>
              <a:buSzPct val="100000"/>
              <a:buChar char="•"/>
            </a:pPr>
            <a:r>
              <a:rPr lang="en-US" sz="1700" dirty="0">
                <a:solidFill>
                  <a:srgbClr val="1C2733"/>
                </a:solidFill>
                <a:latin typeface="Calibri" pitchFamily="34" charset="0"/>
                <a:ea typeface="Calibri" pitchFamily="34" charset="-122"/>
                <a:cs typeface="Calibri" pitchFamily="34" charset="-120"/>
              </a:rPr>
              <a:t>A chunk already stored is never stored again</a:t>
            </a:r>
            <a:endParaRPr lang="en-US" sz="1700" dirty="0"/>
          </a:p>
          <a:p>
            <a:pPr marL="342900" indent="-342900">
              <a:spcAft>
                <a:spcPts val="800"/>
              </a:spcAft>
              <a:buSzPct val="100000"/>
              <a:buChar char="•"/>
            </a:pPr>
            <a:r>
              <a:rPr lang="en-US" sz="1700" dirty="0">
                <a:solidFill>
                  <a:srgbClr val="1C2733"/>
                </a:solidFill>
                <a:latin typeface="Calibri" pitchFamily="34" charset="0"/>
                <a:ea typeface="Calibri" pitchFamily="34" charset="-122"/>
                <a:cs typeface="Calibri" pitchFamily="34" charset="-120"/>
              </a:rPr>
              <a:t>Every snapshot is a complete list of chunks, so there is no fragile backup chain</a:t>
            </a:r>
            <a:endParaRPr lang="en-US" sz="1700" dirty="0"/>
          </a:p>
          <a:p>
            <a:pPr marL="342900" indent="-342900">
              <a:spcAft>
                <a:spcPts val="800"/>
              </a:spcAft>
              <a:buSzPct val="100000"/>
              <a:buChar char="•"/>
            </a:pPr>
            <a:r>
              <a:rPr lang="en-US" sz="1700" dirty="0">
                <a:solidFill>
                  <a:srgbClr val="1C2733"/>
                </a:solidFill>
                <a:latin typeface="Calibri" pitchFamily="34" charset="0"/>
                <a:ea typeface="Calibri" pitchFamily="34" charset="-122"/>
                <a:cs typeface="Calibri" pitchFamily="34" charset="-120"/>
              </a:rPr>
              <a:t>Backup files written atomically and made read-only</a:t>
            </a:r>
            <a:endParaRPr lang="en-US" sz="1700" dirty="0"/>
          </a:p>
          <a:p>
            <a:pPr marL="342900" indent="-342900">
              <a:spcAft>
                <a:spcPts val="800"/>
              </a:spcAft>
              <a:buSzPct val="100000"/>
              <a:buChar char="•"/>
            </a:pPr>
            <a:r>
              <a:rPr lang="en-US" sz="1700" dirty="0">
                <a:solidFill>
                  <a:srgbClr val="1C2733"/>
                </a:solidFill>
                <a:latin typeface="Calibri" pitchFamily="34" charset="0"/>
                <a:ea typeface="Calibri" pitchFamily="34" charset="-122"/>
                <a:cs typeface="Calibri" pitchFamily="34" charset="-120"/>
              </a:rPr>
              <a:t>Retention keeps daily, weekly and monthly copies, and always the last clean one</a:t>
            </a:r>
            <a:endParaRPr lang="en-US" sz="1700" dirty="0"/>
          </a:p>
        </p:txBody>
      </p:sp>
      <p:sp>
        <p:nvSpPr>
          <p:cNvPr id="5" name="Shape 3"/>
          <p:cNvSpPr/>
          <p:nvPr/>
        </p:nvSpPr>
        <p:spPr>
          <a:xfrm>
            <a:off x="6492240" y="1463040"/>
            <a:ext cx="5120640" cy="4480560"/>
          </a:xfrm>
          <a:prstGeom prst="roundRect">
            <a:avLst>
              <a:gd name="adj" fmla="val 2449"/>
            </a:avLst>
          </a:prstGeom>
          <a:solidFill>
            <a:srgbClr val="EAF4EE"/>
          </a:solidFill>
          <a:ln/>
        </p:spPr>
      </p:sp>
      <p:sp>
        <p:nvSpPr>
          <p:cNvPr id="6" name="Text 4"/>
          <p:cNvSpPr txBox="1"/>
          <p:nvPr/>
        </p:nvSpPr>
        <p:spPr>
          <a:xfrm>
            <a:off x="6812280" y="1645920"/>
            <a:ext cx="4480560" cy="365760"/>
          </a:xfrm>
          <a:prstGeom prst="rect">
            <a:avLst/>
          </a:prstGeom>
          <a:noFill/>
          <a:ln/>
        </p:spPr>
        <p:txBody>
          <a:bodyPr wrap="square" lIns="0" tIns="0" rIns="0" bIns="0" rtlCol="0" anchor="ctr"/>
          <a:lstStyle/>
          <a:p>
            <a:pPr indent="0" marL="0">
              <a:buNone/>
            </a:pPr>
            <a:r>
              <a:rPr lang="en-US" sz="1400" b="1" dirty="0">
                <a:solidFill>
                  <a:srgbClr val="5D6B7A"/>
                </a:solidFill>
                <a:latin typeface="Calibri" pitchFamily="34" charset="0"/>
                <a:ea typeface="Calibri" pitchFamily="34" charset="-122"/>
                <a:cs typeface="Calibri" pitchFamily="34" charset="-120"/>
              </a:rPr>
              <a:t>Benchmark: 2,000 records, 195 MB</a:t>
            </a:r>
            <a:endParaRPr lang="en-US" sz="1400" dirty="0"/>
          </a:p>
        </p:txBody>
      </p:sp>
      <p:sp>
        <p:nvSpPr>
          <p:cNvPr id="7" name="Text 5"/>
          <p:cNvSpPr txBox="1"/>
          <p:nvPr/>
        </p:nvSpPr>
        <p:spPr>
          <a:xfrm>
            <a:off x="6812280" y="2011680"/>
            <a:ext cx="2194560" cy="868680"/>
          </a:xfrm>
          <a:prstGeom prst="rect">
            <a:avLst/>
          </a:prstGeom>
          <a:noFill/>
          <a:ln/>
        </p:spPr>
        <p:txBody>
          <a:bodyPr wrap="square" lIns="0" tIns="0" rIns="0" bIns="0" rtlCol="0" anchor="b"/>
          <a:lstStyle/>
          <a:p>
            <a:pPr indent="0" marL="0">
              <a:buNone/>
            </a:pPr>
            <a:r>
              <a:rPr lang="en-US" sz="4400" b="1" dirty="0">
                <a:solidFill>
                  <a:srgbClr val="0B5D3B"/>
                </a:solidFill>
                <a:latin typeface="Cambria" pitchFamily="34" charset="0"/>
                <a:ea typeface="Cambria" pitchFamily="34" charset="-122"/>
                <a:cs typeface="Cambria" pitchFamily="34" charset="-120"/>
              </a:rPr>
              <a:t>6.2 s</a:t>
            </a:r>
            <a:endParaRPr lang="en-US" sz="4400" dirty="0"/>
          </a:p>
        </p:txBody>
      </p:sp>
      <p:sp>
        <p:nvSpPr>
          <p:cNvPr id="8" name="Text 6"/>
          <p:cNvSpPr txBox="1"/>
          <p:nvPr/>
        </p:nvSpPr>
        <p:spPr>
          <a:xfrm>
            <a:off x="6812280" y="2926080"/>
            <a:ext cx="219456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first full backup</a:t>
            </a:r>
            <a:endParaRPr lang="en-US" sz="1400" dirty="0"/>
          </a:p>
        </p:txBody>
      </p:sp>
      <p:sp>
        <p:nvSpPr>
          <p:cNvPr id="9" name="Text 7"/>
          <p:cNvSpPr txBox="1"/>
          <p:nvPr/>
        </p:nvSpPr>
        <p:spPr>
          <a:xfrm>
            <a:off x="9189720" y="2011680"/>
            <a:ext cx="2194560" cy="868680"/>
          </a:xfrm>
          <a:prstGeom prst="rect">
            <a:avLst/>
          </a:prstGeom>
          <a:noFill/>
          <a:ln/>
        </p:spPr>
        <p:txBody>
          <a:bodyPr wrap="square" lIns="0" tIns="0" rIns="0" bIns="0" rtlCol="0" anchor="b"/>
          <a:lstStyle/>
          <a:p>
            <a:pPr indent="0" marL="0">
              <a:buNone/>
            </a:pPr>
            <a:r>
              <a:rPr lang="en-US" sz="4400" b="1" dirty="0">
                <a:solidFill>
                  <a:srgbClr val="0B5D3B"/>
                </a:solidFill>
                <a:latin typeface="Cambria" pitchFamily="34" charset="0"/>
                <a:ea typeface="Cambria" pitchFamily="34" charset="-122"/>
                <a:cs typeface="Cambria" pitchFamily="34" charset="-120"/>
              </a:rPr>
              <a:t>0.1 s</a:t>
            </a:r>
            <a:endParaRPr lang="en-US" sz="4400" dirty="0"/>
          </a:p>
        </p:txBody>
      </p:sp>
      <p:sp>
        <p:nvSpPr>
          <p:cNvPr id="10" name="Text 8"/>
          <p:cNvSpPr txBox="1"/>
          <p:nvPr/>
        </p:nvSpPr>
        <p:spPr>
          <a:xfrm>
            <a:off x="9189720" y="2926080"/>
            <a:ext cx="219456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next backup after 1% of files changed (224 KiB stored)</a:t>
            </a:r>
            <a:endParaRPr lang="en-US" sz="1400" dirty="0"/>
          </a:p>
        </p:txBody>
      </p:sp>
      <p:sp>
        <p:nvSpPr>
          <p:cNvPr id="11" name="Text 9"/>
          <p:cNvSpPr txBox="1"/>
          <p:nvPr/>
        </p:nvSpPr>
        <p:spPr>
          <a:xfrm>
            <a:off x="6812280" y="3794760"/>
            <a:ext cx="2194560" cy="868680"/>
          </a:xfrm>
          <a:prstGeom prst="rect">
            <a:avLst/>
          </a:prstGeom>
          <a:noFill/>
          <a:ln/>
        </p:spPr>
        <p:txBody>
          <a:bodyPr wrap="square" lIns="0" tIns="0" rIns="0" bIns="0" rtlCol="0" anchor="b"/>
          <a:lstStyle/>
          <a:p>
            <a:pPr indent="0" marL="0">
              <a:buNone/>
            </a:pPr>
            <a:r>
              <a:rPr lang="en-US" sz="4400" b="1" dirty="0">
                <a:solidFill>
                  <a:srgbClr val="0B5D3B"/>
                </a:solidFill>
                <a:latin typeface="Cambria" pitchFamily="34" charset="0"/>
                <a:ea typeface="Cambria" pitchFamily="34" charset="-122"/>
                <a:cs typeface="Cambria" pitchFamily="34" charset="-120"/>
              </a:rPr>
              <a:t>1.7 s</a:t>
            </a:r>
            <a:endParaRPr lang="en-US" sz="4400" dirty="0"/>
          </a:p>
        </p:txBody>
      </p:sp>
      <p:sp>
        <p:nvSpPr>
          <p:cNvPr id="12" name="Text 10"/>
          <p:cNvSpPr txBox="1"/>
          <p:nvPr/>
        </p:nvSpPr>
        <p:spPr>
          <a:xfrm>
            <a:off x="6812280" y="4709160"/>
            <a:ext cx="219456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full restore, every file SHA-256 verified</a:t>
            </a:r>
            <a:endParaRPr lang="en-US" sz="1400" dirty="0"/>
          </a:p>
        </p:txBody>
      </p:sp>
      <p:sp>
        <p:nvSpPr>
          <p:cNvPr id="13" name="Text 11"/>
          <p:cNvSpPr txBox="1"/>
          <p:nvPr/>
        </p:nvSpPr>
        <p:spPr>
          <a:xfrm>
            <a:off x="9189720" y="3794760"/>
            <a:ext cx="2194560" cy="868680"/>
          </a:xfrm>
          <a:prstGeom prst="rect">
            <a:avLst/>
          </a:prstGeom>
          <a:noFill/>
          <a:ln/>
        </p:spPr>
        <p:txBody>
          <a:bodyPr wrap="square" lIns="0" tIns="0" rIns="0" bIns="0" rtlCol="0" anchor="b"/>
          <a:lstStyle/>
          <a:p>
            <a:pPr indent="0" marL="0">
              <a:buNone/>
            </a:pPr>
            <a:r>
              <a:rPr lang="en-US" sz="4400" b="1" dirty="0">
                <a:solidFill>
                  <a:srgbClr val="0B5D3B"/>
                </a:solidFill>
                <a:latin typeface="Cambria" pitchFamily="34" charset="0"/>
                <a:ea typeface="Cambria" pitchFamily="34" charset="-122"/>
                <a:cs typeface="Cambria" pitchFamily="34" charset="-120"/>
              </a:rPr>
              <a:t>23/23</a:t>
            </a:r>
            <a:endParaRPr lang="en-US" sz="4400" dirty="0"/>
          </a:p>
        </p:txBody>
      </p:sp>
      <p:sp>
        <p:nvSpPr>
          <p:cNvPr id="14" name="Text 12"/>
          <p:cNvSpPr txBox="1"/>
          <p:nvPr/>
        </p:nvSpPr>
        <p:spPr>
          <a:xfrm>
            <a:off x="9189720" y="4709160"/>
            <a:ext cx="219456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automated tests passing</a:t>
            </a:r>
            <a:endParaRPr lang="en-US" sz="1400" dirty="0"/>
          </a:p>
        </p:txBody>
      </p:sp>
      <p:sp>
        <p:nvSpPr>
          <p:cNvPr id="15" name="Text 13"/>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DETECTION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Ransomware leaves fingerprints on files</a:t>
            </a:r>
            <a:endParaRPr lang="en-US" sz="3400" dirty="0"/>
          </a:p>
        </p:txBody>
      </p:sp>
      <p:sp>
        <p:nvSpPr>
          <p:cNvPr id="4" name="Text 2"/>
          <p:cNvSpPr txBox="1"/>
          <p:nvPr/>
        </p:nvSpPr>
        <p:spPr>
          <a:xfrm>
            <a:off x="548640" y="1508760"/>
            <a:ext cx="2468880" cy="731520"/>
          </a:xfrm>
          <a:prstGeom prst="rect">
            <a:avLst/>
          </a:prstGeom>
          <a:noFill/>
          <a:ln/>
        </p:spPr>
        <p:txBody>
          <a:bodyPr wrap="square" lIns="0" tIns="0" rIns="0" bIns="0" rtlCol="0" anchor="ctr"/>
          <a:lstStyle/>
          <a:p>
            <a:pPr indent="0" marL="0">
              <a:buNone/>
            </a:pPr>
            <a:r>
              <a:rPr lang="en-US" sz="1900" b="1" dirty="0">
                <a:solidFill>
                  <a:srgbClr val="1C2733"/>
                </a:solidFill>
                <a:latin typeface="Cambria" pitchFamily="34" charset="0"/>
                <a:ea typeface="Cambria" pitchFamily="34" charset="-122"/>
                <a:cs typeface="Cambria" pitchFamily="34" charset="-120"/>
              </a:rPr>
              <a:t>Mass change</a:t>
            </a:r>
            <a:endParaRPr lang="en-US" sz="1900" dirty="0"/>
          </a:p>
        </p:txBody>
      </p:sp>
      <p:sp>
        <p:nvSpPr>
          <p:cNvPr id="5" name="Text 3"/>
          <p:cNvSpPr txBox="1"/>
          <p:nvPr/>
        </p:nvSpPr>
        <p:spPr>
          <a:xfrm>
            <a:off x="3108960" y="1508760"/>
            <a:ext cx="4480560" cy="73152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5+ files and 20%+ of all files modified or deleted</a:t>
            </a:r>
            <a:endParaRPr lang="en-US" sz="1500" dirty="0"/>
          </a:p>
        </p:txBody>
      </p:sp>
      <p:sp>
        <p:nvSpPr>
          <p:cNvPr id="6" name="Shape 4"/>
          <p:cNvSpPr/>
          <p:nvPr/>
        </p:nvSpPr>
        <p:spPr>
          <a:xfrm>
            <a:off x="7863840" y="1691640"/>
            <a:ext cx="2560320" cy="384048"/>
          </a:xfrm>
          <a:prstGeom prst="rect">
            <a:avLst/>
          </a:prstGeom>
          <a:solidFill>
            <a:srgbClr val="C53030"/>
          </a:solidFill>
          <a:ln/>
        </p:spPr>
      </p:sp>
      <p:sp>
        <p:nvSpPr>
          <p:cNvPr id="7" name="Text 5"/>
          <p:cNvSpPr txBox="1"/>
          <p:nvPr/>
        </p:nvSpPr>
        <p:spPr>
          <a:xfrm>
            <a:off x="10515600" y="1645920"/>
            <a:ext cx="1097280" cy="475488"/>
          </a:xfrm>
          <a:prstGeom prst="rect">
            <a:avLst/>
          </a:prstGeom>
          <a:noFill/>
          <a:ln/>
        </p:spPr>
        <p:txBody>
          <a:bodyPr wrap="square" lIns="0" tIns="0" rIns="0" bIns="0" rtlCol="0" anchor="ctr"/>
          <a:lstStyle/>
          <a:p>
            <a:pPr indent="0" marL="0">
              <a:buNone/>
            </a:pPr>
            <a:r>
              <a:rPr lang="en-US" sz="1500" b="1" dirty="0">
                <a:solidFill>
                  <a:srgbClr val="C53030"/>
                </a:solidFill>
                <a:latin typeface="Calibri" pitchFamily="34" charset="0"/>
                <a:ea typeface="Calibri" pitchFamily="34" charset="-122"/>
                <a:cs typeface="Calibri" pitchFamily="34" charset="-120"/>
              </a:rPr>
              <a:t>40 pts</a:t>
            </a:r>
            <a:endParaRPr lang="en-US" sz="1500" dirty="0"/>
          </a:p>
        </p:txBody>
      </p:sp>
      <p:sp>
        <p:nvSpPr>
          <p:cNvPr id="8" name="Text 6"/>
          <p:cNvSpPr txBox="1"/>
          <p:nvPr/>
        </p:nvSpPr>
        <p:spPr>
          <a:xfrm>
            <a:off x="548640" y="2441448"/>
            <a:ext cx="2468880" cy="731520"/>
          </a:xfrm>
          <a:prstGeom prst="rect">
            <a:avLst/>
          </a:prstGeom>
          <a:noFill/>
          <a:ln/>
        </p:spPr>
        <p:txBody>
          <a:bodyPr wrap="square" lIns="0" tIns="0" rIns="0" bIns="0" rtlCol="0" anchor="ctr"/>
          <a:lstStyle/>
          <a:p>
            <a:pPr indent="0" marL="0">
              <a:buNone/>
            </a:pPr>
            <a:r>
              <a:rPr lang="en-US" sz="1900" b="1" dirty="0">
                <a:solidFill>
                  <a:srgbClr val="1C2733"/>
                </a:solidFill>
                <a:latin typeface="Cambria" pitchFamily="34" charset="0"/>
                <a:ea typeface="Cambria" pitchFamily="34" charset="-122"/>
                <a:cs typeface="Cambria" pitchFamily="34" charset="-120"/>
              </a:rPr>
              <a:t>High entropy</a:t>
            </a:r>
            <a:endParaRPr lang="en-US" sz="1900" dirty="0"/>
          </a:p>
        </p:txBody>
      </p:sp>
      <p:sp>
        <p:nvSpPr>
          <p:cNvPr id="9" name="Text 7"/>
          <p:cNvSpPr txBox="1"/>
          <p:nvPr/>
        </p:nvSpPr>
        <p:spPr>
          <a:xfrm>
            <a:off x="3108960" y="2441448"/>
            <a:ext cx="4480560" cy="73152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3+ changed files near 8 bits/byte (random-looking)</a:t>
            </a:r>
            <a:endParaRPr lang="en-US" sz="1500" dirty="0"/>
          </a:p>
        </p:txBody>
      </p:sp>
      <p:sp>
        <p:nvSpPr>
          <p:cNvPr id="10" name="Shape 8"/>
          <p:cNvSpPr/>
          <p:nvPr/>
        </p:nvSpPr>
        <p:spPr>
          <a:xfrm>
            <a:off x="7863840" y="2624328"/>
            <a:ext cx="1920240" cy="384048"/>
          </a:xfrm>
          <a:prstGeom prst="rect">
            <a:avLst/>
          </a:prstGeom>
          <a:solidFill>
            <a:srgbClr val="C53030"/>
          </a:solidFill>
          <a:ln/>
        </p:spPr>
      </p:sp>
      <p:sp>
        <p:nvSpPr>
          <p:cNvPr id="11" name="Text 9"/>
          <p:cNvSpPr txBox="1"/>
          <p:nvPr/>
        </p:nvSpPr>
        <p:spPr>
          <a:xfrm>
            <a:off x="9875520" y="2578608"/>
            <a:ext cx="1097280" cy="475488"/>
          </a:xfrm>
          <a:prstGeom prst="rect">
            <a:avLst/>
          </a:prstGeom>
          <a:noFill/>
          <a:ln/>
        </p:spPr>
        <p:txBody>
          <a:bodyPr wrap="square" lIns="0" tIns="0" rIns="0" bIns="0" rtlCol="0" anchor="ctr"/>
          <a:lstStyle/>
          <a:p>
            <a:pPr indent="0" marL="0">
              <a:buNone/>
            </a:pPr>
            <a:r>
              <a:rPr lang="en-US" sz="1500" b="1" dirty="0">
                <a:solidFill>
                  <a:srgbClr val="C53030"/>
                </a:solidFill>
                <a:latin typeface="Calibri" pitchFamily="34" charset="0"/>
                <a:ea typeface="Calibri" pitchFamily="34" charset="-122"/>
                <a:cs typeface="Calibri" pitchFamily="34" charset="-120"/>
              </a:rPr>
              <a:t>30 pts</a:t>
            </a:r>
            <a:endParaRPr lang="en-US" sz="1500" dirty="0"/>
          </a:p>
        </p:txBody>
      </p:sp>
      <p:sp>
        <p:nvSpPr>
          <p:cNvPr id="12" name="Text 10"/>
          <p:cNvSpPr txBox="1"/>
          <p:nvPr/>
        </p:nvSpPr>
        <p:spPr>
          <a:xfrm>
            <a:off x="548640" y="3374136"/>
            <a:ext cx="2468880" cy="731520"/>
          </a:xfrm>
          <a:prstGeom prst="rect">
            <a:avLst/>
          </a:prstGeom>
          <a:noFill/>
          <a:ln/>
        </p:spPr>
        <p:txBody>
          <a:bodyPr wrap="square" lIns="0" tIns="0" rIns="0" bIns="0" rtlCol="0" anchor="ctr"/>
          <a:lstStyle/>
          <a:p>
            <a:pPr indent="0" marL="0">
              <a:buNone/>
            </a:pPr>
            <a:r>
              <a:rPr lang="en-US" sz="1900" b="1" dirty="0">
                <a:solidFill>
                  <a:srgbClr val="1C2733"/>
                </a:solidFill>
                <a:latin typeface="Cambria" pitchFamily="34" charset="0"/>
                <a:ea typeface="Cambria" pitchFamily="34" charset="-122"/>
                <a:cs typeface="Cambria" pitchFamily="34" charset="-120"/>
              </a:rPr>
              <a:t>Ransom extension</a:t>
            </a:r>
            <a:endParaRPr lang="en-US" sz="1900" dirty="0"/>
          </a:p>
        </p:txBody>
      </p:sp>
      <p:sp>
        <p:nvSpPr>
          <p:cNvPr id="13" name="Text 11"/>
          <p:cNvSpPr txBox="1"/>
          <p:nvPr/>
        </p:nvSpPr>
        <p:spPr>
          <a:xfrm>
            <a:off x="3108960" y="3374136"/>
            <a:ext cx="4480560" cy="73152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.locked, .encrypted, .lockbit and others</a:t>
            </a:r>
            <a:endParaRPr lang="en-US" sz="1500" dirty="0"/>
          </a:p>
        </p:txBody>
      </p:sp>
      <p:sp>
        <p:nvSpPr>
          <p:cNvPr id="14" name="Shape 12"/>
          <p:cNvSpPr/>
          <p:nvPr/>
        </p:nvSpPr>
        <p:spPr>
          <a:xfrm>
            <a:off x="7863840" y="3557016"/>
            <a:ext cx="1280160" cy="384048"/>
          </a:xfrm>
          <a:prstGeom prst="rect">
            <a:avLst/>
          </a:prstGeom>
          <a:solidFill>
            <a:srgbClr val="C53030"/>
          </a:solidFill>
          <a:ln/>
        </p:spPr>
      </p:sp>
      <p:sp>
        <p:nvSpPr>
          <p:cNvPr id="15" name="Text 13"/>
          <p:cNvSpPr txBox="1"/>
          <p:nvPr/>
        </p:nvSpPr>
        <p:spPr>
          <a:xfrm>
            <a:off x="9235440" y="3511296"/>
            <a:ext cx="1097280" cy="475488"/>
          </a:xfrm>
          <a:prstGeom prst="rect">
            <a:avLst/>
          </a:prstGeom>
          <a:noFill/>
          <a:ln/>
        </p:spPr>
        <p:txBody>
          <a:bodyPr wrap="square" lIns="0" tIns="0" rIns="0" bIns="0" rtlCol="0" anchor="ctr"/>
          <a:lstStyle/>
          <a:p>
            <a:pPr indent="0" marL="0">
              <a:buNone/>
            </a:pPr>
            <a:r>
              <a:rPr lang="en-US" sz="1500" b="1" dirty="0">
                <a:solidFill>
                  <a:srgbClr val="C53030"/>
                </a:solidFill>
                <a:latin typeface="Calibri" pitchFamily="34" charset="0"/>
                <a:ea typeface="Calibri" pitchFamily="34" charset="-122"/>
                <a:cs typeface="Calibri" pitchFamily="34" charset="-120"/>
              </a:rPr>
              <a:t>20 pts</a:t>
            </a:r>
            <a:endParaRPr lang="en-US" sz="1500" dirty="0"/>
          </a:p>
        </p:txBody>
      </p:sp>
      <p:sp>
        <p:nvSpPr>
          <p:cNvPr id="16" name="Text 14"/>
          <p:cNvSpPr txBox="1"/>
          <p:nvPr/>
        </p:nvSpPr>
        <p:spPr>
          <a:xfrm>
            <a:off x="548640" y="4306824"/>
            <a:ext cx="2468880" cy="731520"/>
          </a:xfrm>
          <a:prstGeom prst="rect">
            <a:avLst/>
          </a:prstGeom>
          <a:noFill/>
          <a:ln/>
        </p:spPr>
        <p:txBody>
          <a:bodyPr wrap="square" lIns="0" tIns="0" rIns="0" bIns="0" rtlCol="0" anchor="ctr"/>
          <a:lstStyle/>
          <a:p>
            <a:pPr indent="0" marL="0">
              <a:buNone/>
            </a:pPr>
            <a:r>
              <a:rPr lang="en-US" sz="1900" b="1" dirty="0">
                <a:solidFill>
                  <a:srgbClr val="1C2733"/>
                </a:solidFill>
                <a:latin typeface="Cambria" pitchFamily="34" charset="0"/>
                <a:ea typeface="Cambria" pitchFamily="34" charset="-122"/>
                <a:cs typeface="Cambria" pitchFamily="34" charset="-120"/>
              </a:rPr>
              <a:t>Ransom note</a:t>
            </a:r>
            <a:endParaRPr lang="en-US" sz="1900" dirty="0"/>
          </a:p>
        </p:txBody>
      </p:sp>
      <p:sp>
        <p:nvSpPr>
          <p:cNvPr id="17" name="Text 15"/>
          <p:cNvSpPr txBox="1"/>
          <p:nvPr/>
        </p:nvSpPr>
        <p:spPr>
          <a:xfrm>
            <a:off x="3108960" y="4306824"/>
            <a:ext cx="4480560" cy="73152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README / DECRYPT / RECOVER text files appear</a:t>
            </a:r>
            <a:endParaRPr lang="en-US" sz="1500" dirty="0"/>
          </a:p>
        </p:txBody>
      </p:sp>
      <p:sp>
        <p:nvSpPr>
          <p:cNvPr id="18" name="Shape 16"/>
          <p:cNvSpPr/>
          <p:nvPr/>
        </p:nvSpPr>
        <p:spPr>
          <a:xfrm>
            <a:off x="7863840" y="4489704"/>
            <a:ext cx="1280160" cy="384048"/>
          </a:xfrm>
          <a:prstGeom prst="rect">
            <a:avLst/>
          </a:prstGeom>
          <a:solidFill>
            <a:srgbClr val="C53030"/>
          </a:solidFill>
          <a:ln/>
        </p:spPr>
      </p:sp>
      <p:sp>
        <p:nvSpPr>
          <p:cNvPr id="19" name="Text 17"/>
          <p:cNvSpPr txBox="1"/>
          <p:nvPr/>
        </p:nvSpPr>
        <p:spPr>
          <a:xfrm>
            <a:off x="9235440" y="4443984"/>
            <a:ext cx="1097280" cy="475488"/>
          </a:xfrm>
          <a:prstGeom prst="rect">
            <a:avLst/>
          </a:prstGeom>
          <a:noFill/>
          <a:ln/>
        </p:spPr>
        <p:txBody>
          <a:bodyPr wrap="square" lIns="0" tIns="0" rIns="0" bIns="0" rtlCol="0" anchor="ctr"/>
          <a:lstStyle/>
          <a:p>
            <a:pPr indent="0" marL="0">
              <a:buNone/>
            </a:pPr>
            <a:r>
              <a:rPr lang="en-US" sz="1500" b="1" dirty="0">
                <a:solidFill>
                  <a:srgbClr val="C53030"/>
                </a:solidFill>
                <a:latin typeface="Calibri" pitchFamily="34" charset="0"/>
                <a:ea typeface="Calibri" pitchFamily="34" charset="-122"/>
                <a:cs typeface="Calibri" pitchFamily="34" charset="-120"/>
              </a:rPr>
              <a:t>20 pts</a:t>
            </a:r>
            <a:endParaRPr lang="en-US" sz="1500" dirty="0"/>
          </a:p>
        </p:txBody>
      </p:sp>
      <p:sp>
        <p:nvSpPr>
          <p:cNvPr id="20" name="Shape 18"/>
          <p:cNvSpPr/>
          <p:nvPr/>
        </p:nvSpPr>
        <p:spPr>
          <a:xfrm>
            <a:off x="548640" y="5349240"/>
            <a:ext cx="11094415" cy="822960"/>
          </a:xfrm>
          <a:prstGeom prst="roundRect">
            <a:avLst>
              <a:gd name="adj" fmla="val 13333"/>
            </a:avLst>
          </a:prstGeom>
          <a:solidFill>
            <a:srgbClr val="EAF4EE"/>
          </a:solidFill>
          <a:ln/>
        </p:spPr>
      </p:sp>
      <p:sp>
        <p:nvSpPr>
          <p:cNvPr id="21" name="Text 19"/>
          <p:cNvSpPr txBox="1"/>
          <p:nvPr/>
        </p:nvSpPr>
        <p:spPr>
          <a:xfrm>
            <a:off x="822960" y="5394960"/>
            <a:ext cx="10545775" cy="731520"/>
          </a:xfrm>
          <a:prstGeom prst="rect">
            <a:avLst/>
          </a:prstGeom>
          <a:noFill/>
          <a:ln/>
        </p:spPr>
        <p:txBody>
          <a:bodyPr wrap="square" lIns="0" tIns="0" rIns="0" bIns="0" rtlCol="0" anchor="ctr"/>
          <a:lstStyle/>
          <a:p>
            <a:pPr indent="0" marL="0">
              <a:buNone/>
            </a:pPr>
            <a:r>
              <a:rPr lang="en-US" sz="1600" dirty="0">
                <a:solidFill>
                  <a:srgbClr val="1C2733"/>
                </a:solidFill>
                <a:latin typeface="Calibri" pitchFamily="34" charset="0"/>
                <a:ea typeface="Calibri" pitchFamily="34" charset="-122"/>
                <a:cs typeface="Calibri" pitchFamily="34" charset="-120"/>
              </a:rPr>
              <a:t>50+ points = critical. No single signal is enough, so a lecturer replacing many handouts gets a warning, not a lockdown.</a:t>
            </a:r>
            <a:endParaRPr lang="en-US" sz="1600" dirty="0"/>
          </a:p>
        </p:txBody>
      </p:sp>
      <p:sp>
        <p:nvSpPr>
          <p:cNvPr id="22" name="Text 20"/>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INCIDENT RESPONSE (NIST SP 800-61)</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From attack to verified recovery in seconds</a:t>
            </a:r>
            <a:endParaRPr lang="en-US" sz="3400" dirty="0"/>
          </a:p>
        </p:txBody>
      </p:sp>
      <p:pic>
        <p:nvPicPr>
          <p:cNvPr id="4" name="Image 0" descr="/home/user/CMP-468/project1-uniguard/docs/img/incident_flow.png">    </p:cNvPr>
          <p:cNvPicPr>
            <a:picLocks noChangeAspect="1"/>
          </p:cNvPicPr>
          <p:nvPr/>
        </p:nvPicPr>
        <p:blipFill>
          <a:blip r:embed="rId1"/>
          <a:stretch>
            <a:fillRect/>
          </a:stretch>
        </p:blipFill>
        <p:spPr>
          <a:xfrm>
            <a:off x="548640" y="1417320"/>
            <a:ext cx="11094415" cy="2389566"/>
          </a:xfrm>
          <a:prstGeom prst="rect">
            <a:avLst/>
          </a:prstGeom>
        </p:spPr>
      </p:pic>
      <p:sp>
        <p:nvSpPr>
          <p:cNvPr id="5" name="Text 2"/>
          <p:cNvSpPr txBox="1"/>
          <p:nvPr/>
        </p:nvSpPr>
        <p:spPr>
          <a:xfrm>
            <a:off x="548640" y="3931920"/>
            <a:ext cx="3291840" cy="868680"/>
          </a:xfrm>
          <a:prstGeom prst="rect">
            <a:avLst/>
          </a:prstGeom>
          <a:noFill/>
          <a:ln/>
        </p:spPr>
        <p:txBody>
          <a:bodyPr wrap="square" lIns="0" tIns="0" rIns="0" bIns="0" rtlCol="0" anchor="b"/>
          <a:lstStyle/>
          <a:p>
            <a:pPr indent="0" marL="0">
              <a:buNone/>
            </a:pPr>
            <a:r>
              <a:rPr lang="en-US" sz="4400" b="1" dirty="0">
                <a:solidFill>
                  <a:srgbClr val="C53030"/>
                </a:solidFill>
                <a:latin typeface="Cambria" pitchFamily="34" charset="0"/>
                <a:ea typeface="Cambria" pitchFamily="34" charset="-122"/>
                <a:cs typeface="Cambria" pitchFamily="34" charset="-120"/>
              </a:rPr>
              <a:t>2.7 s</a:t>
            </a:r>
            <a:endParaRPr lang="en-US" sz="4400" dirty="0"/>
          </a:p>
        </p:txBody>
      </p:sp>
      <p:sp>
        <p:nvSpPr>
          <p:cNvPr id="6" name="Text 3"/>
          <p:cNvSpPr txBox="1"/>
          <p:nvPr/>
        </p:nvSpPr>
        <p:spPr>
          <a:xfrm>
            <a:off x="548640" y="4846320"/>
            <a:ext cx="329184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to detect, quarantine, restore and verify 600 encrypted files</a:t>
            </a:r>
            <a:endParaRPr lang="en-US" sz="1400" dirty="0"/>
          </a:p>
        </p:txBody>
      </p:sp>
      <p:sp>
        <p:nvSpPr>
          <p:cNvPr id="7" name="Text 4"/>
          <p:cNvSpPr txBox="1"/>
          <p:nvPr/>
        </p:nvSpPr>
        <p:spPr>
          <a:xfrm>
            <a:off x="4297680" y="3931920"/>
            <a:ext cx="3291840" cy="868680"/>
          </a:xfrm>
          <a:prstGeom prst="rect">
            <a:avLst/>
          </a:prstGeom>
          <a:noFill/>
          <a:ln/>
        </p:spPr>
        <p:txBody>
          <a:bodyPr wrap="square" lIns="0" tIns="0" rIns="0" bIns="0" rtlCol="0" anchor="b"/>
          <a:lstStyle/>
          <a:p>
            <a:pPr indent="0" marL="0">
              <a:buNone/>
            </a:pPr>
            <a:r>
              <a:rPr lang="en-US" sz="4400" b="1" dirty="0">
                <a:solidFill>
                  <a:srgbClr val="0B5D3B"/>
                </a:solidFill>
                <a:latin typeface="Cambria" pitchFamily="34" charset="0"/>
                <a:ea typeface="Cambria" pitchFamily="34" charset="-122"/>
                <a:cs typeface="Cambria" pitchFamily="34" charset="-120"/>
              </a:rPr>
              <a:t>600/600</a:t>
            </a:r>
            <a:endParaRPr lang="en-US" sz="4400" dirty="0"/>
          </a:p>
        </p:txBody>
      </p:sp>
      <p:sp>
        <p:nvSpPr>
          <p:cNvPr id="8" name="Text 5"/>
          <p:cNvSpPr txBox="1"/>
          <p:nvPr/>
        </p:nvSpPr>
        <p:spPr>
          <a:xfrm>
            <a:off x="4297680" y="4846320"/>
            <a:ext cx="329184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files restored, every one checked with SHA-256</a:t>
            </a:r>
            <a:endParaRPr lang="en-US" sz="1400" dirty="0"/>
          </a:p>
        </p:txBody>
      </p:sp>
      <p:sp>
        <p:nvSpPr>
          <p:cNvPr id="9" name="Text 6"/>
          <p:cNvSpPr txBox="1"/>
          <p:nvPr/>
        </p:nvSpPr>
        <p:spPr>
          <a:xfrm>
            <a:off x="8046720" y="3931920"/>
            <a:ext cx="3291840" cy="868680"/>
          </a:xfrm>
          <a:prstGeom prst="rect">
            <a:avLst/>
          </a:prstGeom>
          <a:noFill/>
          <a:ln/>
        </p:spPr>
        <p:txBody>
          <a:bodyPr wrap="square" lIns="0" tIns="0" rIns="0" bIns="0" rtlCol="0" anchor="b"/>
          <a:lstStyle/>
          <a:p>
            <a:pPr indent="0" marL="0">
              <a:buNone/>
            </a:pPr>
            <a:r>
              <a:rPr lang="en-US" sz="4400" b="1" dirty="0">
                <a:solidFill>
                  <a:srgbClr val="0B5D3B"/>
                </a:solidFill>
                <a:latin typeface="Cambria" pitchFamily="34" charset="0"/>
                <a:ea typeface="Cambria" pitchFamily="34" charset="-122"/>
                <a:cs typeface="Cambria" pitchFamily="34" charset="-120"/>
              </a:rPr>
              <a:t>0</a:t>
            </a:r>
            <a:endParaRPr lang="en-US" sz="4400" dirty="0"/>
          </a:p>
        </p:txBody>
      </p:sp>
      <p:sp>
        <p:nvSpPr>
          <p:cNvPr id="10" name="Text 7"/>
          <p:cNvSpPr txBox="1"/>
          <p:nvPr/>
        </p:nvSpPr>
        <p:spPr>
          <a:xfrm>
            <a:off x="8046720" y="4846320"/>
            <a:ext cx="3291840" cy="1005840"/>
          </a:xfrm>
          <a:prstGeom prst="rect">
            <a:avLst/>
          </a:prstGeom>
          <a:noFill/>
          <a:ln/>
        </p:spPr>
        <p:txBody>
          <a:bodyPr wrap="square" lIns="0" tIns="0" rIns="0" bIns="0" rtlCol="0" anchor="t"/>
          <a:lstStyle/>
          <a:p>
            <a:pPr indent="0" marL="0">
              <a:buNone/>
            </a:pPr>
            <a:r>
              <a:rPr lang="en-US" sz="1400" dirty="0">
                <a:solidFill>
                  <a:srgbClr val="5D6B7A"/>
                </a:solidFill>
                <a:latin typeface="Calibri" pitchFamily="34" charset="0"/>
                <a:ea typeface="Calibri" pitchFamily="34" charset="-122"/>
                <a:cs typeface="Calibri" pitchFamily="34" charset="-120"/>
              </a:rPr>
              <a:t>clean snapshots lost: backups freeze during the attack</a:t>
            </a:r>
            <a:endParaRPr lang="en-US" sz="1400" dirty="0"/>
          </a:p>
        </p:txBody>
      </p:sp>
      <p:sp>
        <p:nvSpPr>
          <p:cNvPr id="11" name="Text 8"/>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RECORDS INTEGRITY</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Catching a changed grade</a:t>
            </a:r>
            <a:endParaRPr lang="en-US" sz="3400" dirty="0"/>
          </a:p>
        </p:txBody>
      </p:sp>
      <p:sp>
        <p:nvSpPr>
          <p:cNvPr id="4" name="Shape 2"/>
          <p:cNvSpPr/>
          <p:nvPr/>
        </p:nvSpPr>
        <p:spPr>
          <a:xfrm>
            <a:off x="548640" y="1463040"/>
            <a:ext cx="5212080" cy="4480560"/>
          </a:xfrm>
          <a:prstGeom prst="roundRect">
            <a:avLst>
              <a:gd name="adj" fmla="val 2449"/>
            </a:avLst>
          </a:prstGeom>
          <a:solidFill>
            <a:srgbClr val="FDF0F0"/>
          </a:solidFill>
          <a:ln/>
        </p:spPr>
      </p:sp>
      <p:sp>
        <p:nvSpPr>
          <p:cNvPr id="5" name="Text 3"/>
          <p:cNvSpPr txBox="1"/>
          <p:nvPr/>
        </p:nvSpPr>
        <p:spPr>
          <a:xfrm>
            <a:off x="868680" y="1645920"/>
            <a:ext cx="4572000" cy="457200"/>
          </a:xfrm>
          <a:prstGeom prst="rect">
            <a:avLst/>
          </a:prstGeom>
          <a:noFill/>
          <a:ln/>
        </p:spPr>
        <p:txBody>
          <a:bodyPr wrap="square" lIns="0" tIns="0" rIns="0" bIns="0" rtlCol="0" anchor="ctr"/>
          <a:lstStyle/>
          <a:p>
            <a:pPr indent="0" marL="0">
              <a:buNone/>
            </a:pPr>
            <a:r>
              <a:rPr lang="en-US" sz="2000" b="1" dirty="0">
                <a:solidFill>
                  <a:srgbClr val="C53030"/>
                </a:solidFill>
                <a:latin typeface="Cambria" pitchFamily="34" charset="0"/>
                <a:ea typeface="Cambria" pitchFamily="34" charset="-122"/>
                <a:cs typeface="Cambria" pitchFamily="34" charset="-120"/>
              </a:rPr>
              <a:t>The insider</a:t>
            </a:r>
            <a:endParaRPr lang="en-US" sz="2000" dirty="0"/>
          </a:p>
        </p:txBody>
      </p:sp>
      <p:sp>
        <p:nvSpPr>
          <p:cNvPr id="6" name="Text 4"/>
          <p:cNvSpPr txBox="1"/>
          <p:nvPr/>
        </p:nvSpPr>
        <p:spPr>
          <a:xfrm>
            <a:off x="868680" y="2194560"/>
            <a:ext cx="4572000" cy="2011680"/>
          </a:xfrm>
          <a:prstGeom prst="rect">
            <a:avLst/>
          </a:prstGeom>
          <a:noFill/>
          <a:ln/>
        </p:spPr>
        <p:txBody>
          <a:bodyPr wrap="square" lIns="0" tIns="0" rIns="0" bIns="0" rtlCol="0" anchor="t"/>
          <a:lstStyle/>
          <a:p>
            <a:pPr indent="0" marL="0">
              <a:spcAft>
                <a:spcPts val="1000"/>
              </a:spcAft>
              <a:buNone/>
            </a:pPr>
            <a:r>
              <a:rPr lang="en-US" sz="1700" b="1" dirty="0">
                <a:solidFill>
                  <a:srgbClr val="1C2733"/>
                </a:solidFill>
                <a:latin typeface="Calibri" pitchFamily="34" charset="0"/>
                <a:ea typeface="Calibri" pitchFamily="34" charset="-122"/>
                <a:cs typeface="Calibri" pitchFamily="34" charset="-120"/>
              </a:rPr>
              <a:t>CMP/2022/002, CMP468</a:t>
            </a:r>
            <a:endParaRPr lang="en-US" sz="1700" dirty="0"/>
          </a:p>
          <a:p>
            <a:pPr indent="0" marL="0">
              <a:spcAft>
                <a:spcPts val="1000"/>
              </a:spcAft>
              <a:buNone/>
            </a:pPr>
            <a:r>
              <a:rPr lang="en-US" sz="3200" b="1" dirty="0">
                <a:solidFill>
                  <a:srgbClr val="C53030"/>
                </a:solidFill>
                <a:latin typeface="Calibri" pitchFamily="34" charset="0"/>
                <a:ea typeface="Calibri" pitchFamily="34" charset="-122"/>
                <a:cs typeface="Calibri" pitchFamily="34" charset="-120"/>
              </a:rPr>
              <a:t>43 (E)  →  88 (A)</a:t>
            </a:r>
            <a:endParaRPr lang="en-US" sz="1700" dirty="0"/>
          </a:p>
          <a:p>
            <a:pPr indent="0" marL="0">
              <a:spcAft>
                <a:spcPts val="1000"/>
              </a:spcAft>
              <a:buNone/>
            </a:pPr>
            <a:r>
              <a:rPr lang="en-US" sz="1700" dirty="0">
                <a:solidFill>
                  <a:srgbClr val="1C2733"/>
                </a:solidFill>
                <a:latin typeface="Calibri" pitchFamily="34" charset="0"/>
                <a:ea typeface="Calibri" pitchFamily="34" charset="-122"/>
                <a:cs typeface="Calibri" pitchFamily="34" charset="-120"/>
              </a:rPr>
              <a:t>changed after Senate approval</a:t>
            </a:r>
            <a:endParaRPr lang="en-US" sz="1700" dirty="0"/>
          </a:p>
        </p:txBody>
      </p:sp>
      <p:sp>
        <p:nvSpPr>
          <p:cNvPr id="7" name="Shape 5"/>
          <p:cNvSpPr/>
          <p:nvPr/>
        </p:nvSpPr>
        <p:spPr>
          <a:xfrm>
            <a:off x="6217920" y="1508760"/>
            <a:ext cx="640080" cy="640080"/>
          </a:xfrm>
          <a:prstGeom prst="ellipse">
            <a:avLst/>
          </a:prstGeom>
          <a:solidFill>
            <a:srgbClr val="0B5D3B"/>
          </a:solidFill>
          <a:ln/>
        </p:spPr>
      </p:sp>
      <p:pic>
        <p:nvPicPr>
          <p:cNvPr id="8" name="Image 0" descr="preencoded.png">    </p:cNvPr>
          <p:cNvPicPr>
            <a:picLocks noChangeAspect="1"/>
          </p:cNvPicPr>
          <p:nvPr/>
        </p:nvPicPr>
        <p:blipFill>
          <a:blip r:embed="rId1"/>
          <a:stretch>
            <a:fillRect/>
          </a:stretch>
        </p:blipFill>
        <p:spPr>
          <a:xfrm>
            <a:off x="6358738" y="1649578"/>
            <a:ext cx="358445" cy="358445"/>
          </a:xfrm>
          <a:prstGeom prst="rect">
            <a:avLst/>
          </a:prstGeom>
        </p:spPr>
      </p:pic>
      <p:sp>
        <p:nvSpPr>
          <p:cNvPr id="9" name="Text 6"/>
          <p:cNvSpPr txBox="1"/>
          <p:nvPr/>
        </p:nvSpPr>
        <p:spPr>
          <a:xfrm>
            <a:off x="7040880" y="1463040"/>
            <a:ext cx="4572000" cy="3657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Protected path watch</a:t>
            </a:r>
            <a:endParaRPr lang="en-US" sz="1800" dirty="0"/>
          </a:p>
        </p:txBody>
      </p:sp>
      <p:sp>
        <p:nvSpPr>
          <p:cNvPr id="10" name="Text 7"/>
          <p:cNvSpPr txBox="1"/>
          <p:nvPr/>
        </p:nvSpPr>
        <p:spPr>
          <a:xfrm>
            <a:off x="7040880" y="1828800"/>
            <a:ext cx="4572000" cy="68580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results may only change inside Senate-approved windows</a:t>
            </a:r>
            <a:endParaRPr lang="en-US" sz="1500" dirty="0"/>
          </a:p>
        </p:txBody>
      </p:sp>
      <p:sp>
        <p:nvSpPr>
          <p:cNvPr id="11" name="Shape 8"/>
          <p:cNvSpPr/>
          <p:nvPr/>
        </p:nvSpPr>
        <p:spPr>
          <a:xfrm>
            <a:off x="6217920" y="2606040"/>
            <a:ext cx="640080" cy="640080"/>
          </a:xfrm>
          <a:prstGeom prst="ellipse">
            <a:avLst/>
          </a:prstGeom>
          <a:solidFill>
            <a:srgbClr val="0B5D3B"/>
          </a:solidFill>
          <a:ln/>
        </p:spPr>
      </p:sp>
      <p:pic>
        <p:nvPicPr>
          <p:cNvPr id="12" name="Image 1" descr="preencoded.png">    </p:cNvPr>
          <p:cNvPicPr>
            <a:picLocks noChangeAspect="1"/>
          </p:cNvPicPr>
          <p:nvPr/>
        </p:nvPicPr>
        <p:blipFill>
          <a:blip r:embed="rId2"/>
          <a:stretch>
            <a:fillRect/>
          </a:stretch>
        </p:blipFill>
        <p:spPr>
          <a:xfrm>
            <a:off x="6358738" y="2746858"/>
            <a:ext cx="358445" cy="358445"/>
          </a:xfrm>
          <a:prstGeom prst="rect">
            <a:avLst/>
          </a:prstGeom>
        </p:spPr>
      </p:pic>
      <p:sp>
        <p:nvSpPr>
          <p:cNvPr id="13" name="Text 9"/>
          <p:cNvSpPr txBox="1"/>
          <p:nvPr/>
        </p:nvSpPr>
        <p:spPr>
          <a:xfrm>
            <a:off x="7040880" y="2560320"/>
            <a:ext cx="4572000" cy="3657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Instant SMS</a:t>
            </a:r>
            <a:endParaRPr lang="en-US" sz="1800" dirty="0"/>
          </a:p>
        </p:txBody>
      </p:sp>
      <p:sp>
        <p:nvSpPr>
          <p:cNvPr id="14" name="Text 10"/>
          <p:cNvSpPr txBox="1"/>
          <p:nvPr/>
        </p:nvSpPr>
        <p:spPr>
          <a:xfrm>
            <a:off x="7040880" y="2926080"/>
            <a:ext cx="4572000" cy="68580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to Registrar and ICT Director, naming the file</a:t>
            </a:r>
            <a:endParaRPr lang="en-US" sz="1500" dirty="0"/>
          </a:p>
        </p:txBody>
      </p:sp>
      <p:sp>
        <p:nvSpPr>
          <p:cNvPr id="15" name="Shape 11"/>
          <p:cNvSpPr/>
          <p:nvPr/>
        </p:nvSpPr>
        <p:spPr>
          <a:xfrm>
            <a:off x="6217920" y="3703320"/>
            <a:ext cx="640080" cy="640080"/>
          </a:xfrm>
          <a:prstGeom prst="ellipse">
            <a:avLst/>
          </a:prstGeom>
          <a:solidFill>
            <a:srgbClr val="0B5D3B"/>
          </a:solidFill>
          <a:ln/>
        </p:spPr>
      </p:sp>
      <p:pic>
        <p:nvPicPr>
          <p:cNvPr id="16" name="Image 2" descr="preencoded.png">    </p:cNvPr>
          <p:cNvPicPr>
            <a:picLocks noChangeAspect="1"/>
          </p:cNvPicPr>
          <p:nvPr/>
        </p:nvPicPr>
        <p:blipFill>
          <a:blip r:embed="rId3"/>
          <a:stretch>
            <a:fillRect/>
          </a:stretch>
        </p:blipFill>
        <p:spPr>
          <a:xfrm>
            <a:off x="6358738" y="3844138"/>
            <a:ext cx="358445" cy="358445"/>
          </a:xfrm>
          <a:prstGeom prst="rect">
            <a:avLst/>
          </a:prstGeom>
        </p:spPr>
      </p:pic>
      <p:sp>
        <p:nvSpPr>
          <p:cNvPr id="17" name="Text 12"/>
          <p:cNvSpPr txBox="1"/>
          <p:nvPr/>
        </p:nvSpPr>
        <p:spPr>
          <a:xfrm>
            <a:off x="7040880" y="3657600"/>
            <a:ext cx="4572000" cy="3657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SUSPECT backups</a:t>
            </a:r>
            <a:endParaRPr lang="en-US" sz="1800" dirty="0"/>
          </a:p>
        </p:txBody>
      </p:sp>
      <p:sp>
        <p:nvSpPr>
          <p:cNvPr id="18" name="Text 13"/>
          <p:cNvSpPr txBox="1"/>
          <p:nvPr/>
        </p:nvSpPr>
        <p:spPr>
          <a:xfrm>
            <a:off x="7040880" y="4023360"/>
            <a:ext cx="4572000" cy="68580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later snapshots never used for recovery</a:t>
            </a:r>
            <a:endParaRPr lang="en-US" sz="1500" dirty="0"/>
          </a:p>
        </p:txBody>
      </p:sp>
      <p:sp>
        <p:nvSpPr>
          <p:cNvPr id="19" name="Shape 14"/>
          <p:cNvSpPr/>
          <p:nvPr/>
        </p:nvSpPr>
        <p:spPr>
          <a:xfrm>
            <a:off x="6217920" y="4800600"/>
            <a:ext cx="640080" cy="640080"/>
          </a:xfrm>
          <a:prstGeom prst="ellipse">
            <a:avLst/>
          </a:prstGeom>
          <a:solidFill>
            <a:srgbClr val="0B5D3B"/>
          </a:solidFill>
          <a:ln/>
        </p:spPr>
      </p:sp>
      <p:pic>
        <p:nvPicPr>
          <p:cNvPr id="20" name="Image 3" descr="preencoded.png">    </p:cNvPr>
          <p:cNvPicPr>
            <a:picLocks noChangeAspect="1"/>
          </p:cNvPicPr>
          <p:nvPr/>
        </p:nvPicPr>
        <p:blipFill>
          <a:blip r:embed="rId4"/>
          <a:stretch>
            <a:fillRect/>
          </a:stretch>
        </p:blipFill>
        <p:spPr>
          <a:xfrm>
            <a:off x="6358738" y="4941418"/>
            <a:ext cx="358445" cy="358445"/>
          </a:xfrm>
          <a:prstGeom prst="rect">
            <a:avLst/>
          </a:prstGeom>
        </p:spPr>
      </p:pic>
      <p:sp>
        <p:nvSpPr>
          <p:cNvPr id="21" name="Text 15"/>
          <p:cNvSpPr txBox="1"/>
          <p:nvPr/>
        </p:nvSpPr>
        <p:spPr>
          <a:xfrm>
            <a:off x="7040880" y="4754880"/>
            <a:ext cx="4572000" cy="3657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Hash-chained audit log</a:t>
            </a:r>
            <a:endParaRPr lang="en-US" sz="1800" dirty="0"/>
          </a:p>
        </p:txBody>
      </p:sp>
      <p:sp>
        <p:nvSpPr>
          <p:cNvPr id="22" name="Text 16"/>
          <p:cNvSpPr txBox="1"/>
          <p:nvPr/>
        </p:nvSpPr>
        <p:spPr>
          <a:xfrm>
            <a:off x="7040880" y="5120640"/>
            <a:ext cx="4572000" cy="68580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editing the log to hide it breaks the chain</a:t>
            </a:r>
            <a:endParaRPr lang="en-US" sz="1500" dirty="0"/>
          </a:p>
        </p:txBody>
      </p:sp>
      <p:sp>
        <p:nvSpPr>
          <p:cNvPr id="23" name="Text 17"/>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LOCAL ADAPTATION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Built for how Nigerian campuses actually run</a:t>
            </a:r>
            <a:endParaRPr lang="en-US" sz="3400" dirty="0"/>
          </a:p>
        </p:txBody>
      </p:sp>
      <p:sp>
        <p:nvSpPr>
          <p:cNvPr id="4" name="Shape 2"/>
          <p:cNvSpPr/>
          <p:nvPr/>
        </p:nvSpPr>
        <p:spPr>
          <a:xfrm>
            <a:off x="548640" y="1463040"/>
            <a:ext cx="3520440" cy="2148840"/>
          </a:xfrm>
          <a:prstGeom prst="roundRect">
            <a:avLst>
              <a:gd name="adj" fmla="val 5106"/>
            </a:avLst>
          </a:prstGeom>
          <a:solidFill>
            <a:srgbClr val="EAF4EE"/>
          </a:solidFill>
          <a:ln/>
        </p:spPr>
      </p:sp>
      <p:sp>
        <p:nvSpPr>
          <p:cNvPr id="5" name="Shape 3"/>
          <p:cNvSpPr/>
          <p:nvPr/>
        </p:nvSpPr>
        <p:spPr>
          <a:xfrm>
            <a:off x="777240" y="1691640"/>
            <a:ext cx="594360" cy="594360"/>
          </a:xfrm>
          <a:prstGeom prst="ellipse">
            <a:avLst/>
          </a:prstGeom>
          <a:solidFill>
            <a:srgbClr val="0B5D3B"/>
          </a:solidFill>
          <a:ln/>
        </p:spPr>
      </p:sp>
      <p:pic>
        <p:nvPicPr>
          <p:cNvPr id="6" name="Image 0" descr="preencoded.png">    </p:cNvPr>
          <p:cNvPicPr>
            <a:picLocks noChangeAspect="1"/>
          </p:cNvPicPr>
          <p:nvPr/>
        </p:nvPicPr>
        <p:blipFill>
          <a:blip r:embed="rId1"/>
          <a:stretch>
            <a:fillRect/>
          </a:stretch>
        </p:blipFill>
        <p:spPr>
          <a:xfrm>
            <a:off x="907999" y="1822399"/>
            <a:ext cx="332842" cy="332842"/>
          </a:xfrm>
          <a:prstGeom prst="rect">
            <a:avLst/>
          </a:prstGeom>
        </p:spPr>
      </p:pic>
      <p:sp>
        <p:nvSpPr>
          <p:cNvPr id="7" name="Text 4"/>
          <p:cNvSpPr txBox="1"/>
          <p:nvPr/>
        </p:nvSpPr>
        <p:spPr>
          <a:xfrm>
            <a:off x="1508760" y="1691640"/>
            <a:ext cx="2423160" cy="5943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NEPA takes light</a:t>
            </a:r>
            <a:endParaRPr lang="en-US" sz="1800" dirty="0"/>
          </a:p>
        </p:txBody>
      </p:sp>
      <p:sp>
        <p:nvSpPr>
          <p:cNvPr id="8" name="Text 5"/>
          <p:cNvSpPr txBox="1"/>
          <p:nvPr/>
        </p:nvSpPr>
        <p:spPr>
          <a:xfrm>
            <a:off x="777240" y="2423160"/>
            <a:ext cx="3108960" cy="1097280"/>
          </a:xfrm>
          <a:prstGeom prst="rect">
            <a:avLst/>
          </a:prstGeom>
          <a:noFill/>
          <a:ln/>
        </p:spPr>
        <p:txBody>
          <a:bodyPr wrap="square" lIns="0" tIns="0" rIns="0" bIns="0" rtlCol="0" anchor="t"/>
          <a:lstStyle/>
          <a:p>
            <a:pPr indent="0" marL="0">
              <a:buNone/>
            </a:pPr>
            <a:r>
              <a:rPr lang="en-US" sz="1400" dirty="0">
                <a:solidFill>
                  <a:srgbClr val="1C2733"/>
                </a:solidFill>
                <a:latin typeface="Calibri" pitchFamily="34" charset="0"/>
                <a:ea typeface="Calibri" pitchFamily="34" charset="-122"/>
                <a:cs typeface="Calibri" pitchFamily="34" charset="-120"/>
              </a:rPr>
              <a:t>Reads the UPS. Emergency backup the moment mains fails. Alert before the battery dies.</a:t>
            </a:r>
            <a:endParaRPr lang="en-US" sz="1400" dirty="0"/>
          </a:p>
        </p:txBody>
      </p:sp>
      <p:sp>
        <p:nvSpPr>
          <p:cNvPr id="9" name="Shape 6"/>
          <p:cNvSpPr/>
          <p:nvPr/>
        </p:nvSpPr>
        <p:spPr>
          <a:xfrm>
            <a:off x="4297680" y="1463040"/>
            <a:ext cx="3520440" cy="2148840"/>
          </a:xfrm>
          <a:prstGeom prst="roundRect">
            <a:avLst>
              <a:gd name="adj" fmla="val 5106"/>
            </a:avLst>
          </a:prstGeom>
          <a:solidFill>
            <a:srgbClr val="EAF4EE"/>
          </a:solidFill>
          <a:ln/>
        </p:spPr>
      </p:sp>
      <p:sp>
        <p:nvSpPr>
          <p:cNvPr id="10" name="Shape 7"/>
          <p:cNvSpPr/>
          <p:nvPr/>
        </p:nvSpPr>
        <p:spPr>
          <a:xfrm>
            <a:off x="4526280" y="1691640"/>
            <a:ext cx="594360" cy="594360"/>
          </a:xfrm>
          <a:prstGeom prst="ellipse">
            <a:avLst/>
          </a:prstGeom>
          <a:solidFill>
            <a:srgbClr val="0B5D3B"/>
          </a:solidFill>
          <a:ln/>
        </p:spPr>
      </p:sp>
      <p:pic>
        <p:nvPicPr>
          <p:cNvPr id="11" name="Image 1" descr="preencoded.png">    </p:cNvPr>
          <p:cNvPicPr>
            <a:picLocks noChangeAspect="1"/>
          </p:cNvPicPr>
          <p:nvPr/>
        </p:nvPicPr>
        <p:blipFill>
          <a:blip r:embed="rId2"/>
          <a:stretch>
            <a:fillRect/>
          </a:stretch>
        </p:blipFill>
        <p:spPr>
          <a:xfrm>
            <a:off x="4657039" y="1822399"/>
            <a:ext cx="332842" cy="332842"/>
          </a:xfrm>
          <a:prstGeom prst="rect">
            <a:avLst/>
          </a:prstGeom>
        </p:spPr>
      </p:pic>
      <p:sp>
        <p:nvSpPr>
          <p:cNvPr id="12" name="Text 8"/>
          <p:cNvSpPr txBox="1"/>
          <p:nvPr/>
        </p:nvSpPr>
        <p:spPr>
          <a:xfrm>
            <a:off x="5257800" y="1691640"/>
            <a:ext cx="2423160" cy="5943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Costly bandwidth</a:t>
            </a:r>
            <a:endParaRPr lang="en-US" sz="1800" dirty="0"/>
          </a:p>
        </p:txBody>
      </p:sp>
      <p:sp>
        <p:nvSpPr>
          <p:cNvPr id="13" name="Text 9"/>
          <p:cNvSpPr txBox="1"/>
          <p:nvPr/>
        </p:nvSpPr>
        <p:spPr>
          <a:xfrm>
            <a:off x="4526280" y="2423160"/>
            <a:ext cx="3108960" cy="1097280"/>
          </a:xfrm>
          <a:prstGeom prst="rect">
            <a:avLst/>
          </a:prstGeom>
          <a:noFill/>
          <a:ln/>
        </p:spPr>
        <p:txBody>
          <a:bodyPr wrap="square" lIns="0" tIns="0" rIns="0" bIns="0" rtlCol="0" anchor="t"/>
          <a:lstStyle/>
          <a:p>
            <a:pPr indent="0" marL="0">
              <a:buNone/>
            </a:pPr>
            <a:r>
              <a:rPr lang="en-US" sz="1400" dirty="0">
                <a:solidFill>
                  <a:srgbClr val="1C2733"/>
                </a:solidFill>
                <a:latin typeface="Calibri" pitchFamily="34" charset="0"/>
                <a:ea typeface="Calibri" pitchFamily="34" charset="-122"/>
                <a:cs typeface="Calibri" pitchFamily="34" charset="-120"/>
              </a:rPr>
              <a:t>Only changed chunks go offsite, at night, under a data cap. Resumes after link loss.</a:t>
            </a:r>
            <a:endParaRPr lang="en-US" sz="1400" dirty="0"/>
          </a:p>
        </p:txBody>
      </p:sp>
      <p:sp>
        <p:nvSpPr>
          <p:cNvPr id="14" name="Shape 10"/>
          <p:cNvSpPr/>
          <p:nvPr/>
        </p:nvSpPr>
        <p:spPr>
          <a:xfrm>
            <a:off x="8046720" y="1463040"/>
            <a:ext cx="3520440" cy="2148840"/>
          </a:xfrm>
          <a:prstGeom prst="roundRect">
            <a:avLst>
              <a:gd name="adj" fmla="val 5106"/>
            </a:avLst>
          </a:prstGeom>
          <a:solidFill>
            <a:srgbClr val="EAF4EE"/>
          </a:solidFill>
          <a:ln/>
        </p:spPr>
      </p:sp>
      <p:sp>
        <p:nvSpPr>
          <p:cNvPr id="15" name="Shape 11"/>
          <p:cNvSpPr/>
          <p:nvPr/>
        </p:nvSpPr>
        <p:spPr>
          <a:xfrm>
            <a:off x="8275320" y="1691640"/>
            <a:ext cx="594360" cy="594360"/>
          </a:xfrm>
          <a:prstGeom prst="ellipse">
            <a:avLst/>
          </a:prstGeom>
          <a:solidFill>
            <a:srgbClr val="0B5D3B"/>
          </a:solidFill>
          <a:ln/>
        </p:spPr>
      </p:sp>
      <p:pic>
        <p:nvPicPr>
          <p:cNvPr id="16" name="Image 2" descr="preencoded.png">    </p:cNvPr>
          <p:cNvPicPr>
            <a:picLocks noChangeAspect="1"/>
          </p:cNvPicPr>
          <p:nvPr/>
        </p:nvPicPr>
        <p:blipFill>
          <a:blip r:embed="rId3"/>
          <a:stretch>
            <a:fillRect/>
          </a:stretch>
        </p:blipFill>
        <p:spPr>
          <a:xfrm>
            <a:off x="8406079" y="1822399"/>
            <a:ext cx="332842" cy="332842"/>
          </a:xfrm>
          <a:prstGeom prst="rect">
            <a:avLst/>
          </a:prstGeom>
        </p:spPr>
      </p:pic>
      <p:sp>
        <p:nvSpPr>
          <p:cNvPr id="17" name="Text 12"/>
          <p:cNvSpPr txBox="1"/>
          <p:nvPr/>
        </p:nvSpPr>
        <p:spPr>
          <a:xfrm>
            <a:off x="9006840" y="1691640"/>
            <a:ext cx="2423160" cy="5943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Internet down too</a:t>
            </a:r>
            <a:endParaRPr lang="en-US" sz="1800" dirty="0"/>
          </a:p>
        </p:txBody>
      </p:sp>
      <p:sp>
        <p:nvSpPr>
          <p:cNvPr id="18" name="Text 13"/>
          <p:cNvSpPr txBox="1"/>
          <p:nvPr/>
        </p:nvSpPr>
        <p:spPr>
          <a:xfrm>
            <a:off x="8275320" y="2423160"/>
            <a:ext cx="3108960" cy="1097280"/>
          </a:xfrm>
          <a:prstGeom prst="rect">
            <a:avLst/>
          </a:prstGeom>
          <a:noFill/>
          <a:ln/>
        </p:spPr>
        <p:txBody>
          <a:bodyPr wrap="square" lIns="0" tIns="0" rIns="0" bIns="0" rtlCol="0" anchor="t"/>
          <a:lstStyle/>
          <a:p>
            <a:pPr indent="0" marL="0">
              <a:buNone/>
            </a:pPr>
            <a:r>
              <a:rPr lang="en-US" sz="1400" dirty="0">
                <a:solidFill>
                  <a:srgbClr val="1C2733"/>
                </a:solidFill>
                <a:latin typeface="Calibri" pitchFamily="34" charset="0"/>
                <a:ea typeface="Calibri" pitchFamily="34" charset="-122"/>
                <a:cs typeface="Calibri" pitchFamily="34" charset="-120"/>
              </a:rPr>
              <a:t>SMS through Africa's Talking or Termii reaches phones without data.</a:t>
            </a:r>
            <a:endParaRPr lang="en-US" sz="1400" dirty="0"/>
          </a:p>
        </p:txBody>
      </p:sp>
      <p:sp>
        <p:nvSpPr>
          <p:cNvPr id="19" name="Shape 14"/>
          <p:cNvSpPr/>
          <p:nvPr/>
        </p:nvSpPr>
        <p:spPr>
          <a:xfrm>
            <a:off x="548640" y="3794760"/>
            <a:ext cx="3520440" cy="2148840"/>
          </a:xfrm>
          <a:prstGeom prst="roundRect">
            <a:avLst>
              <a:gd name="adj" fmla="val 5106"/>
            </a:avLst>
          </a:prstGeom>
          <a:solidFill>
            <a:srgbClr val="EAF4EE"/>
          </a:solidFill>
          <a:ln/>
        </p:spPr>
      </p:sp>
      <p:sp>
        <p:nvSpPr>
          <p:cNvPr id="20" name="Shape 15"/>
          <p:cNvSpPr/>
          <p:nvPr/>
        </p:nvSpPr>
        <p:spPr>
          <a:xfrm>
            <a:off x="777240" y="4023360"/>
            <a:ext cx="594360" cy="594360"/>
          </a:xfrm>
          <a:prstGeom prst="ellipse">
            <a:avLst/>
          </a:prstGeom>
          <a:solidFill>
            <a:srgbClr val="0B5D3B"/>
          </a:solidFill>
          <a:ln/>
        </p:spPr>
      </p:sp>
      <p:pic>
        <p:nvPicPr>
          <p:cNvPr id="21" name="Image 3" descr="preencoded.png">    </p:cNvPr>
          <p:cNvPicPr>
            <a:picLocks noChangeAspect="1"/>
          </p:cNvPicPr>
          <p:nvPr/>
        </p:nvPicPr>
        <p:blipFill>
          <a:blip r:embed="rId4"/>
          <a:stretch>
            <a:fillRect/>
          </a:stretch>
        </p:blipFill>
        <p:spPr>
          <a:xfrm>
            <a:off x="907999" y="4154119"/>
            <a:ext cx="332842" cy="332842"/>
          </a:xfrm>
          <a:prstGeom prst="rect">
            <a:avLst/>
          </a:prstGeom>
        </p:spPr>
      </p:pic>
      <p:sp>
        <p:nvSpPr>
          <p:cNvPr id="22" name="Text 16"/>
          <p:cNvSpPr txBox="1"/>
          <p:nvPr/>
        </p:nvSpPr>
        <p:spPr>
          <a:xfrm>
            <a:off x="1508760" y="4023360"/>
            <a:ext cx="2423160" cy="5943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Exam season</a:t>
            </a:r>
            <a:endParaRPr lang="en-US" sz="1800" dirty="0"/>
          </a:p>
        </p:txBody>
      </p:sp>
      <p:sp>
        <p:nvSpPr>
          <p:cNvPr id="23" name="Text 17"/>
          <p:cNvSpPr txBox="1"/>
          <p:nvPr/>
        </p:nvSpPr>
        <p:spPr>
          <a:xfrm>
            <a:off x="777240" y="4754880"/>
            <a:ext cx="3108960" cy="1097280"/>
          </a:xfrm>
          <a:prstGeom prst="rect">
            <a:avLst/>
          </a:prstGeom>
          <a:noFill/>
          <a:ln/>
        </p:spPr>
        <p:txBody>
          <a:bodyPr wrap="square" lIns="0" tIns="0" rIns="0" bIns="0" rtlCol="0" anchor="t"/>
          <a:lstStyle/>
          <a:p>
            <a:pPr indent="0" marL="0">
              <a:buNone/>
            </a:pPr>
            <a:r>
              <a:rPr lang="en-US" sz="1400" dirty="0">
                <a:solidFill>
                  <a:srgbClr val="1C2733"/>
                </a:solidFill>
                <a:latin typeface="Calibri" pitchFamily="34" charset="0"/>
                <a:ea typeface="Calibri" pitchFamily="34" charset="-122"/>
                <a:cs typeface="Calibri" pitchFamily="34" charset="-120"/>
              </a:rPr>
              <a:t>Backups every 15 minutes instead of hourly during result upload.</a:t>
            </a:r>
            <a:endParaRPr lang="en-US" sz="1400" dirty="0"/>
          </a:p>
        </p:txBody>
      </p:sp>
      <p:sp>
        <p:nvSpPr>
          <p:cNvPr id="24" name="Shape 18"/>
          <p:cNvSpPr/>
          <p:nvPr/>
        </p:nvSpPr>
        <p:spPr>
          <a:xfrm>
            <a:off x="4297680" y="3794760"/>
            <a:ext cx="3520440" cy="2148840"/>
          </a:xfrm>
          <a:prstGeom prst="roundRect">
            <a:avLst>
              <a:gd name="adj" fmla="val 5106"/>
            </a:avLst>
          </a:prstGeom>
          <a:solidFill>
            <a:srgbClr val="EAF4EE"/>
          </a:solidFill>
          <a:ln/>
        </p:spPr>
      </p:sp>
      <p:sp>
        <p:nvSpPr>
          <p:cNvPr id="25" name="Shape 19"/>
          <p:cNvSpPr/>
          <p:nvPr/>
        </p:nvSpPr>
        <p:spPr>
          <a:xfrm>
            <a:off x="4526280" y="4023360"/>
            <a:ext cx="594360" cy="594360"/>
          </a:xfrm>
          <a:prstGeom prst="ellipse">
            <a:avLst/>
          </a:prstGeom>
          <a:solidFill>
            <a:srgbClr val="0B5D3B"/>
          </a:solidFill>
          <a:ln/>
        </p:spPr>
      </p:sp>
      <p:pic>
        <p:nvPicPr>
          <p:cNvPr id="26" name="Image 4" descr="preencoded.png">    </p:cNvPr>
          <p:cNvPicPr>
            <a:picLocks noChangeAspect="1"/>
          </p:cNvPicPr>
          <p:nvPr/>
        </p:nvPicPr>
        <p:blipFill>
          <a:blip r:embed="rId5"/>
          <a:stretch>
            <a:fillRect/>
          </a:stretch>
        </p:blipFill>
        <p:spPr>
          <a:xfrm>
            <a:off x="4657039" y="4154119"/>
            <a:ext cx="332842" cy="332842"/>
          </a:xfrm>
          <a:prstGeom prst="rect">
            <a:avLst/>
          </a:prstGeom>
        </p:spPr>
      </p:pic>
      <p:sp>
        <p:nvSpPr>
          <p:cNvPr id="27" name="Text 20"/>
          <p:cNvSpPr txBox="1"/>
          <p:nvPr/>
        </p:nvSpPr>
        <p:spPr>
          <a:xfrm>
            <a:off x="5257800" y="4023360"/>
            <a:ext cx="2423160" cy="5943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Small budget</a:t>
            </a:r>
            <a:endParaRPr lang="en-US" sz="1800" dirty="0"/>
          </a:p>
        </p:txBody>
      </p:sp>
      <p:sp>
        <p:nvSpPr>
          <p:cNvPr id="28" name="Text 21"/>
          <p:cNvSpPr txBox="1"/>
          <p:nvPr/>
        </p:nvSpPr>
        <p:spPr>
          <a:xfrm>
            <a:off x="4526280" y="4754880"/>
            <a:ext cx="3108960" cy="1097280"/>
          </a:xfrm>
          <a:prstGeom prst="rect">
            <a:avLst/>
          </a:prstGeom>
          <a:noFill/>
          <a:ln/>
        </p:spPr>
        <p:txBody>
          <a:bodyPr wrap="square" lIns="0" tIns="0" rIns="0" bIns="0" rtlCol="0" anchor="t"/>
          <a:lstStyle/>
          <a:p>
            <a:pPr indent="0" marL="0">
              <a:buNone/>
            </a:pPr>
            <a:r>
              <a:rPr lang="en-US" sz="1400" dirty="0">
                <a:solidFill>
                  <a:srgbClr val="1C2733"/>
                </a:solidFill>
                <a:latin typeface="Calibri" pitchFamily="34" charset="0"/>
                <a:ea typeface="Calibri" pitchFamily="34" charset="-122"/>
                <a:cs typeface="Calibri" pitchFamily="34" charset="-120"/>
              </a:rPr>
              <a:t>Free software. Runs on an old PC. One command to start.</a:t>
            </a:r>
            <a:endParaRPr lang="en-US" sz="1400" dirty="0"/>
          </a:p>
        </p:txBody>
      </p:sp>
      <p:sp>
        <p:nvSpPr>
          <p:cNvPr id="29" name="Shape 22"/>
          <p:cNvSpPr/>
          <p:nvPr/>
        </p:nvSpPr>
        <p:spPr>
          <a:xfrm>
            <a:off x="8046720" y="3794760"/>
            <a:ext cx="3520440" cy="2148840"/>
          </a:xfrm>
          <a:prstGeom prst="roundRect">
            <a:avLst>
              <a:gd name="adj" fmla="val 5106"/>
            </a:avLst>
          </a:prstGeom>
          <a:solidFill>
            <a:srgbClr val="EAF4EE"/>
          </a:solidFill>
          <a:ln/>
        </p:spPr>
      </p:sp>
      <p:sp>
        <p:nvSpPr>
          <p:cNvPr id="30" name="Shape 23"/>
          <p:cNvSpPr/>
          <p:nvPr/>
        </p:nvSpPr>
        <p:spPr>
          <a:xfrm>
            <a:off x="8275320" y="4023360"/>
            <a:ext cx="594360" cy="594360"/>
          </a:xfrm>
          <a:prstGeom prst="ellipse">
            <a:avLst/>
          </a:prstGeom>
          <a:solidFill>
            <a:srgbClr val="0B5D3B"/>
          </a:solidFill>
          <a:ln/>
        </p:spPr>
      </p:sp>
      <p:pic>
        <p:nvPicPr>
          <p:cNvPr id="31" name="Image 5" descr="preencoded.png">    </p:cNvPr>
          <p:cNvPicPr>
            <a:picLocks noChangeAspect="1"/>
          </p:cNvPicPr>
          <p:nvPr/>
        </p:nvPicPr>
        <p:blipFill>
          <a:blip r:embed="rId6"/>
          <a:stretch>
            <a:fillRect/>
          </a:stretch>
        </p:blipFill>
        <p:spPr>
          <a:xfrm>
            <a:off x="8406079" y="4154119"/>
            <a:ext cx="332842" cy="332842"/>
          </a:xfrm>
          <a:prstGeom prst="rect">
            <a:avLst/>
          </a:prstGeom>
        </p:spPr>
      </p:pic>
      <p:sp>
        <p:nvSpPr>
          <p:cNvPr id="32" name="Text 24"/>
          <p:cNvSpPr txBox="1"/>
          <p:nvPr/>
        </p:nvSpPr>
        <p:spPr>
          <a:xfrm>
            <a:off x="9006840" y="4023360"/>
            <a:ext cx="2423160" cy="594360"/>
          </a:xfrm>
          <a:prstGeom prst="rect">
            <a:avLst/>
          </a:prstGeom>
          <a:noFill/>
          <a:ln/>
        </p:spPr>
        <p:txBody>
          <a:bodyPr wrap="square" lIns="0" tIns="0" rIns="0" bIns="0" rtlCol="0" anchor="ctr"/>
          <a:lstStyle/>
          <a:p>
            <a:pPr indent="0" marL="0">
              <a:buNone/>
            </a:pPr>
            <a:r>
              <a:rPr lang="en-US" sz="1800" b="1" dirty="0">
                <a:solidFill>
                  <a:srgbClr val="1C2733"/>
                </a:solidFill>
                <a:latin typeface="Cambria" pitchFamily="34" charset="0"/>
                <a:ea typeface="Cambria" pitchFamily="34" charset="-122"/>
                <a:cs typeface="Cambria" pitchFamily="34" charset="-120"/>
              </a:rPr>
              <a:t>NDPA 2023</a:t>
            </a:r>
            <a:endParaRPr lang="en-US" sz="1800" dirty="0"/>
          </a:p>
        </p:txBody>
      </p:sp>
      <p:sp>
        <p:nvSpPr>
          <p:cNvPr id="33" name="Text 25"/>
          <p:cNvSpPr txBox="1"/>
          <p:nvPr/>
        </p:nvSpPr>
        <p:spPr>
          <a:xfrm>
            <a:off x="8275320" y="4754880"/>
            <a:ext cx="3108960" cy="1097280"/>
          </a:xfrm>
          <a:prstGeom prst="rect">
            <a:avLst/>
          </a:prstGeom>
          <a:noFill/>
          <a:ln/>
        </p:spPr>
        <p:txBody>
          <a:bodyPr wrap="square" lIns="0" tIns="0" rIns="0" bIns="0" rtlCol="0" anchor="t"/>
          <a:lstStyle/>
          <a:p>
            <a:pPr indent="0" marL="0">
              <a:buNone/>
            </a:pPr>
            <a:r>
              <a:rPr lang="en-US" sz="1400" dirty="0">
                <a:solidFill>
                  <a:srgbClr val="1C2733"/>
                </a:solidFill>
                <a:latin typeface="Calibri" pitchFamily="34" charset="0"/>
                <a:ea typeface="Calibri" pitchFamily="34" charset="-122"/>
                <a:cs typeface="Calibri" pitchFamily="34" charset="-120"/>
              </a:rPr>
              <a:t>Encryption and timely restore (s.39). Audit trail for the 72-hour report (s.40).</a:t>
            </a:r>
            <a:endParaRPr lang="en-US" sz="1400" dirty="0"/>
          </a:p>
        </p:txBody>
      </p:sp>
      <p:sp>
        <p:nvSpPr>
          <p:cNvPr id="34" name="Text 26"/>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The ICT unit's view</a:t>
            </a:r>
            <a:endParaRPr lang="en-US" sz="3400" dirty="0"/>
          </a:p>
        </p:txBody>
      </p:sp>
      <p:pic>
        <p:nvPicPr>
          <p:cNvPr id="4" name="Image 0" descr="/home/user/CMP-468/project1-uniguard/docs/img/dashboard.png">    </p:cNvPr>
          <p:cNvPicPr>
            <a:picLocks noChangeAspect="1"/>
          </p:cNvPicPr>
          <p:nvPr/>
        </p:nvPicPr>
        <p:blipFill>
          <a:blip r:embed="rId1"/>
          <a:stretch>
            <a:fillRect/>
          </a:stretch>
        </p:blipFill>
        <p:spPr>
          <a:xfrm>
            <a:off x="548640" y="1325880"/>
            <a:ext cx="5798331" cy="5074920"/>
          </a:xfrm>
          <a:prstGeom prst="rect">
            <a:avLst/>
          </a:prstGeom>
        </p:spPr>
      </p:pic>
      <p:sp>
        <p:nvSpPr>
          <p:cNvPr id="5" name="Text 2"/>
          <p:cNvSpPr txBox="1"/>
          <p:nvPr/>
        </p:nvSpPr>
        <p:spPr>
          <a:xfrm>
            <a:off x="6712731" y="1463040"/>
            <a:ext cx="4930324" cy="4754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Red banner: a result file changed outside its window</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Power card: running on inverter</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Incident: 16 files restored, 17 quarantined, 0.01 s</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Audit chain status on every refresh</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Login with lockout after 5 failures, CSRF protection, security headers</a:t>
            </a:r>
            <a:endParaRPr lang="en-US" sz="1500" dirty="0"/>
          </a:p>
        </p:txBody>
      </p:sp>
      <p:sp>
        <p:nvSpPr>
          <p:cNvPr id="6" name="Text 3"/>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EVALUATION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Results on 2,000 files (195 MB)</a:t>
            </a:r>
            <a:endParaRPr lang="en-US" sz="3400" dirty="0"/>
          </a:p>
        </p:txBody>
      </p:sp>
      <p:graphicFrame>
        <p:nvGraphicFramePr>
          <p:cNvPr id="4" name="Chart 0" descr=""/>
          <p:cNvGraphicFramePr/>
          <p:nvPr/>
        </p:nvGraphicFramePr>
        <p:xfrm>
          <a:off x="548640" y="137160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463040"/>
            <a:ext cx="3749040" cy="4480560"/>
          </a:xfrm>
          <a:prstGeom prst="roundRect">
            <a:avLst>
              <a:gd name="adj" fmla="val 2927"/>
            </a:avLst>
          </a:prstGeom>
          <a:solidFill>
            <a:srgbClr val="EAF4EE"/>
          </a:solidFill>
          <a:ln/>
        </p:spPr>
      </p:sp>
      <p:sp>
        <p:nvSpPr>
          <p:cNvPr id="6" name="Text 3"/>
          <p:cNvSpPr txBox="1"/>
          <p:nvPr/>
        </p:nvSpPr>
        <p:spPr>
          <a:xfrm>
            <a:off x="8138160" y="1645920"/>
            <a:ext cx="3291840" cy="457200"/>
          </a:xfrm>
          <a:prstGeom prst="rect">
            <a:avLst/>
          </a:prstGeom>
          <a:noFill/>
          <a:ln/>
        </p:spPr>
        <p:txBody>
          <a:bodyPr wrap="square" lIns="0" tIns="0" rIns="0" bIns="0" rtlCol="0" anchor="ctr"/>
          <a:lstStyle/>
          <a:p>
            <a:pPr indent="0" marL="0">
              <a:buNone/>
            </a:pPr>
            <a:r>
              <a:rPr lang="en-US" sz="2000" b="1" dirty="0">
                <a:solidFill>
                  <a:srgbClr val="0B5D3B"/>
                </a:solidFill>
                <a:latin typeface="Cambria" pitchFamily="34" charset="0"/>
                <a:ea typeface="Cambria" pitchFamily="34" charset="-122"/>
                <a:cs typeface="Cambria" pitchFamily="34" charset="-120"/>
              </a:rPr>
              <a:t>23 of 23 tests pass</a:t>
            </a:r>
            <a:endParaRPr lang="en-US" sz="2000" dirty="0"/>
          </a:p>
        </p:txBody>
      </p:sp>
      <p:sp>
        <p:nvSpPr>
          <p:cNvPr id="7" name="Text 4"/>
          <p:cNvSpPr txBox="1"/>
          <p:nvPr/>
        </p:nvSpPr>
        <p:spPr>
          <a:xfrm>
            <a:off x="8138160" y="2194560"/>
            <a:ext cx="329184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Tampered ciphertext rejected</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Wrong passphrase rejected</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No plaintext in repository</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Ransomware fully reversed</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Lecturer edits not flagged</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Audit log edits caught</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Dashboard lockout works</a:t>
            </a:r>
            <a:endParaRPr lang="en-US" sz="1500" dirty="0"/>
          </a:p>
        </p:txBody>
      </p:sp>
      <p:sp>
        <p:nvSpPr>
          <p:cNvPr id="8" name="Text 5"/>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E20"/>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9FC7B2"/>
                </a:solidFill>
                <a:latin typeface="Calibri" pitchFamily="34" charset="0"/>
                <a:ea typeface="Calibri" pitchFamily="34" charset="-122"/>
                <a:cs typeface="Calibri" pitchFamily="34" charset="-120"/>
              </a:rPr>
              <a:t>LIVE DEMONSTRATION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Let me show you</a:t>
            </a:r>
            <a:endParaRPr lang="en-US" sz="3400" dirty="0"/>
          </a:p>
        </p:txBody>
      </p:sp>
      <p:sp>
        <p:nvSpPr>
          <p:cNvPr id="4" name="Shape 2"/>
          <p:cNvSpPr/>
          <p:nvPr/>
        </p:nvSpPr>
        <p:spPr>
          <a:xfrm>
            <a:off x="548640" y="1554480"/>
            <a:ext cx="548640" cy="548640"/>
          </a:xfrm>
          <a:prstGeom prst="ellipse">
            <a:avLst/>
          </a:prstGeom>
          <a:solidFill>
            <a:srgbClr val="0B5D3B"/>
          </a:solidFill>
          <a:ln/>
        </p:spPr>
      </p:sp>
      <p:sp>
        <p:nvSpPr>
          <p:cNvPr id="5" name="Text 3"/>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155448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NEPA takes light: power card turns amber, emergency backup, SMS</a:t>
            </a:r>
            <a:endParaRPr lang="en-US" sz="2000" dirty="0"/>
          </a:p>
        </p:txBody>
      </p:sp>
      <p:sp>
        <p:nvSpPr>
          <p:cNvPr id="7" name="Shape 5"/>
          <p:cNvSpPr/>
          <p:nvPr/>
        </p:nvSpPr>
        <p:spPr>
          <a:xfrm>
            <a:off x="548640" y="2423160"/>
            <a:ext cx="548640" cy="548640"/>
          </a:xfrm>
          <a:prstGeom prst="ellipse">
            <a:avLst/>
          </a:prstGeom>
          <a:solidFill>
            <a:srgbClr val="0B5D3B"/>
          </a:solidFill>
          <a:ln/>
        </p:spPr>
      </p:sp>
      <p:sp>
        <p:nvSpPr>
          <p:cNvPr id="8" name="Text 6"/>
          <p:cNvSpPr txBox="1"/>
          <p:nvPr/>
        </p:nvSpPr>
        <p:spPr>
          <a:xfrm>
            <a:off x="54864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242316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Student Portal goes down: critical alert within 3 seconds</a:t>
            </a:r>
            <a:endParaRPr lang="en-US" sz="2000" dirty="0"/>
          </a:p>
        </p:txBody>
      </p:sp>
      <p:sp>
        <p:nvSpPr>
          <p:cNvPr id="10" name="Shape 8"/>
          <p:cNvSpPr/>
          <p:nvPr/>
        </p:nvSpPr>
        <p:spPr>
          <a:xfrm>
            <a:off x="548640" y="3291840"/>
            <a:ext cx="548640" cy="548640"/>
          </a:xfrm>
          <a:prstGeom prst="ellipse">
            <a:avLst/>
          </a:prstGeom>
          <a:solidFill>
            <a:srgbClr val="0B5D3B"/>
          </a:solidFill>
          <a:ln/>
        </p:spPr>
      </p:sp>
      <p:sp>
        <p:nvSpPr>
          <p:cNvPr id="11" name="Text 9"/>
          <p:cNvSpPr txBox="1"/>
          <p:nvPr/>
        </p:nvSpPr>
        <p:spPr>
          <a:xfrm>
            <a:off x="548640" y="3291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329184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Insider changes a CMP468 grade: red records banner</a:t>
            </a:r>
            <a:endParaRPr lang="en-US" sz="2000" dirty="0"/>
          </a:p>
        </p:txBody>
      </p:sp>
      <p:sp>
        <p:nvSpPr>
          <p:cNvPr id="13" name="Shape 11"/>
          <p:cNvSpPr/>
          <p:nvPr/>
        </p:nvSpPr>
        <p:spPr>
          <a:xfrm>
            <a:off x="548640" y="4160520"/>
            <a:ext cx="548640" cy="548640"/>
          </a:xfrm>
          <a:prstGeom prst="ellipse">
            <a:avLst/>
          </a:prstGeom>
          <a:solidFill>
            <a:srgbClr val="0B5D3B"/>
          </a:solidFill>
          <a:ln/>
        </p:spPr>
      </p:sp>
      <p:sp>
        <p:nvSpPr>
          <p:cNvPr id="14" name="Text 12"/>
          <p:cNvSpPr txBox="1"/>
          <p:nvPr/>
        </p:nvSpPr>
        <p:spPr>
          <a:xfrm>
            <a:off x="548640" y="4160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txBox="1"/>
          <p:nvPr/>
        </p:nvSpPr>
        <p:spPr>
          <a:xfrm>
            <a:off x="1371600" y="416052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Ransomware scrambles the file server: watch it recover itself</a:t>
            </a:r>
            <a:endParaRPr lang="en-US" sz="2000" dirty="0"/>
          </a:p>
        </p:txBody>
      </p:sp>
      <p:sp>
        <p:nvSpPr>
          <p:cNvPr id="16" name="Shape 14"/>
          <p:cNvSpPr/>
          <p:nvPr/>
        </p:nvSpPr>
        <p:spPr>
          <a:xfrm>
            <a:off x="548640" y="5029200"/>
            <a:ext cx="548640" cy="548640"/>
          </a:xfrm>
          <a:prstGeom prst="ellipse">
            <a:avLst/>
          </a:prstGeom>
          <a:solidFill>
            <a:srgbClr val="0B5D3B"/>
          </a:solidFill>
          <a:ln/>
        </p:spPr>
      </p:sp>
      <p:sp>
        <p:nvSpPr>
          <p:cNvPr id="17" name="Text 15"/>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txBox="1"/>
          <p:nvPr/>
        </p:nvSpPr>
        <p:spPr>
          <a:xfrm>
            <a:off x="1371600" y="502920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Verify backups and check the audit chain</a:t>
            </a:r>
            <a:endParaRPr lang="en-US" sz="2000" dirty="0"/>
          </a:p>
        </p:txBody>
      </p:sp>
      <p:sp>
        <p:nvSpPr>
          <p:cNvPr id="19" name="Text 17"/>
          <p:cNvSpPr txBox="1"/>
          <p:nvPr/>
        </p:nvSpPr>
        <p:spPr>
          <a:xfrm>
            <a:off x="548640" y="6035040"/>
            <a:ext cx="10972800" cy="365760"/>
          </a:xfrm>
          <a:prstGeom prst="rect">
            <a:avLst/>
          </a:prstGeom>
          <a:noFill/>
          <a:ln/>
        </p:spPr>
        <p:txBody>
          <a:bodyPr wrap="square" lIns="0" tIns="0" rIns="0" bIns="0" rtlCol="0" anchor="ctr"/>
          <a:lstStyle/>
          <a:p>
            <a:pPr indent="0" marL="0">
              <a:buNone/>
            </a:pPr>
            <a:r>
              <a:rPr lang="en-US" sz="1300" i="1" dirty="0">
                <a:solidFill>
                  <a:srgbClr val="9FC7B2"/>
                </a:solidFill>
                <a:latin typeface="Calibri" pitchFamily="34" charset="0"/>
                <a:ea typeface="Calibri" pitchFamily="34" charset="-122"/>
                <a:cs typeface="Calibri" pitchFamily="34" charset="-120"/>
              </a:rPr>
              <a:t>Backup plan if the projector laptop misbehaves:  python demo/run_demo.py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0B5D3B"/>
                </a:solidFill>
                <a:latin typeface="Calibri" pitchFamily="34" charset="0"/>
                <a:ea typeface="Calibri" pitchFamily="34" charset="-122"/>
                <a:cs typeface="Calibri" pitchFamily="34" charset="-120"/>
              </a:rPr>
              <a:t>HONEST ASSESSMENT</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1C2733"/>
                </a:solidFill>
                <a:latin typeface="Cambria" pitchFamily="34" charset="0"/>
                <a:ea typeface="Cambria" pitchFamily="34" charset="-122"/>
                <a:cs typeface="Cambria" pitchFamily="34" charset="-120"/>
              </a:rPr>
              <a:t>Limitations and future work</a:t>
            </a:r>
            <a:endParaRPr lang="en-US" sz="3400" dirty="0"/>
          </a:p>
        </p:txBody>
      </p:sp>
      <p:sp>
        <p:nvSpPr>
          <p:cNvPr id="4" name="Shape 2"/>
          <p:cNvSpPr/>
          <p:nvPr/>
        </p:nvSpPr>
        <p:spPr>
          <a:xfrm>
            <a:off x="548640" y="1463040"/>
            <a:ext cx="5394960" cy="4480560"/>
          </a:xfrm>
          <a:prstGeom prst="roundRect">
            <a:avLst>
              <a:gd name="adj" fmla="val 2449"/>
            </a:avLst>
          </a:prstGeom>
          <a:solidFill>
            <a:srgbClr val="FDF0F0"/>
          </a:solidFill>
          <a:ln/>
        </p:spPr>
      </p:sp>
      <p:sp>
        <p:nvSpPr>
          <p:cNvPr id="5" name="Text 3"/>
          <p:cNvSpPr txBox="1"/>
          <p:nvPr/>
        </p:nvSpPr>
        <p:spPr>
          <a:xfrm>
            <a:off x="822960" y="1645920"/>
            <a:ext cx="4846320" cy="457200"/>
          </a:xfrm>
          <a:prstGeom prst="rect">
            <a:avLst/>
          </a:prstGeom>
          <a:noFill/>
          <a:ln/>
        </p:spPr>
        <p:txBody>
          <a:bodyPr wrap="square" lIns="0" tIns="0" rIns="0" bIns="0" rtlCol="0" anchor="ctr"/>
          <a:lstStyle/>
          <a:p>
            <a:pPr indent="0" marL="0">
              <a:buNone/>
            </a:pPr>
            <a:r>
              <a:rPr lang="en-US" sz="2000" b="1" dirty="0">
                <a:solidFill>
                  <a:srgbClr val="C53030"/>
                </a:solidFill>
                <a:latin typeface="Cambria" pitchFamily="34" charset="0"/>
                <a:ea typeface="Cambria" pitchFamily="34" charset="-122"/>
                <a:cs typeface="Cambria" pitchFamily="34" charset="-120"/>
              </a:rPr>
              <a:t>Limitations</a:t>
            </a:r>
            <a:endParaRPr lang="en-US" sz="2000" dirty="0"/>
          </a:p>
        </p:txBody>
      </p:sp>
      <p:sp>
        <p:nvSpPr>
          <p:cNvPr id="6" name="Text 4"/>
          <p:cNvSpPr txBox="1"/>
          <p:nvPr/>
        </p:nvSpPr>
        <p:spPr>
          <a:xfrm>
            <a:off x="822960" y="2194560"/>
            <a:ext cx="484632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Work since the last clean backup is lost (RPO = backup interval)</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Very slow ransomware may stay under the mass-change threshold</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An admin-level attacker on the same server can delete local backups; the offsite copy covers this</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Lost passphrase = unreadable backups</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Watches files, not rows inside a database</a:t>
            </a:r>
            <a:endParaRPr lang="en-US" sz="1500" dirty="0"/>
          </a:p>
        </p:txBody>
      </p:sp>
      <p:sp>
        <p:nvSpPr>
          <p:cNvPr id="7" name="Shape 5"/>
          <p:cNvSpPr/>
          <p:nvPr/>
        </p:nvSpPr>
        <p:spPr>
          <a:xfrm>
            <a:off x="6245352" y="1463040"/>
            <a:ext cx="5394960" cy="4480560"/>
          </a:xfrm>
          <a:prstGeom prst="roundRect">
            <a:avLst>
              <a:gd name="adj" fmla="val 2449"/>
            </a:avLst>
          </a:prstGeom>
          <a:solidFill>
            <a:srgbClr val="EAF4EE"/>
          </a:solidFill>
          <a:ln/>
        </p:spPr>
      </p:sp>
      <p:sp>
        <p:nvSpPr>
          <p:cNvPr id="8" name="Text 6"/>
          <p:cNvSpPr txBox="1"/>
          <p:nvPr/>
        </p:nvSpPr>
        <p:spPr>
          <a:xfrm>
            <a:off x="6519672" y="1645920"/>
            <a:ext cx="4846320" cy="457200"/>
          </a:xfrm>
          <a:prstGeom prst="rect">
            <a:avLst/>
          </a:prstGeom>
          <a:noFill/>
          <a:ln/>
        </p:spPr>
        <p:txBody>
          <a:bodyPr wrap="square" lIns="0" tIns="0" rIns="0" bIns="0" rtlCol="0" anchor="ctr"/>
          <a:lstStyle/>
          <a:p>
            <a:pPr indent="0" marL="0">
              <a:buNone/>
            </a:pPr>
            <a:r>
              <a:rPr lang="en-US" sz="2000" b="1" dirty="0">
                <a:solidFill>
                  <a:srgbClr val="0B5D3B"/>
                </a:solidFill>
                <a:latin typeface="Cambria" pitchFamily="34" charset="0"/>
                <a:ea typeface="Cambria" pitchFamily="34" charset="-122"/>
                <a:cs typeface="Cambria" pitchFamily="34" charset="-120"/>
              </a:rPr>
              <a:t>Next steps</a:t>
            </a:r>
            <a:endParaRPr lang="en-US" sz="2000" dirty="0"/>
          </a:p>
        </p:txBody>
      </p:sp>
      <p:sp>
        <p:nvSpPr>
          <p:cNvPr id="9" name="Text 7"/>
          <p:cNvSpPr txBox="1"/>
          <p:nvPr/>
        </p:nvSpPr>
        <p:spPr>
          <a:xfrm>
            <a:off x="6519672" y="2194560"/>
            <a:ext cx="484632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Row-level auditing for result databases</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Immutable (object-lock) offsite storage</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Per-process detection on staff PCs</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Split passphrase between Registrar and ICT Director</a:t>
            </a:r>
            <a:endParaRPr lang="en-US" sz="1500" dirty="0"/>
          </a:p>
          <a:p>
            <a:pPr marL="342900" indent="-342900">
              <a:spcAft>
                <a:spcPts val="800"/>
              </a:spcAft>
              <a:buSzPct val="100000"/>
              <a:buChar char="•"/>
            </a:pPr>
            <a:r>
              <a:rPr lang="en-US" sz="1500" dirty="0">
                <a:solidFill>
                  <a:srgbClr val="1C2733"/>
                </a:solidFill>
                <a:latin typeface="Calibri" pitchFamily="34" charset="0"/>
                <a:ea typeface="Calibri" pitchFamily="34" charset="-122"/>
                <a:cs typeface="Calibri" pitchFamily="34" charset="-120"/>
              </a:rPr>
              <a:t>One-semester pilot on a faculty server</a:t>
            </a:r>
            <a:endParaRPr lang="en-US" sz="1500" dirty="0"/>
          </a:p>
        </p:txBody>
      </p:sp>
      <p:sp>
        <p:nvSpPr>
          <p:cNvPr id="10" name="Text 8"/>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CMP 468 · UniGuard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E20"/>
        </a:solidFill>
      </p:bgPr>
    </p:bg>
    <p:spTree>
      <p:nvGrpSpPr>
        <p:cNvPr id="1" name=""/>
        <p:cNvGrpSpPr/>
        <p:nvPr/>
      </p:nvGrpSpPr>
      <p:grpSpPr>
        <a:xfrm>
          <a:off x="0" y="0"/>
          <a:ext cx="0" cy="0"/>
          <a:chOff x="0" y="0"/>
          <a:chExt cx="0" cy="0"/>
        </a:xfrm>
      </p:grpSpPr>
      <p:sp>
        <p:nvSpPr>
          <p:cNvPr id="2" name="Shape 0"/>
          <p:cNvSpPr/>
          <p:nvPr/>
        </p:nvSpPr>
        <p:spPr>
          <a:xfrm>
            <a:off x="548640" y="914400"/>
            <a:ext cx="822960" cy="822960"/>
          </a:xfrm>
          <a:prstGeom prst="ellipse">
            <a:avLst/>
          </a:prstGeom>
          <a:solidFill>
            <a:srgbClr val="0B5D3B"/>
          </a:solidFill>
          <a:ln/>
        </p:spPr>
      </p:sp>
      <p:pic>
        <p:nvPicPr>
          <p:cNvPr id="3" name="Image 0" descr="preencoded.png">    </p:cNvPr>
          <p:cNvPicPr>
            <a:picLocks noChangeAspect="1"/>
          </p:cNvPicPr>
          <p:nvPr/>
        </p:nvPicPr>
        <p:blipFill>
          <a:blip r:embed="rId1"/>
          <a:stretch>
            <a:fillRect/>
          </a:stretch>
        </p:blipFill>
        <p:spPr>
          <a:xfrm>
            <a:off x="729691" y="1095451"/>
            <a:ext cx="460858" cy="460858"/>
          </a:xfrm>
          <a:prstGeom prst="rect">
            <a:avLst/>
          </a:prstGeom>
        </p:spPr>
      </p:pic>
      <p:sp>
        <p:nvSpPr>
          <p:cNvPr id="4" name="Text 1"/>
          <p:cNvSpPr txBox="1"/>
          <p:nvPr/>
        </p:nvSpPr>
        <p:spPr>
          <a:xfrm>
            <a:off x="548640" y="1874520"/>
            <a:ext cx="10972800" cy="10972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Strong protection does not need expensive software</a:t>
            </a:r>
            <a:endParaRPr lang="en-US" sz="3200" dirty="0"/>
          </a:p>
        </p:txBody>
      </p:sp>
      <p:sp>
        <p:nvSpPr>
          <p:cNvPr id="5" name="Text 2"/>
          <p:cNvSpPr txBox="1"/>
          <p:nvPr/>
        </p:nvSpPr>
        <p:spPr>
          <a:xfrm>
            <a:off x="548640" y="3200400"/>
            <a:ext cx="10515600" cy="210312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E6F2EB"/>
                </a:solidFill>
                <a:latin typeface="Calibri" pitchFamily="34" charset="0"/>
                <a:ea typeface="Calibri" pitchFamily="34" charset="-122"/>
                <a:cs typeface="Calibri" pitchFamily="34" charset="-120"/>
              </a:rPr>
              <a:t>Encrypted, deduplicated backups that restore on their own</a:t>
            </a:r>
            <a:endParaRPr lang="en-US" sz="2000" dirty="0"/>
          </a:p>
          <a:p>
            <a:pPr marL="342900" indent="-342900">
              <a:spcAft>
                <a:spcPts val="800"/>
              </a:spcAft>
              <a:buSzPct val="100000"/>
              <a:buChar char="•"/>
            </a:pPr>
            <a:r>
              <a:rPr lang="en-US" sz="2000" dirty="0">
                <a:solidFill>
                  <a:srgbClr val="E6F2EB"/>
                </a:solidFill>
                <a:latin typeface="Calibri" pitchFamily="34" charset="0"/>
                <a:ea typeface="Calibri" pitchFamily="34" charset="-122"/>
                <a:cs typeface="Calibri" pitchFamily="34" charset="-120"/>
              </a:rPr>
              <a:t>Ransomware reversed and verified in under 3 seconds</a:t>
            </a:r>
            <a:endParaRPr lang="en-US" sz="2000" dirty="0"/>
          </a:p>
          <a:p>
            <a:pPr marL="342900" indent="-342900">
              <a:spcAft>
                <a:spcPts val="800"/>
              </a:spcAft>
              <a:buSzPct val="100000"/>
              <a:buChar char="•"/>
            </a:pPr>
            <a:r>
              <a:rPr lang="en-US" sz="2000" dirty="0">
                <a:solidFill>
                  <a:srgbClr val="E6F2EB"/>
                </a:solidFill>
                <a:latin typeface="Calibri" pitchFamily="34" charset="0"/>
                <a:ea typeface="Calibri" pitchFamily="34" charset="-122"/>
                <a:cs typeface="Calibri" pitchFamily="34" charset="-120"/>
              </a:rPr>
              <a:t>Result tampering caught, evidence preserved, log tamper-evident</a:t>
            </a:r>
            <a:endParaRPr lang="en-US" sz="2000" dirty="0"/>
          </a:p>
          <a:p>
            <a:pPr marL="342900" indent="-342900">
              <a:spcAft>
                <a:spcPts val="800"/>
              </a:spcAft>
              <a:buSzPct val="100000"/>
              <a:buChar char="•"/>
            </a:pPr>
            <a:r>
              <a:rPr lang="en-US" sz="2000" dirty="0">
                <a:solidFill>
                  <a:srgbClr val="E6F2EB"/>
                </a:solidFill>
                <a:latin typeface="Calibri" pitchFamily="34" charset="0"/>
                <a:ea typeface="Calibri" pitchFamily="34" charset="-122"/>
                <a:cs typeface="Calibri" pitchFamily="34" charset="-120"/>
              </a:rPr>
              <a:t>Designed for power cuts, thin bandwidth and small budgets</a:t>
            </a:r>
            <a:endParaRPr lang="en-US" sz="2000" dirty="0"/>
          </a:p>
        </p:txBody>
      </p:sp>
      <p:sp>
        <p:nvSpPr>
          <p:cNvPr id="6" name="Text 3"/>
          <p:cNvSpPr txBox="1"/>
          <p:nvPr/>
        </p:nvSpPr>
        <p:spPr>
          <a:xfrm>
            <a:off x="548640" y="5486400"/>
            <a:ext cx="10972800" cy="640080"/>
          </a:xfrm>
          <a:prstGeom prst="rect">
            <a:avLst/>
          </a:prstGeom>
          <a:noFill/>
          <a:ln/>
        </p:spPr>
        <p:txBody>
          <a:bodyPr wrap="square" lIns="0" tIns="0" rIns="0" bIns="0" rtlCol="0" anchor="ctr"/>
          <a:lstStyle/>
          <a:p>
            <a:pPr indent="0" marL="0">
              <a:buNone/>
            </a:pPr>
            <a:r>
              <a:rPr lang="en-US" sz="2800" b="1" dirty="0">
                <a:solidFill>
                  <a:srgbClr val="9FC7B2"/>
                </a:solidFill>
                <a:latin typeface="Cambria" pitchFamily="34" charset="0"/>
                <a:ea typeface="Cambria" pitchFamily="34" charset="-122"/>
                <a:cs typeface="Cambria" pitchFamily="34" charset="-120"/>
              </a:rPr>
              <a:t>Thank you. 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UniGuard: Automated Monitoring, Backup and Recovery</dc:title>
  <dc:subject>PptxGenJS Presentation</dc:subject>
  <dc:creator>PptxGenJS</dc:creator>
  <cp:lastModifiedBy>PptxGenJS</cp:lastModifiedBy>
  <cp:revision>1</cp:revision>
  <dcterms:created xsi:type="dcterms:W3CDTF">2026-09-29T05:34:45Z</dcterms:created>
  <dcterms:modified xsi:type="dcterms:W3CDTF">2026-09-29T05:34:45Z</dcterms:modified>
</cp:coreProperties>
</file>